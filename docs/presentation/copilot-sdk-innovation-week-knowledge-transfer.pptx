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shift in framing: this is not a better autocomplete demo. It is an application runtime that lets us orchestrate agent sessions, tools, skills, permissions, and structured handoffs.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an educational overview with one concrete workflow. The goal is shared vocabulary and informed next-step discussion, not a production-readiness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SDK does not remove the need for engineering. It moves Copilot from a user-operated interface into a workflow that our code can start, observe, validate, and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session is the unit of conversation and execution. The agent loop uses only the capabilities we expose. Events return control and evidence to the host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discoveries. Enabling discovery does not mean every skill is injected into every agent. Skills can be discovered lazily, while agent-specific skills are opt-in and explicitly preloaded.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repository is a teaching artifact. The examples isolate concepts so we can validate APIs and contracts before building the durable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pattern is not “agent does everything.” It is clear scope, an owned artifact, a validation command, and a structured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a model summary is not test evidence. Jenkins status, commit identity, and parsed test results are deterministic inputs; Copilot helps interpret and decide what to investigate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durable controller is the main architectural decision. It stores attempt number, issue, revision, build, and terminal status. Agent sessions are disposable reasoning workers. Jenkins polling should not consume a model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distinction: explicit factory parallelism is a coded orchestration pattern. Fleet mode lets a parent dynamically dispatch work. Both need clear ownership, bounded concurrency, and a final reconciliation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governance message. Issue text, comments, logs, and reports are untrusted. Trusted identifiers and credentials stay outside prompts. Closing an issue is an application decision backed by deterministic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innovation-week credibility comes from. We did not just identify features; we learned where the abstraction ends and where normal production engineering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low-risk recommendation. The first pilot should produce reviewable artifacts without writing code or changing external state. Add write access only after evaluation cases and permission policy are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for discussion. Ask the team to choose a workflow with clear inputs, deterministic evidence, and low-risk side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for follow-up. The demo repository provides the runnable examples shown during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github/copilot-sdk"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ocs.github.com/en/copilot/how-tos/copilot-sdk/features"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cs.github.com/en/copilot/how-tos/copilot-sdk/features/custom-agents"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blockvoltcr7/copilot-sdk-workflow-examples"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cs.github.com/en/copilot/how-tos/copilot-sdk/features/fleet-mode"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github/copilot-sdk/blob/main/docs/features/hooks.md"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github/copilot-sdk" TargetMode="External"/><Relationship Id="rId2" Type="http://schemas.openxmlformats.org/officeDocument/2006/relationships/hyperlink" Target="https://docs.github.com/en/copilot/how-tos/copilot-sdk/features" TargetMode="External"/><Relationship Id="rId3" Type="http://schemas.openxmlformats.org/officeDocument/2006/relationships/hyperlink" Target="https://docs.github.com/en/copilot/how-tos/copilot-sdk/features/custom-agents" TargetMode="External"/><Relationship Id="rId4" Type="http://schemas.openxmlformats.org/officeDocument/2006/relationships/hyperlink" Target="https://docs.github.com/en/copilot/how-tos/copilot-sdk/features/fleet-mode" TargetMode="External"/><Relationship Id="rId5" Type="http://schemas.openxmlformats.org/officeDocument/2006/relationships/hyperlink" Target="https://github.com/github/copilot-sdk/blob/main/docs/features/hooks.md" TargetMode="External"/><Relationship Id="rId6" Type="http://schemas.openxmlformats.org/officeDocument/2006/relationships/hyperlink" Target="https://github.com/blockvoltcr7/copilot-sdk-workflow-examples" TargetMode="External"/><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11F"/>
        </a:solidFill>
      </p:bgPr>
    </p:bg>
    <p:spTree>
      <p:nvGrpSpPr>
        <p:cNvPr id="1" name=""/>
        <p:cNvGrpSpPr/>
        <p:nvPr/>
      </p:nvGrpSpPr>
      <p:grpSpPr>
        <a:xfrm>
          <a:off x="0" y="0"/>
          <a:ext cx="0" cy="0"/>
          <a:chOff x="0" y="0"/>
          <a:chExt cx="0" cy="0"/>
        </a:xfrm>
      </p:grpSpPr>
      <p:sp>
        <p:nvSpPr>
          <p:cNvPr id="2" name="Shape 0"/>
          <p:cNvSpPr/>
          <p:nvPr/>
        </p:nvSpPr>
        <p:spPr>
          <a:xfrm rot="2280000">
            <a:off x="7818120" y="-1005840"/>
            <a:ext cx="5212080" cy="5212080"/>
          </a:xfrm>
          <a:prstGeom prst="arc">
            <a:avLst/>
          </a:prstGeom>
          <a:solidFill>
            <a:srgbClr val="07111F">
              <a:alpha val="0"/>
            </a:srgbClr>
          </a:solidFill>
          <a:ln w="63500">
            <a:solidFill>
              <a:srgbClr val="38BDF8">
                <a:alpha val="88000"/>
              </a:srgbClr>
            </a:solidFill>
            <a:prstDash val="solid"/>
          </a:ln>
        </p:spPr>
      </p:sp>
      <p:sp>
        <p:nvSpPr>
          <p:cNvPr id="3" name="Shape 1"/>
          <p:cNvSpPr/>
          <p:nvPr/>
        </p:nvSpPr>
        <p:spPr>
          <a:xfrm rot="900000">
            <a:off x="8458200" y="-365760"/>
            <a:ext cx="3749040" cy="3749040"/>
          </a:xfrm>
          <a:prstGeom prst="arc">
            <a:avLst/>
          </a:prstGeom>
          <a:solidFill>
            <a:srgbClr val="07111F">
              <a:alpha val="0"/>
            </a:srgbClr>
          </a:solidFill>
          <a:ln w="38100">
            <a:solidFill>
              <a:srgbClr val="A78BFA">
                <a:alpha val="80000"/>
              </a:srgbClr>
            </a:solidFill>
            <a:prstDash val="solid"/>
          </a:ln>
        </p:spPr>
      </p:sp>
      <p:sp>
        <p:nvSpPr>
          <p:cNvPr id="4" name="Shape 2"/>
          <p:cNvSpPr/>
          <p:nvPr/>
        </p:nvSpPr>
        <p:spPr>
          <a:xfrm>
            <a:off x="658368" y="621792"/>
            <a:ext cx="3246120" cy="310896"/>
          </a:xfrm>
          <a:prstGeom prst="roundRect">
            <a:avLst>
              <a:gd name="adj" fmla="val 23529"/>
            </a:avLst>
          </a:prstGeom>
          <a:solidFill>
            <a:srgbClr val="3DDC97">
              <a:alpha val="14000"/>
            </a:srgbClr>
          </a:solidFill>
          <a:ln w="10160">
            <a:solidFill>
              <a:srgbClr val="3DDC97">
                <a:alpha val="40000"/>
              </a:srgbClr>
            </a:solidFill>
            <a:prstDash val="solid"/>
          </a:ln>
        </p:spPr>
      </p:sp>
      <p:sp>
        <p:nvSpPr>
          <p:cNvPr id="5" name="Text 3"/>
          <p:cNvSpPr/>
          <p:nvPr/>
        </p:nvSpPr>
        <p:spPr>
          <a:xfrm>
            <a:off x="731520" y="672084"/>
            <a:ext cx="3099816" cy="164592"/>
          </a:xfrm>
          <a:prstGeom prst="rect">
            <a:avLst/>
          </a:prstGeom>
          <a:noFill/>
          <a:ln/>
        </p:spPr>
        <p:txBody>
          <a:bodyPr wrap="square" lIns="0" tIns="0" rIns="0" bIns="0" rtlCol="0" anchor="ctr"/>
          <a:lstStyle/>
          <a:p>
            <a:pPr algn="ctr" indent="0" marL="0">
              <a:buNone/>
            </a:pPr>
            <a:r>
              <a:rPr lang="en-US" sz="950" b="1" dirty="0">
                <a:solidFill>
                  <a:srgbClr val="3DDC97"/>
                </a:solidFill>
              </a:rPr>
              <a:t>INNOVATION WEEK • KNOWLEDGE TRANSFER</a:t>
            </a:r>
            <a:endParaRPr lang="en-US" sz="950" dirty="0"/>
          </a:p>
        </p:txBody>
      </p:sp>
      <p:sp>
        <p:nvSpPr>
          <p:cNvPr id="6" name="Text 4"/>
          <p:cNvSpPr/>
          <p:nvPr/>
        </p:nvSpPr>
        <p:spPr>
          <a:xfrm>
            <a:off x="658368" y="1399032"/>
            <a:ext cx="7863840" cy="713232"/>
          </a:xfrm>
          <a:prstGeom prst="rect">
            <a:avLst/>
          </a:prstGeom>
          <a:noFill/>
          <a:ln/>
        </p:spPr>
        <p:txBody>
          <a:bodyPr wrap="square" lIns="0" tIns="0" rIns="0" bIns="0" rtlCol="0" anchor="ctr"/>
          <a:lstStyle/>
          <a:p>
            <a:pPr indent="0" marL="0">
              <a:buNone/>
            </a:pPr>
            <a:r>
              <a:rPr lang="en-US" sz="3800" b="1" dirty="0">
                <a:solidFill>
                  <a:srgbClr val="F7FAFC"/>
                </a:solidFill>
              </a:rPr>
              <a:t>GitHub Copilot SDK</a:t>
            </a:r>
            <a:endParaRPr lang="en-US" sz="3800" dirty="0"/>
          </a:p>
        </p:txBody>
      </p:sp>
      <p:sp>
        <p:nvSpPr>
          <p:cNvPr id="7" name="Text 5"/>
          <p:cNvSpPr/>
          <p:nvPr/>
        </p:nvSpPr>
        <p:spPr>
          <a:xfrm>
            <a:off x="676656" y="2221992"/>
            <a:ext cx="7040880" cy="1042416"/>
          </a:xfrm>
          <a:prstGeom prst="rect">
            <a:avLst/>
          </a:prstGeom>
          <a:noFill/>
          <a:ln/>
        </p:spPr>
        <p:txBody>
          <a:bodyPr wrap="square" lIns="0" tIns="0" rIns="0" bIns="0" rtlCol="0" anchor="ctr"/>
          <a:lstStyle/>
          <a:p>
            <a:pPr indent="0" marL="0">
              <a:buNone/>
            </a:pPr>
            <a:r>
              <a:rPr lang="en-US" sz="2500" b="1" dirty="0">
                <a:solidFill>
                  <a:srgbClr val="38BDF8"/>
                </a:solidFill>
              </a:rPr>
              <a:t>From chat to controlled engineering workflows</a:t>
            </a:r>
            <a:endParaRPr lang="en-US" sz="2500" dirty="0"/>
          </a:p>
        </p:txBody>
      </p:sp>
      <p:sp>
        <p:nvSpPr>
          <p:cNvPr id="8" name="Text 6"/>
          <p:cNvSpPr/>
          <p:nvPr/>
        </p:nvSpPr>
        <p:spPr>
          <a:xfrm>
            <a:off x="685800" y="3502152"/>
            <a:ext cx="6903720" cy="658368"/>
          </a:xfrm>
          <a:prstGeom prst="rect">
            <a:avLst/>
          </a:prstGeom>
          <a:noFill/>
          <a:ln/>
        </p:spPr>
        <p:txBody>
          <a:bodyPr wrap="square" lIns="0" tIns="0" rIns="0" bIns="0" rtlCol="0" anchor="ctr"/>
          <a:lstStyle/>
          <a:p>
            <a:pPr indent="0" marL="0">
              <a:buNone/>
            </a:pPr>
            <a:r>
              <a:rPr lang="en-US" sz="1400" dirty="0">
                <a:solidFill>
                  <a:srgbClr val="D8E3F0"/>
                </a:solidFill>
              </a:rPr>
              <a:t>What we discovered • How it works • Developer and QA use cases • What we would build next</a:t>
            </a:r>
            <a:endParaRPr lang="en-US" sz="1400" dirty="0"/>
          </a:p>
        </p:txBody>
      </p:sp>
      <p:sp>
        <p:nvSpPr>
          <p:cNvPr id="9" name="Shape 7"/>
          <p:cNvSpPr/>
          <p:nvPr/>
        </p:nvSpPr>
        <p:spPr>
          <a:xfrm>
            <a:off x="7973568" y="3858768"/>
            <a:ext cx="3346704" cy="1463040"/>
          </a:xfrm>
          <a:prstGeom prst="roundRect">
            <a:avLst>
              <a:gd name="adj" fmla="val 5625"/>
            </a:avLst>
          </a:prstGeom>
          <a:solidFill>
            <a:srgbClr val="0E1B2B"/>
          </a:solidFill>
          <a:ln w="12700">
            <a:solidFill>
              <a:srgbClr val="27415F"/>
            </a:solidFill>
            <a:prstDash val="solid"/>
          </a:ln>
        </p:spPr>
      </p:sp>
      <p:sp>
        <p:nvSpPr>
          <p:cNvPr id="10" name="Text 8"/>
          <p:cNvSpPr/>
          <p:nvPr/>
        </p:nvSpPr>
        <p:spPr>
          <a:xfrm>
            <a:off x="8247888" y="4142232"/>
            <a:ext cx="2697480" cy="237744"/>
          </a:xfrm>
          <a:prstGeom prst="rect">
            <a:avLst/>
          </a:prstGeom>
          <a:noFill/>
          <a:ln/>
        </p:spPr>
        <p:txBody>
          <a:bodyPr wrap="square" lIns="0" tIns="0" rIns="0" bIns="0" rtlCol="0" anchor="ctr"/>
          <a:lstStyle/>
          <a:p>
            <a:pPr indent="0" marL="0">
              <a:buNone/>
            </a:pPr>
            <a:r>
              <a:rPr lang="en-US" sz="1000" b="1" spc="150" kern="0" dirty="0">
                <a:solidFill>
                  <a:srgbClr val="3DDC97"/>
                </a:solidFill>
              </a:rPr>
              <a:t>THE CORE IDEA</a:t>
            </a:r>
            <a:endParaRPr lang="en-US" sz="1000" dirty="0"/>
          </a:p>
        </p:txBody>
      </p:sp>
      <p:sp>
        <p:nvSpPr>
          <p:cNvPr id="11" name="Text 9"/>
          <p:cNvSpPr/>
          <p:nvPr/>
        </p:nvSpPr>
        <p:spPr>
          <a:xfrm>
            <a:off x="8247888" y="4507992"/>
            <a:ext cx="2679192" cy="566928"/>
          </a:xfrm>
          <a:prstGeom prst="rect">
            <a:avLst/>
          </a:prstGeom>
          <a:noFill/>
          <a:ln/>
        </p:spPr>
        <p:txBody>
          <a:bodyPr wrap="square" lIns="0" tIns="0" rIns="0" bIns="0" rtlCol="0" anchor="ctr"/>
          <a:lstStyle/>
          <a:p>
            <a:pPr indent="0" marL="0">
              <a:buNone/>
            </a:pPr>
            <a:r>
              <a:rPr lang="en-US" sz="1450" b="1" dirty="0">
                <a:solidFill>
                  <a:srgbClr val="F7FAFC"/>
                </a:solidFill>
              </a:rPr>
              <a:t>Copilot becomes a programmable runtime inside our application—not just a chat window.</a:t>
            </a:r>
            <a:endParaRPr lang="en-US" sz="1450" dirty="0"/>
          </a:p>
        </p:txBody>
      </p:sp>
      <p:sp>
        <p:nvSpPr>
          <p:cNvPr id="12" name="Text 10"/>
          <p:cNvSpPr/>
          <p:nvPr/>
        </p:nvSpPr>
        <p:spPr>
          <a:xfrm>
            <a:off x="685800" y="6199632"/>
            <a:ext cx="3108960" cy="256032"/>
          </a:xfrm>
          <a:prstGeom prst="rect">
            <a:avLst/>
          </a:prstGeom>
          <a:noFill/>
          <a:ln/>
        </p:spPr>
        <p:txBody>
          <a:bodyPr wrap="square" lIns="0" tIns="0" rIns="0" bIns="0" rtlCol="0" anchor="ctr"/>
          <a:lstStyle/>
          <a:p>
            <a:pPr indent="0" marL="0">
              <a:buNone/>
            </a:pPr>
            <a:r>
              <a:rPr lang="en-US" sz="1200" dirty="0">
                <a:solidFill>
                  <a:srgbClr val="91A4B8"/>
                </a:solidFill>
              </a:rPr>
              <a:t>Sami Sabir-Idrissi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TODAY</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What we will cover</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A practical knowledge transfer—not a feature catalog.</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2</a:t>
            </a:r>
            <a:endParaRPr lang="en-US" sz="850" dirty="0"/>
          </a:p>
        </p:txBody>
      </p:sp>
      <p:sp>
        <p:nvSpPr>
          <p:cNvPr id="8" name="Shape 6"/>
          <p:cNvSpPr/>
          <p:nvPr/>
        </p:nvSpPr>
        <p:spPr>
          <a:xfrm>
            <a:off x="731520" y="1828800"/>
            <a:ext cx="3401568" cy="1554480"/>
          </a:xfrm>
          <a:prstGeom prst="roundRect">
            <a:avLst>
              <a:gd name="adj" fmla="val 4706"/>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9" name="Shape 7"/>
          <p:cNvSpPr/>
          <p:nvPr/>
        </p:nvSpPr>
        <p:spPr>
          <a:xfrm>
            <a:off x="731520" y="1828800"/>
            <a:ext cx="54864" cy="1554480"/>
          </a:xfrm>
          <a:prstGeom prst="rect">
            <a:avLst/>
          </a:prstGeom>
          <a:solidFill>
            <a:srgbClr val="38BDF8"/>
          </a:solidFill>
          <a:ln w="12700">
            <a:solidFill>
              <a:srgbClr val="38BDF8">
                <a:alpha val="0"/>
              </a:srgbClr>
            </a:solidFill>
            <a:prstDash val="solid"/>
          </a:ln>
        </p:spPr>
      </p:sp>
      <p:sp>
        <p:nvSpPr>
          <p:cNvPr id="10" name="Text 8"/>
          <p:cNvSpPr/>
          <p:nvPr/>
        </p:nvSpPr>
        <p:spPr>
          <a:xfrm>
            <a:off x="950976" y="2011680"/>
            <a:ext cx="438912" cy="292608"/>
          </a:xfrm>
          <a:prstGeom prst="rect">
            <a:avLst/>
          </a:prstGeom>
          <a:noFill/>
          <a:ln/>
        </p:spPr>
        <p:txBody>
          <a:bodyPr wrap="square" lIns="0" tIns="0" rIns="0" bIns="0" rtlCol="0" anchor="ctr"/>
          <a:lstStyle/>
          <a:p>
            <a:pPr indent="0" marL="0">
              <a:buNone/>
            </a:pPr>
            <a:r>
              <a:rPr lang="en-US" sz="1500" b="1" dirty="0">
                <a:solidFill>
                  <a:srgbClr val="38BDF8"/>
                </a:solidFill>
              </a:rPr>
              <a:t>01</a:t>
            </a:r>
            <a:endParaRPr lang="en-US" sz="1500" dirty="0"/>
          </a:p>
        </p:txBody>
      </p:sp>
      <p:sp>
        <p:nvSpPr>
          <p:cNvPr id="11" name="Text 9"/>
          <p:cNvSpPr/>
          <p:nvPr/>
        </p:nvSpPr>
        <p:spPr>
          <a:xfrm>
            <a:off x="1453896" y="1993392"/>
            <a:ext cx="2459736" cy="329184"/>
          </a:xfrm>
          <a:prstGeom prst="rect">
            <a:avLst/>
          </a:prstGeom>
          <a:noFill/>
          <a:ln/>
        </p:spPr>
        <p:txBody>
          <a:bodyPr wrap="square" lIns="0" tIns="0" rIns="0" bIns="0" rtlCol="0" anchor="ctr"/>
          <a:lstStyle/>
          <a:p>
            <a:pPr indent="0" marL="0">
              <a:buNone/>
            </a:pPr>
            <a:r>
              <a:rPr lang="en-US" sz="1600" b="1" dirty="0">
                <a:solidFill>
                  <a:srgbClr val="F7FAFC"/>
                </a:solidFill>
              </a:rPr>
              <a:t>Why</a:t>
            </a:r>
            <a:endParaRPr lang="en-US" sz="1600" dirty="0"/>
          </a:p>
        </p:txBody>
      </p:sp>
      <p:sp>
        <p:nvSpPr>
          <p:cNvPr id="12" name="Text 10"/>
          <p:cNvSpPr/>
          <p:nvPr/>
        </p:nvSpPr>
        <p:spPr>
          <a:xfrm>
            <a:off x="987552" y="2459736"/>
            <a:ext cx="2889504" cy="749808"/>
          </a:xfrm>
          <a:prstGeom prst="rect">
            <a:avLst/>
          </a:prstGeom>
          <a:noFill/>
          <a:ln/>
        </p:spPr>
        <p:txBody>
          <a:bodyPr wrap="square" lIns="254" tIns="254" rIns="254" bIns="254" rtlCol="0" anchor="t"/>
          <a:lstStyle/>
          <a:p>
            <a:pPr indent="0" marL="0">
              <a:buNone/>
            </a:pPr>
            <a:r>
              <a:rPr lang="en-US" sz="1150" dirty="0">
                <a:solidFill>
                  <a:srgbClr val="D8E3F0"/>
                </a:solidFill>
              </a:rPr>
              <a:t>The gap between chat assistance and repeatable engineering workflows</a:t>
            </a:r>
            <a:endParaRPr lang="en-US" sz="1150" dirty="0"/>
          </a:p>
        </p:txBody>
      </p:sp>
      <p:sp>
        <p:nvSpPr>
          <p:cNvPr id="13" name="Shape 11"/>
          <p:cNvSpPr/>
          <p:nvPr/>
        </p:nvSpPr>
        <p:spPr>
          <a:xfrm>
            <a:off x="4526280" y="1828800"/>
            <a:ext cx="3401568" cy="1554480"/>
          </a:xfrm>
          <a:prstGeom prst="roundRect">
            <a:avLst>
              <a:gd name="adj" fmla="val 4706"/>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4" name="Shape 12"/>
          <p:cNvSpPr/>
          <p:nvPr/>
        </p:nvSpPr>
        <p:spPr>
          <a:xfrm>
            <a:off x="4526280" y="1828800"/>
            <a:ext cx="54864" cy="1554480"/>
          </a:xfrm>
          <a:prstGeom prst="rect">
            <a:avLst/>
          </a:prstGeom>
          <a:solidFill>
            <a:srgbClr val="4F7CFF"/>
          </a:solidFill>
          <a:ln w="12700">
            <a:solidFill>
              <a:srgbClr val="4F7CFF">
                <a:alpha val="0"/>
              </a:srgbClr>
            </a:solidFill>
            <a:prstDash val="solid"/>
          </a:ln>
        </p:spPr>
      </p:sp>
      <p:sp>
        <p:nvSpPr>
          <p:cNvPr id="15" name="Text 13"/>
          <p:cNvSpPr/>
          <p:nvPr/>
        </p:nvSpPr>
        <p:spPr>
          <a:xfrm>
            <a:off x="4745736" y="2011680"/>
            <a:ext cx="438912" cy="292608"/>
          </a:xfrm>
          <a:prstGeom prst="rect">
            <a:avLst/>
          </a:prstGeom>
          <a:noFill/>
          <a:ln/>
        </p:spPr>
        <p:txBody>
          <a:bodyPr wrap="square" lIns="0" tIns="0" rIns="0" bIns="0" rtlCol="0" anchor="ctr"/>
          <a:lstStyle/>
          <a:p>
            <a:pPr indent="0" marL="0">
              <a:buNone/>
            </a:pPr>
            <a:r>
              <a:rPr lang="en-US" sz="1500" b="1" dirty="0">
                <a:solidFill>
                  <a:srgbClr val="4F7CFF"/>
                </a:solidFill>
              </a:rPr>
              <a:t>02</a:t>
            </a:r>
            <a:endParaRPr lang="en-US" sz="1500" dirty="0"/>
          </a:p>
        </p:txBody>
      </p:sp>
      <p:sp>
        <p:nvSpPr>
          <p:cNvPr id="16" name="Text 14"/>
          <p:cNvSpPr/>
          <p:nvPr/>
        </p:nvSpPr>
        <p:spPr>
          <a:xfrm>
            <a:off x="5248656" y="1993392"/>
            <a:ext cx="2459736" cy="329184"/>
          </a:xfrm>
          <a:prstGeom prst="rect">
            <a:avLst/>
          </a:prstGeom>
          <a:noFill/>
          <a:ln/>
        </p:spPr>
        <p:txBody>
          <a:bodyPr wrap="square" lIns="0" tIns="0" rIns="0" bIns="0" rtlCol="0" anchor="ctr"/>
          <a:lstStyle/>
          <a:p>
            <a:pPr indent="0" marL="0">
              <a:buNone/>
            </a:pPr>
            <a:r>
              <a:rPr lang="en-US" sz="1600" b="1" dirty="0">
                <a:solidFill>
                  <a:srgbClr val="F7FAFC"/>
                </a:solidFill>
              </a:rPr>
              <a:t>How</a:t>
            </a:r>
            <a:endParaRPr lang="en-US" sz="1600" dirty="0"/>
          </a:p>
        </p:txBody>
      </p:sp>
      <p:sp>
        <p:nvSpPr>
          <p:cNvPr id="17" name="Text 15"/>
          <p:cNvSpPr/>
          <p:nvPr/>
        </p:nvSpPr>
        <p:spPr>
          <a:xfrm>
            <a:off x="4782312" y="2459736"/>
            <a:ext cx="2889504" cy="749808"/>
          </a:xfrm>
          <a:prstGeom prst="rect">
            <a:avLst/>
          </a:prstGeom>
          <a:noFill/>
          <a:ln/>
        </p:spPr>
        <p:txBody>
          <a:bodyPr wrap="square" lIns="254" tIns="254" rIns="254" bIns="254" rtlCol="0" anchor="t"/>
          <a:lstStyle/>
          <a:p>
            <a:pPr indent="0" marL="0">
              <a:buNone/>
            </a:pPr>
            <a:r>
              <a:rPr lang="en-US" sz="1150" dirty="0">
                <a:solidFill>
                  <a:srgbClr val="D8E3F0"/>
                </a:solidFill>
              </a:rPr>
              <a:t>Client, sessions, models, tools, skills, agents, and events</a:t>
            </a:r>
            <a:endParaRPr lang="en-US" sz="1150" dirty="0"/>
          </a:p>
        </p:txBody>
      </p:sp>
      <p:sp>
        <p:nvSpPr>
          <p:cNvPr id="18" name="Shape 16"/>
          <p:cNvSpPr/>
          <p:nvPr/>
        </p:nvSpPr>
        <p:spPr>
          <a:xfrm>
            <a:off x="8321040" y="1828800"/>
            <a:ext cx="3401568" cy="1554480"/>
          </a:xfrm>
          <a:prstGeom prst="roundRect">
            <a:avLst>
              <a:gd name="adj" fmla="val 4706"/>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9" name="Shape 17"/>
          <p:cNvSpPr/>
          <p:nvPr/>
        </p:nvSpPr>
        <p:spPr>
          <a:xfrm>
            <a:off x="8321040" y="1828800"/>
            <a:ext cx="54864" cy="1554480"/>
          </a:xfrm>
          <a:prstGeom prst="rect">
            <a:avLst/>
          </a:prstGeom>
          <a:solidFill>
            <a:srgbClr val="3DDC97"/>
          </a:solidFill>
          <a:ln w="12700">
            <a:solidFill>
              <a:srgbClr val="3DDC97">
                <a:alpha val="0"/>
              </a:srgbClr>
            </a:solidFill>
            <a:prstDash val="solid"/>
          </a:ln>
        </p:spPr>
      </p:sp>
      <p:sp>
        <p:nvSpPr>
          <p:cNvPr id="20" name="Text 18"/>
          <p:cNvSpPr/>
          <p:nvPr/>
        </p:nvSpPr>
        <p:spPr>
          <a:xfrm>
            <a:off x="8540496" y="2011680"/>
            <a:ext cx="438912" cy="292608"/>
          </a:xfrm>
          <a:prstGeom prst="rect">
            <a:avLst/>
          </a:prstGeom>
          <a:noFill/>
          <a:ln/>
        </p:spPr>
        <p:txBody>
          <a:bodyPr wrap="square" lIns="0" tIns="0" rIns="0" bIns="0" rtlCol="0" anchor="ctr"/>
          <a:lstStyle/>
          <a:p>
            <a:pPr indent="0" marL="0">
              <a:buNone/>
            </a:pPr>
            <a:r>
              <a:rPr lang="en-US" sz="1500" b="1" dirty="0">
                <a:solidFill>
                  <a:srgbClr val="3DDC97"/>
                </a:solidFill>
              </a:rPr>
              <a:t>03</a:t>
            </a:r>
            <a:endParaRPr lang="en-US" sz="1500" dirty="0"/>
          </a:p>
        </p:txBody>
      </p:sp>
      <p:sp>
        <p:nvSpPr>
          <p:cNvPr id="21" name="Text 19"/>
          <p:cNvSpPr/>
          <p:nvPr/>
        </p:nvSpPr>
        <p:spPr>
          <a:xfrm>
            <a:off x="9043416" y="1993392"/>
            <a:ext cx="2459736" cy="329184"/>
          </a:xfrm>
          <a:prstGeom prst="rect">
            <a:avLst/>
          </a:prstGeom>
          <a:noFill/>
          <a:ln/>
        </p:spPr>
        <p:txBody>
          <a:bodyPr wrap="square" lIns="0" tIns="0" rIns="0" bIns="0" rtlCol="0" anchor="ctr"/>
          <a:lstStyle/>
          <a:p>
            <a:pPr indent="0" marL="0">
              <a:buNone/>
            </a:pPr>
            <a:r>
              <a:rPr lang="en-US" sz="1600" b="1" dirty="0">
                <a:solidFill>
                  <a:srgbClr val="F7FAFC"/>
                </a:solidFill>
              </a:rPr>
              <a:t>Use cases</a:t>
            </a:r>
            <a:endParaRPr lang="en-US" sz="1600" dirty="0"/>
          </a:p>
        </p:txBody>
      </p:sp>
      <p:sp>
        <p:nvSpPr>
          <p:cNvPr id="22" name="Text 20"/>
          <p:cNvSpPr/>
          <p:nvPr/>
        </p:nvSpPr>
        <p:spPr>
          <a:xfrm>
            <a:off x="8577072" y="2459736"/>
            <a:ext cx="2889504" cy="749808"/>
          </a:xfrm>
          <a:prstGeom prst="rect">
            <a:avLst/>
          </a:prstGeom>
          <a:noFill/>
          <a:ln/>
        </p:spPr>
        <p:txBody>
          <a:bodyPr wrap="square" lIns="254" tIns="254" rIns="254" bIns="254" rtlCol="0" anchor="t"/>
          <a:lstStyle/>
          <a:p>
            <a:pPr indent="0" marL="0">
              <a:buNone/>
            </a:pPr>
            <a:r>
              <a:rPr lang="en-US" sz="1150" dirty="0">
                <a:solidFill>
                  <a:srgbClr val="D8E3F0"/>
                </a:solidFill>
              </a:rPr>
              <a:t>Where developers and QA teams can get leverage</a:t>
            </a:r>
            <a:endParaRPr lang="en-US" sz="1150" dirty="0"/>
          </a:p>
        </p:txBody>
      </p:sp>
      <p:sp>
        <p:nvSpPr>
          <p:cNvPr id="23" name="Shape 21"/>
          <p:cNvSpPr/>
          <p:nvPr/>
        </p:nvSpPr>
        <p:spPr>
          <a:xfrm>
            <a:off x="731520" y="3749040"/>
            <a:ext cx="3401568" cy="1554480"/>
          </a:xfrm>
          <a:prstGeom prst="roundRect">
            <a:avLst>
              <a:gd name="adj" fmla="val 4706"/>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24" name="Shape 22"/>
          <p:cNvSpPr/>
          <p:nvPr/>
        </p:nvSpPr>
        <p:spPr>
          <a:xfrm>
            <a:off x="731520" y="3749040"/>
            <a:ext cx="54864" cy="1554480"/>
          </a:xfrm>
          <a:prstGeom prst="rect">
            <a:avLst/>
          </a:prstGeom>
          <a:solidFill>
            <a:srgbClr val="A78BFA"/>
          </a:solidFill>
          <a:ln w="12700">
            <a:solidFill>
              <a:srgbClr val="A78BFA">
                <a:alpha val="0"/>
              </a:srgbClr>
            </a:solidFill>
            <a:prstDash val="solid"/>
          </a:ln>
        </p:spPr>
      </p:sp>
      <p:sp>
        <p:nvSpPr>
          <p:cNvPr id="25" name="Text 23"/>
          <p:cNvSpPr/>
          <p:nvPr/>
        </p:nvSpPr>
        <p:spPr>
          <a:xfrm>
            <a:off x="950976" y="3931920"/>
            <a:ext cx="438912" cy="292608"/>
          </a:xfrm>
          <a:prstGeom prst="rect">
            <a:avLst/>
          </a:prstGeom>
          <a:noFill/>
          <a:ln/>
        </p:spPr>
        <p:txBody>
          <a:bodyPr wrap="square" lIns="0" tIns="0" rIns="0" bIns="0" rtlCol="0" anchor="ctr"/>
          <a:lstStyle/>
          <a:p>
            <a:pPr indent="0" marL="0">
              <a:buNone/>
            </a:pPr>
            <a:r>
              <a:rPr lang="en-US" sz="1500" b="1" dirty="0">
                <a:solidFill>
                  <a:srgbClr val="A78BFA"/>
                </a:solidFill>
              </a:rPr>
              <a:t>04</a:t>
            </a:r>
            <a:endParaRPr lang="en-US" sz="1500" dirty="0"/>
          </a:p>
        </p:txBody>
      </p:sp>
      <p:sp>
        <p:nvSpPr>
          <p:cNvPr id="26" name="Text 24"/>
          <p:cNvSpPr/>
          <p:nvPr/>
        </p:nvSpPr>
        <p:spPr>
          <a:xfrm>
            <a:off x="1453896" y="3913632"/>
            <a:ext cx="2459736" cy="329184"/>
          </a:xfrm>
          <a:prstGeom prst="rect">
            <a:avLst/>
          </a:prstGeom>
          <a:noFill/>
          <a:ln/>
        </p:spPr>
        <p:txBody>
          <a:bodyPr wrap="square" lIns="0" tIns="0" rIns="0" bIns="0" rtlCol="0" anchor="ctr"/>
          <a:lstStyle/>
          <a:p>
            <a:pPr indent="0" marL="0">
              <a:buNone/>
            </a:pPr>
            <a:r>
              <a:rPr lang="en-US" sz="1600" b="1" dirty="0">
                <a:solidFill>
                  <a:srgbClr val="F7FAFC"/>
                </a:solidFill>
              </a:rPr>
              <a:t>Prototype</a:t>
            </a:r>
            <a:endParaRPr lang="en-US" sz="1600" dirty="0"/>
          </a:p>
        </p:txBody>
      </p:sp>
      <p:sp>
        <p:nvSpPr>
          <p:cNvPr id="27" name="Text 25"/>
          <p:cNvSpPr/>
          <p:nvPr/>
        </p:nvSpPr>
        <p:spPr>
          <a:xfrm>
            <a:off x="987552" y="4379976"/>
            <a:ext cx="2889504" cy="749808"/>
          </a:xfrm>
          <a:prstGeom prst="rect">
            <a:avLst/>
          </a:prstGeom>
          <a:noFill/>
          <a:ln/>
        </p:spPr>
        <p:txBody>
          <a:bodyPr wrap="square" lIns="254" tIns="254" rIns="254" bIns="254" rtlCol="0" anchor="t"/>
          <a:lstStyle/>
          <a:p>
            <a:pPr indent="0" marL="0">
              <a:buNone/>
            </a:pPr>
            <a:r>
              <a:rPr lang="en-US" sz="1150" dirty="0">
                <a:solidFill>
                  <a:srgbClr val="D8E3F0"/>
                </a:solidFill>
              </a:rPr>
              <a:t>Issue triage → code → Jenkins → Serenity → retry or close</a:t>
            </a:r>
            <a:endParaRPr lang="en-US" sz="1150" dirty="0"/>
          </a:p>
        </p:txBody>
      </p:sp>
      <p:sp>
        <p:nvSpPr>
          <p:cNvPr id="28" name="Shape 26"/>
          <p:cNvSpPr/>
          <p:nvPr/>
        </p:nvSpPr>
        <p:spPr>
          <a:xfrm>
            <a:off x="4526280" y="3749040"/>
            <a:ext cx="3401568" cy="1554480"/>
          </a:xfrm>
          <a:prstGeom prst="roundRect">
            <a:avLst>
              <a:gd name="adj" fmla="val 4706"/>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29" name="Shape 27"/>
          <p:cNvSpPr/>
          <p:nvPr/>
        </p:nvSpPr>
        <p:spPr>
          <a:xfrm>
            <a:off x="4526280" y="3749040"/>
            <a:ext cx="54864" cy="1554480"/>
          </a:xfrm>
          <a:prstGeom prst="rect">
            <a:avLst/>
          </a:prstGeom>
          <a:solidFill>
            <a:srgbClr val="F7C948"/>
          </a:solidFill>
          <a:ln w="12700">
            <a:solidFill>
              <a:srgbClr val="F7C948">
                <a:alpha val="0"/>
              </a:srgbClr>
            </a:solidFill>
            <a:prstDash val="solid"/>
          </a:ln>
        </p:spPr>
      </p:sp>
      <p:sp>
        <p:nvSpPr>
          <p:cNvPr id="30" name="Text 28"/>
          <p:cNvSpPr/>
          <p:nvPr/>
        </p:nvSpPr>
        <p:spPr>
          <a:xfrm>
            <a:off x="4745736" y="3931920"/>
            <a:ext cx="438912" cy="292608"/>
          </a:xfrm>
          <a:prstGeom prst="rect">
            <a:avLst/>
          </a:prstGeom>
          <a:noFill/>
          <a:ln/>
        </p:spPr>
        <p:txBody>
          <a:bodyPr wrap="square" lIns="0" tIns="0" rIns="0" bIns="0" rtlCol="0" anchor="ctr"/>
          <a:lstStyle/>
          <a:p>
            <a:pPr indent="0" marL="0">
              <a:buNone/>
            </a:pPr>
            <a:r>
              <a:rPr lang="en-US" sz="1500" b="1" dirty="0">
                <a:solidFill>
                  <a:srgbClr val="F7C948"/>
                </a:solidFill>
              </a:rPr>
              <a:t>05</a:t>
            </a:r>
            <a:endParaRPr lang="en-US" sz="1500" dirty="0"/>
          </a:p>
        </p:txBody>
      </p:sp>
      <p:sp>
        <p:nvSpPr>
          <p:cNvPr id="31" name="Text 29"/>
          <p:cNvSpPr/>
          <p:nvPr/>
        </p:nvSpPr>
        <p:spPr>
          <a:xfrm>
            <a:off x="5248656" y="3913632"/>
            <a:ext cx="2459736" cy="329184"/>
          </a:xfrm>
          <a:prstGeom prst="rect">
            <a:avLst/>
          </a:prstGeom>
          <a:noFill/>
          <a:ln/>
        </p:spPr>
        <p:txBody>
          <a:bodyPr wrap="square" lIns="0" tIns="0" rIns="0" bIns="0" rtlCol="0" anchor="ctr"/>
          <a:lstStyle/>
          <a:p>
            <a:pPr indent="0" marL="0">
              <a:buNone/>
            </a:pPr>
            <a:r>
              <a:rPr lang="en-US" sz="1600" b="1" dirty="0">
                <a:solidFill>
                  <a:srgbClr val="F7FAFC"/>
                </a:solidFill>
              </a:rPr>
              <a:t>Reality check</a:t>
            </a:r>
            <a:endParaRPr lang="en-US" sz="1600" dirty="0"/>
          </a:p>
        </p:txBody>
      </p:sp>
      <p:sp>
        <p:nvSpPr>
          <p:cNvPr id="32" name="Text 30"/>
          <p:cNvSpPr/>
          <p:nvPr/>
        </p:nvSpPr>
        <p:spPr>
          <a:xfrm>
            <a:off x="4782312" y="4379976"/>
            <a:ext cx="2889504" cy="749808"/>
          </a:xfrm>
          <a:prstGeom prst="rect">
            <a:avLst/>
          </a:prstGeom>
          <a:noFill/>
          <a:ln/>
        </p:spPr>
        <p:txBody>
          <a:bodyPr wrap="square" lIns="254" tIns="254" rIns="254" bIns="254" rtlCol="0" anchor="t"/>
          <a:lstStyle/>
          <a:p>
            <a:pPr indent="0" marL="0">
              <a:buNone/>
            </a:pPr>
            <a:r>
              <a:rPr lang="en-US" sz="1150" dirty="0">
                <a:solidFill>
                  <a:srgbClr val="D8E3F0"/>
                </a:solidFill>
              </a:rPr>
              <a:t>Security boundaries, version compatibility, and remaining work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FRAMING</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Why use an SDK instead of only chat?</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The value is repeatability, integration, and control.</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3</a:t>
            </a:r>
            <a:endParaRPr lang="en-US" sz="850" dirty="0"/>
          </a:p>
        </p:txBody>
      </p:sp>
      <p:sp>
        <p:nvSpPr>
          <p:cNvPr id="8" name="Shape 6"/>
          <p:cNvSpPr/>
          <p:nvPr/>
        </p:nvSpPr>
        <p:spPr>
          <a:xfrm>
            <a:off x="685800" y="1783080"/>
            <a:ext cx="3429000" cy="3611880"/>
          </a:xfrm>
          <a:prstGeom prst="roundRect">
            <a:avLst>
              <a:gd name="adj" fmla="val 2133"/>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9" name="Shape 7"/>
          <p:cNvSpPr/>
          <p:nvPr/>
        </p:nvSpPr>
        <p:spPr>
          <a:xfrm>
            <a:off x="685800" y="1783080"/>
            <a:ext cx="54864" cy="3611880"/>
          </a:xfrm>
          <a:prstGeom prst="rect">
            <a:avLst/>
          </a:prstGeom>
          <a:solidFill>
            <a:srgbClr val="91A4B8"/>
          </a:solidFill>
          <a:ln w="12700">
            <a:solidFill>
              <a:srgbClr val="91A4B8">
                <a:alpha val="0"/>
              </a:srgbClr>
            </a:solidFill>
            <a:prstDash val="solid"/>
          </a:ln>
        </p:spPr>
      </p:sp>
      <p:sp>
        <p:nvSpPr>
          <p:cNvPr id="10" name="Text 8"/>
          <p:cNvSpPr/>
          <p:nvPr/>
        </p:nvSpPr>
        <p:spPr>
          <a:xfrm>
            <a:off x="941832" y="1947672"/>
            <a:ext cx="2916936" cy="329184"/>
          </a:xfrm>
          <a:prstGeom prst="rect">
            <a:avLst/>
          </a:prstGeom>
          <a:noFill/>
          <a:ln/>
        </p:spPr>
        <p:txBody>
          <a:bodyPr wrap="square" lIns="0" tIns="0" rIns="0" bIns="0" rtlCol="0" anchor="ctr"/>
          <a:lstStyle/>
          <a:p>
            <a:pPr indent="0" marL="0">
              <a:buNone/>
            </a:pPr>
            <a:r>
              <a:rPr lang="en-US" sz="1600" b="1" dirty="0">
                <a:solidFill>
                  <a:srgbClr val="F7FAFC"/>
                </a:solidFill>
              </a:rPr>
              <a:t>Chat experience</a:t>
            </a:r>
            <a:endParaRPr lang="en-US" sz="1600" dirty="0"/>
          </a:p>
        </p:txBody>
      </p:sp>
      <p:sp>
        <p:nvSpPr>
          <p:cNvPr id="11" name="Text 9"/>
          <p:cNvSpPr/>
          <p:nvPr/>
        </p:nvSpPr>
        <p:spPr>
          <a:xfrm>
            <a:off x="941832" y="2414016"/>
            <a:ext cx="2916936" cy="2807208"/>
          </a:xfrm>
          <a:prstGeom prst="rect">
            <a:avLst/>
          </a:prstGeom>
          <a:noFill/>
          <a:ln/>
        </p:spPr>
        <p:txBody>
          <a:bodyPr wrap="square" lIns="254" tIns="254" rIns="254" bIns="254" rtlCol="0" anchor="t"/>
          <a:lstStyle/>
          <a:p>
            <a:pPr indent="0" marL="0">
              <a:buNone/>
            </a:pPr>
            <a:r>
              <a:rPr lang="en-US" sz="1150" dirty="0">
                <a:solidFill>
                  <a:srgbClr val="D8E3F0"/>
                </a:solidFill>
              </a:rPr>
              <a:t>• Human starts every interaction</a:t>
            </a:r>
            <a:endParaRPr lang="en-US" sz="1150" dirty="0"/>
          </a:p>
          <a:p>
            <a:pPr indent="0" marL="0">
              <a:buNone/>
            </a:pPr>
            <a:endParaRPr lang="en-US" sz="1150" dirty="0"/>
          </a:p>
          <a:p>
            <a:pPr indent="0" marL="0">
              <a:buNone/>
            </a:pPr>
            <a:r>
              <a:rPr lang="en-US" sz="1150" dirty="0">
                <a:solidFill>
                  <a:srgbClr val="D8E3F0"/>
                </a:solidFill>
              </a:rPr>
              <a:t>• Context is often conversational</a:t>
            </a:r>
            <a:endParaRPr lang="en-US" sz="1150" dirty="0"/>
          </a:p>
          <a:p>
            <a:pPr indent="0" marL="0">
              <a:buNone/>
            </a:pPr>
            <a:endParaRPr lang="en-US" sz="1150" dirty="0"/>
          </a:p>
          <a:p>
            <a:pPr indent="0" marL="0">
              <a:buNone/>
            </a:pPr>
            <a:r>
              <a:rPr lang="en-US" sz="1150" dirty="0">
                <a:solidFill>
                  <a:srgbClr val="D8E3F0"/>
                </a:solidFill>
              </a:rPr>
              <a:t>• Output may be free-form</a:t>
            </a:r>
            <a:endParaRPr lang="en-US" sz="1150" dirty="0"/>
          </a:p>
          <a:p>
            <a:pPr indent="0" marL="0">
              <a:buNone/>
            </a:pPr>
            <a:endParaRPr lang="en-US" sz="1150" dirty="0"/>
          </a:p>
          <a:p>
            <a:pPr indent="0" marL="0">
              <a:buNone/>
            </a:pPr>
            <a:r>
              <a:rPr lang="en-US" sz="1150" dirty="0">
                <a:solidFill>
                  <a:srgbClr val="D8E3F0"/>
                </a:solidFill>
              </a:rPr>
              <a:t>• Useful for exploration and assistance</a:t>
            </a:r>
            <a:endParaRPr lang="en-US" sz="1150" dirty="0"/>
          </a:p>
        </p:txBody>
      </p:sp>
      <p:sp>
        <p:nvSpPr>
          <p:cNvPr id="12" name="Text 10"/>
          <p:cNvSpPr/>
          <p:nvPr/>
        </p:nvSpPr>
        <p:spPr>
          <a:xfrm>
            <a:off x="4224528" y="2999232"/>
            <a:ext cx="502920" cy="502920"/>
          </a:xfrm>
          <a:prstGeom prst="rect">
            <a:avLst/>
          </a:prstGeom>
          <a:noFill/>
          <a:ln/>
        </p:spPr>
        <p:txBody>
          <a:bodyPr wrap="square" lIns="0" tIns="0" rIns="0" bIns="0" rtlCol="0" anchor="ctr"/>
          <a:lstStyle/>
          <a:p>
            <a:pPr algn="ctr" indent="0" marL="0">
              <a:buNone/>
            </a:pPr>
            <a:r>
              <a:rPr lang="en-US" sz="3000" b="1" dirty="0">
                <a:solidFill>
                  <a:srgbClr val="38BDF8"/>
                </a:solidFill>
              </a:rPr>
              <a:t>→</a:t>
            </a:r>
            <a:endParaRPr lang="en-US" sz="3000" dirty="0"/>
          </a:p>
        </p:txBody>
      </p:sp>
      <p:sp>
        <p:nvSpPr>
          <p:cNvPr id="13" name="Shape 11"/>
          <p:cNvSpPr/>
          <p:nvPr/>
        </p:nvSpPr>
        <p:spPr>
          <a:xfrm>
            <a:off x="4828032" y="1783080"/>
            <a:ext cx="6629400" cy="3611880"/>
          </a:xfrm>
          <a:prstGeom prst="roundRect">
            <a:avLst>
              <a:gd name="adj" fmla="val 2025"/>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4" name="Shape 12"/>
          <p:cNvSpPr/>
          <p:nvPr/>
        </p:nvSpPr>
        <p:spPr>
          <a:xfrm>
            <a:off x="4828032" y="1783080"/>
            <a:ext cx="54864" cy="3611880"/>
          </a:xfrm>
          <a:prstGeom prst="rect">
            <a:avLst/>
          </a:prstGeom>
          <a:solidFill>
            <a:srgbClr val="38BDF8"/>
          </a:solidFill>
          <a:ln w="12700">
            <a:solidFill>
              <a:srgbClr val="38BDF8">
                <a:alpha val="0"/>
              </a:srgbClr>
            </a:solidFill>
            <a:prstDash val="solid"/>
          </a:ln>
        </p:spPr>
      </p:sp>
      <p:sp>
        <p:nvSpPr>
          <p:cNvPr id="15" name="Text 13"/>
          <p:cNvSpPr/>
          <p:nvPr/>
        </p:nvSpPr>
        <p:spPr>
          <a:xfrm>
            <a:off x="5084064" y="1947672"/>
            <a:ext cx="6117336" cy="329184"/>
          </a:xfrm>
          <a:prstGeom prst="rect">
            <a:avLst/>
          </a:prstGeom>
          <a:noFill/>
          <a:ln/>
        </p:spPr>
        <p:txBody>
          <a:bodyPr wrap="square" lIns="0" tIns="0" rIns="0" bIns="0" rtlCol="0" anchor="ctr"/>
          <a:lstStyle/>
          <a:p>
            <a:pPr indent="0" marL="0">
              <a:buNone/>
            </a:pPr>
            <a:r>
              <a:rPr lang="en-US" sz="1600" b="1" dirty="0">
                <a:solidFill>
                  <a:srgbClr val="F7FAFC"/>
                </a:solidFill>
              </a:rPr>
              <a:t>Programmable agent runtime</a:t>
            </a:r>
            <a:endParaRPr lang="en-US" sz="1600" dirty="0"/>
          </a:p>
        </p:txBody>
      </p:sp>
      <p:sp>
        <p:nvSpPr>
          <p:cNvPr id="16" name="Text 14"/>
          <p:cNvSpPr/>
          <p:nvPr/>
        </p:nvSpPr>
        <p:spPr>
          <a:xfrm>
            <a:off x="5084064" y="2414016"/>
            <a:ext cx="6117336" cy="2807208"/>
          </a:xfrm>
          <a:prstGeom prst="rect">
            <a:avLst/>
          </a:prstGeom>
          <a:noFill/>
          <a:ln/>
        </p:spPr>
        <p:txBody>
          <a:bodyPr wrap="square" lIns="254" tIns="254" rIns="254" bIns="254" rtlCol="0" anchor="t"/>
          <a:lstStyle/>
          <a:p>
            <a:pPr indent="0" marL="0">
              <a:buNone/>
            </a:pPr>
            <a:r>
              <a:rPr lang="en-US" sz="1150" dirty="0">
                <a:solidFill>
                  <a:srgbClr val="D8E3F0"/>
                </a:solidFill>
              </a:rPr>
              <a:t>• Application creates and resumes sessions</a:t>
            </a:r>
            <a:endParaRPr lang="en-US" sz="1150" dirty="0"/>
          </a:p>
          <a:p>
            <a:pPr indent="0" marL="0">
              <a:buNone/>
            </a:pPr>
            <a:endParaRPr lang="en-US" sz="1150" dirty="0"/>
          </a:p>
          <a:p>
            <a:pPr indent="0" marL="0">
              <a:buNone/>
            </a:pPr>
            <a:r>
              <a:rPr lang="en-US" sz="1150" dirty="0">
                <a:solidFill>
                  <a:srgbClr val="D8E3F0"/>
                </a:solidFill>
              </a:rPr>
              <a:t>• Code controls available tools, permissions, and budgets</a:t>
            </a:r>
            <a:endParaRPr lang="en-US" sz="1150" dirty="0"/>
          </a:p>
          <a:p>
            <a:pPr indent="0" marL="0">
              <a:buNone/>
            </a:pPr>
            <a:endParaRPr lang="en-US" sz="1150" dirty="0"/>
          </a:p>
          <a:p>
            <a:pPr indent="0" marL="0">
              <a:buNone/>
            </a:pPr>
            <a:r>
              <a:rPr lang="en-US" sz="1150" dirty="0">
                <a:solidFill>
                  <a:srgbClr val="D8E3F0"/>
                </a:solidFill>
              </a:rPr>
              <a:t>• Skills and custom agents package domain behavior</a:t>
            </a:r>
            <a:endParaRPr lang="en-US" sz="1150" dirty="0"/>
          </a:p>
          <a:p>
            <a:pPr indent="0" marL="0">
              <a:buNone/>
            </a:pPr>
            <a:endParaRPr lang="en-US" sz="1150" dirty="0"/>
          </a:p>
          <a:p>
            <a:pPr indent="0" marL="0">
              <a:buNone/>
            </a:pPr>
            <a:r>
              <a:rPr lang="en-US" sz="1150" dirty="0">
                <a:solidFill>
                  <a:srgbClr val="D8E3F0"/>
                </a:solidFill>
              </a:rPr>
              <a:t>• Events make execution observable</a:t>
            </a:r>
            <a:endParaRPr lang="en-US" sz="1150" dirty="0"/>
          </a:p>
          <a:p>
            <a:pPr indent="0" marL="0">
              <a:buNone/>
            </a:pPr>
            <a:endParaRPr lang="en-US" sz="1150" dirty="0"/>
          </a:p>
          <a:p>
            <a:pPr indent="0" marL="0">
              <a:buNone/>
            </a:pPr>
            <a:r>
              <a:rPr lang="en-US" sz="1150" dirty="0">
                <a:solidFill>
                  <a:srgbClr val="D8E3F0"/>
                </a:solidFill>
              </a:rPr>
              <a:t>• Structured contracts connect agent stages to CI and business systems</a:t>
            </a:r>
            <a:endParaRPr lang="en-US" sz="1150" dirty="0"/>
          </a:p>
        </p:txBody>
      </p:sp>
      <p:sp>
        <p:nvSpPr>
          <p:cNvPr id="17" name="Text 15"/>
          <p:cNvSpPr/>
          <p:nvPr/>
        </p:nvSpPr>
        <p:spPr>
          <a:xfrm>
            <a:off x="1417320" y="5715000"/>
            <a:ext cx="9372600" cy="438912"/>
          </a:xfrm>
          <a:prstGeom prst="rect">
            <a:avLst/>
          </a:prstGeom>
          <a:noFill/>
          <a:ln/>
        </p:spPr>
        <p:txBody>
          <a:bodyPr wrap="square" lIns="0" tIns="0" rIns="0" bIns="0" rtlCol="0" anchor="ctr"/>
          <a:lstStyle/>
          <a:p>
            <a:pPr algn="ctr" indent="0" marL="0">
              <a:buNone/>
            </a:pPr>
            <a:r>
              <a:rPr lang="en-US" sz="1700" b="1" dirty="0">
                <a:solidFill>
                  <a:srgbClr val="3DDC97"/>
                </a:solidFill>
              </a:rPr>
              <a:t>The application owns the workflow. Copilot supplies reasoning and tool use inside controlled boundaries.</a:t>
            </a:r>
            <a:endParaRPr lang="en-US" sz="1700" dirty="0"/>
          </a:p>
        </p:txBody>
      </p:sp>
      <p:sp>
        <p:nvSpPr>
          <p:cNvPr id="18" name="Text 16"/>
          <p:cNvSpPr/>
          <p:nvPr/>
        </p:nvSpPr>
        <p:spPr>
          <a:xfrm>
            <a:off x="7635240" y="6547104"/>
            <a:ext cx="3429000" cy="182880"/>
          </a:xfrm>
          <a:prstGeom prst="rect">
            <a:avLst/>
          </a:prstGeom>
          <a:noFill/>
          <a:ln/>
        </p:spPr>
        <p:txBody>
          <a:bodyPr wrap="square" lIns="0" tIns="0" rIns="0" bIns="0" rtlCol="0" anchor="ctr"/>
          <a:lstStyle/>
          <a:p>
            <a:pPr algn="r" indent="0" marL="0">
              <a:buNone/>
            </a:pPr>
            <a:r>
              <a:rPr lang="en-US" sz="820" u="sng" dirty="0">
                <a:solidFill>
                  <a:srgbClr val="91A4B8"/>
                </a:solidFill>
                <a:hlinkClick r:id="rId1" invalidUrl="" action="" tgtFrame="" tooltip="" history="1" highlightClick="0" endSnd="0">
                  <a:extLst>
                    <a:ext uri="{A12FA001-AC4F-418D-AE19-62706E023703}">
                      <ahyp:hlinkClr xmlns:ahyp="http://schemas.microsoft.com/office/drawing/2018/hyperlinkcolor" val="tx"/>
                    </a:ext>
                  </a:extLst>
                </a:hlinkClick>
              </a:rPr>
              <a:t>Official SDK overview</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ARCHITECTURE</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How it works: the mental model</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A host application surrounds each Copilot session with policy and state.</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4</a:t>
            </a:r>
            <a:endParaRPr lang="en-US" sz="850" dirty="0"/>
          </a:p>
        </p:txBody>
      </p:sp>
      <p:sp>
        <p:nvSpPr>
          <p:cNvPr id="8" name="Shape 6"/>
          <p:cNvSpPr/>
          <p:nvPr/>
        </p:nvSpPr>
        <p:spPr>
          <a:xfrm>
            <a:off x="658368" y="1920240"/>
            <a:ext cx="1938528" cy="1078992"/>
          </a:xfrm>
          <a:prstGeom prst="roundRect">
            <a:avLst>
              <a:gd name="adj" fmla="val 6780"/>
            </a:avLst>
          </a:prstGeom>
          <a:solidFill>
            <a:srgbClr val="0E1B2B"/>
          </a:solidFill>
          <a:ln w="17780">
            <a:solidFill>
              <a:srgbClr val="3DDC97"/>
            </a:solidFill>
            <a:prstDash val="solid"/>
          </a:ln>
        </p:spPr>
      </p:sp>
      <p:sp>
        <p:nvSpPr>
          <p:cNvPr id="9" name="Text 7"/>
          <p:cNvSpPr/>
          <p:nvPr/>
        </p:nvSpPr>
        <p:spPr>
          <a:xfrm>
            <a:off x="768096" y="2185416"/>
            <a:ext cx="1719072" cy="256032"/>
          </a:xfrm>
          <a:prstGeom prst="rect">
            <a:avLst/>
          </a:prstGeom>
          <a:noFill/>
          <a:ln/>
        </p:spPr>
        <p:txBody>
          <a:bodyPr wrap="square" lIns="0" tIns="0" rIns="0" bIns="0" rtlCol="0" anchor="ctr"/>
          <a:lstStyle/>
          <a:p>
            <a:pPr algn="ctr" indent="0" marL="0">
              <a:buNone/>
            </a:pPr>
            <a:r>
              <a:rPr lang="en-US" sz="1500" b="1" dirty="0">
                <a:solidFill>
                  <a:srgbClr val="F7FAFC"/>
                </a:solidFill>
              </a:rPr>
              <a:t>Host application</a:t>
            </a:r>
            <a:endParaRPr lang="en-US" sz="1500" dirty="0"/>
          </a:p>
        </p:txBody>
      </p:sp>
      <p:sp>
        <p:nvSpPr>
          <p:cNvPr id="10" name="Text 8"/>
          <p:cNvSpPr/>
          <p:nvPr/>
        </p:nvSpPr>
        <p:spPr>
          <a:xfrm>
            <a:off x="768096" y="2542032"/>
            <a:ext cx="1719072" cy="182880"/>
          </a:xfrm>
          <a:prstGeom prst="rect">
            <a:avLst/>
          </a:prstGeom>
          <a:noFill/>
          <a:ln/>
        </p:spPr>
        <p:txBody>
          <a:bodyPr wrap="square" lIns="0" tIns="0" rIns="0" bIns="0" rtlCol="0" anchor="ctr"/>
          <a:lstStyle/>
          <a:p>
            <a:pPr algn="ctr" indent="0" marL="0">
              <a:buNone/>
            </a:pPr>
            <a:r>
              <a:rPr lang="en-US" sz="950" dirty="0">
                <a:solidFill>
                  <a:srgbClr val="3DDC97"/>
                </a:solidFill>
              </a:rPr>
              <a:t>Trigger • state • policy</a:t>
            </a:r>
            <a:endParaRPr lang="en-US" sz="950" dirty="0"/>
          </a:p>
        </p:txBody>
      </p:sp>
      <p:sp>
        <p:nvSpPr>
          <p:cNvPr id="11" name="Shape 9"/>
          <p:cNvSpPr/>
          <p:nvPr/>
        </p:nvSpPr>
        <p:spPr>
          <a:xfrm>
            <a:off x="2596896" y="2459736"/>
            <a:ext cx="374904" cy="0"/>
          </a:xfrm>
          <a:prstGeom prst="line">
            <a:avLst/>
          </a:prstGeom>
          <a:noFill/>
          <a:ln w="19050">
            <a:solidFill>
              <a:srgbClr val="27415F"/>
            </a:solidFill>
            <a:prstDash val="solid"/>
            <a:headEnd type="none"/>
            <a:tailEnd type="triangle"/>
          </a:ln>
        </p:spPr>
      </p:sp>
      <p:sp>
        <p:nvSpPr>
          <p:cNvPr id="12" name="Shape 10"/>
          <p:cNvSpPr/>
          <p:nvPr/>
        </p:nvSpPr>
        <p:spPr>
          <a:xfrm>
            <a:off x="2971800" y="1920240"/>
            <a:ext cx="1691640" cy="1078992"/>
          </a:xfrm>
          <a:prstGeom prst="roundRect">
            <a:avLst>
              <a:gd name="adj" fmla="val 6780"/>
            </a:avLst>
          </a:prstGeom>
          <a:solidFill>
            <a:srgbClr val="0E1B2B"/>
          </a:solidFill>
          <a:ln w="17780">
            <a:solidFill>
              <a:srgbClr val="38BDF8"/>
            </a:solidFill>
            <a:prstDash val="solid"/>
          </a:ln>
        </p:spPr>
      </p:sp>
      <p:sp>
        <p:nvSpPr>
          <p:cNvPr id="13" name="Text 11"/>
          <p:cNvSpPr/>
          <p:nvPr/>
        </p:nvSpPr>
        <p:spPr>
          <a:xfrm>
            <a:off x="3081528" y="2185416"/>
            <a:ext cx="1472184" cy="256032"/>
          </a:xfrm>
          <a:prstGeom prst="rect">
            <a:avLst/>
          </a:prstGeom>
          <a:noFill/>
          <a:ln/>
        </p:spPr>
        <p:txBody>
          <a:bodyPr wrap="square" lIns="0" tIns="0" rIns="0" bIns="0" rtlCol="0" anchor="ctr"/>
          <a:lstStyle/>
          <a:p>
            <a:pPr algn="ctr" indent="0" marL="0">
              <a:buNone/>
            </a:pPr>
            <a:r>
              <a:rPr lang="en-US" sz="1500" b="1" dirty="0">
                <a:solidFill>
                  <a:srgbClr val="F7FAFC"/>
                </a:solidFill>
              </a:rPr>
              <a:t>CopilotClient</a:t>
            </a:r>
            <a:endParaRPr lang="en-US" sz="1500" dirty="0"/>
          </a:p>
        </p:txBody>
      </p:sp>
      <p:sp>
        <p:nvSpPr>
          <p:cNvPr id="14" name="Text 12"/>
          <p:cNvSpPr/>
          <p:nvPr/>
        </p:nvSpPr>
        <p:spPr>
          <a:xfrm>
            <a:off x="3081528" y="2542032"/>
            <a:ext cx="1472184" cy="182880"/>
          </a:xfrm>
          <a:prstGeom prst="rect">
            <a:avLst/>
          </a:prstGeom>
          <a:noFill/>
          <a:ln/>
        </p:spPr>
        <p:txBody>
          <a:bodyPr wrap="square" lIns="0" tIns="0" rIns="0" bIns="0" rtlCol="0" anchor="ctr"/>
          <a:lstStyle/>
          <a:p>
            <a:pPr algn="ctr" indent="0" marL="0">
              <a:buNone/>
            </a:pPr>
            <a:r>
              <a:rPr lang="en-US" sz="950" dirty="0">
                <a:solidFill>
                  <a:srgbClr val="38BDF8"/>
                </a:solidFill>
              </a:rPr>
              <a:t>Runtime connection</a:t>
            </a:r>
            <a:endParaRPr lang="en-US" sz="950" dirty="0"/>
          </a:p>
        </p:txBody>
      </p:sp>
      <p:sp>
        <p:nvSpPr>
          <p:cNvPr id="15" name="Shape 13"/>
          <p:cNvSpPr/>
          <p:nvPr/>
        </p:nvSpPr>
        <p:spPr>
          <a:xfrm>
            <a:off x="4663440" y="2459736"/>
            <a:ext cx="384048" cy="0"/>
          </a:xfrm>
          <a:prstGeom prst="line">
            <a:avLst/>
          </a:prstGeom>
          <a:noFill/>
          <a:ln w="19050">
            <a:solidFill>
              <a:srgbClr val="27415F"/>
            </a:solidFill>
            <a:prstDash val="solid"/>
            <a:headEnd type="none"/>
            <a:tailEnd type="triangle"/>
          </a:ln>
        </p:spPr>
      </p:sp>
      <p:sp>
        <p:nvSpPr>
          <p:cNvPr id="16" name="Shape 14"/>
          <p:cNvSpPr/>
          <p:nvPr/>
        </p:nvSpPr>
        <p:spPr>
          <a:xfrm>
            <a:off x="5047488" y="1920240"/>
            <a:ext cx="1828800" cy="1078992"/>
          </a:xfrm>
          <a:prstGeom prst="roundRect">
            <a:avLst>
              <a:gd name="adj" fmla="val 6780"/>
            </a:avLst>
          </a:prstGeom>
          <a:solidFill>
            <a:srgbClr val="0E1B2B"/>
          </a:solidFill>
          <a:ln w="17780">
            <a:solidFill>
              <a:srgbClr val="4F7CFF"/>
            </a:solidFill>
            <a:prstDash val="solid"/>
          </a:ln>
        </p:spPr>
      </p:sp>
      <p:sp>
        <p:nvSpPr>
          <p:cNvPr id="17" name="Text 15"/>
          <p:cNvSpPr/>
          <p:nvPr/>
        </p:nvSpPr>
        <p:spPr>
          <a:xfrm>
            <a:off x="5157216" y="2185416"/>
            <a:ext cx="1609344" cy="256032"/>
          </a:xfrm>
          <a:prstGeom prst="rect">
            <a:avLst/>
          </a:prstGeom>
          <a:noFill/>
          <a:ln/>
        </p:spPr>
        <p:txBody>
          <a:bodyPr wrap="square" lIns="0" tIns="0" rIns="0" bIns="0" rtlCol="0" anchor="ctr"/>
          <a:lstStyle/>
          <a:p>
            <a:pPr algn="ctr" indent="0" marL="0">
              <a:buNone/>
            </a:pPr>
            <a:r>
              <a:rPr lang="en-US" sz="1500" b="1" dirty="0">
                <a:solidFill>
                  <a:srgbClr val="F7FAFC"/>
                </a:solidFill>
              </a:rPr>
              <a:t>Session</a:t>
            </a:r>
            <a:endParaRPr lang="en-US" sz="1500" dirty="0"/>
          </a:p>
        </p:txBody>
      </p:sp>
      <p:sp>
        <p:nvSpPr>
          <p:cNvPr id="18" name="Text 16"/>
          <p:cNvSpPr/>
          <p:nvPr/>
        </p:nvSpPr>
        <p:spPr>
          <a:xfrm>
            <a:off x="5157216" y="2542032"/>
            <a:ext cx="1609344" cy="182880"/>
          </a:xfrm>
          <a:prstGeom prst="rect">
            <a:avLst/>
          </a:prstGeom>
          <a:noFill/>
          <a:ln/>
        </p:spPr>
        <p:txBody>
          <a:bodyPr wrap="square" lIns="0" tIns="0" rIns="0" bIns="0" rtlCol="0" anchor="ctr"/>
          <a:lstStyle/>
          <a:p>
            <a:pPr algn="ctr" indent="0" marL="0">
              <a:buNone/>
            </a:pPr>
            <a:r>
              <a:rPr lang="en-US" sz="950" dirty="0">
                <a:solidFill>
                  <a:srgbClr val="4F7CFF"/>
                </a:solidFill>
              </a:rPr>
              <a:t>Context • events</a:t>
            </a:r>
            <a:endParaRPr lang="en-US" sz="950" dirty="0"/>
          </a:p>
        </p:txBody>
      </p:sp>
      <p:sp>
        <p:nvSpPr>
          <p:cNvPr id="19" name="Shape 17"/>
          <p:cNvSpPr/>
          <p:nvPr/>
        </p:nvSpPr>
        <p:spPr>
          <a:xfrm>
            <a:off x="6876288" y="2459736"/>
            <a:ext cx="393192" cy="0"/>
          </a:xfrm>
          <a:prstGeom prst="line">
            <a:avLst/>
          </a:prstGeom>
          <a:noFill/>
          <a:ln w="19050">
            <a:solidFill>
              <a:srgbClr val="27415F"/>
            </a:solidFill>
            <a:prstDash val="solid"/>
            <a:headEnd type="none"/>
            <a:tailEnd type="triangle"/>
          </a:ln>
        </p:spPr>
      </p:sp>
      <p:sp>
        <p:nvSpPr>
          <p:cNvPr id="20" name="Shape 18"/>
          <p:cNvSpPr/>
          <p:nvPr/>
        </p:nvSpPr>
        <p:spPr>
          <a:xfrm>
            <a:off x="7269480" y="1920240"/>
            <a:ext cx="1920240" cy="1078992"/>
          </a:xfrm>
          <a:prstGeom prst="roundRect">
            <a:avLst>
              <a:gd name="adj" fmla="val 6780"/>
            </a:avLst>
          </a:prstGeom>
          <a:solidFill>
            <a:srgbClr val="0E1B2B"/>
          </a:solidFill>
          <a:ln w="17780">
            <a:solidFill>
              <a:srgbClr val="A78BFA"/>
            </a:solidFill>
            <a:prstDash val="solid"/>
          </a:ln>
        </p:spPr>
      </p:sp>
      <p:sp>
        <p:nvSpPr>
          <p:cNvPr id="21" name="Text 19"/>
          <p:cNvSpPr/>
          <p:nvPr/>
        </p:nvSpPr>
        <p:spPr>
          <a:xfrm>
            <a:off x="7379208" y="2185416"/>
            <a:ext cx="1700784" cy="256032"/>
          </a:xfrm>
          <a:prstGeom prst="rect">
            <a:avLst/>
          </a:prstGeom>
          <a:noFill/>
          <a:ln/>
        </p:spPr>
        <p:txBody>
          <a:bodyPr wrap="square" lIns="0" tIns="0" rIns="0" bIns="0" rtlCol="0" anchor="ctr"/>
          <a:lstStyle/>
          <a:p>
            <a:pPr algn="ctr" indent="0" marL="0">
              <a:buNone/>
            </a:pPr>
            <a:r>
              <a:rPr lang="en-US" sz="1500" b="1" dirty="0">
                <a:solidFill>
                  <a:srgbClr val="F7FAFC"/>
                </a:solidFill>
              </a:rPr>
              <a:t>Agent loop</a:t>
            </a:r>
            <a:endParaRPr lang="en-US" sz="1500" dirty="0"/>
          </a:p>
        </p:txBody>
      </p:sp>
      <p:sp>
        <p:nvSpPr>
          <p:cNvPr id="22" name="Text 20"/>
          <p:cNvSpPr/>
          <p:nvPr/>
        </p:nvSpPr>
        <p:spPr>
          <a:xfrm>
            <a:off x="7379208" y="2542032"/>
            <a:ext cx="1700784" cy="182880"/>
          </a:xfrm>
          <a:prstGeom prst="rect">
            <a:avLst/>
          </a:prstGeom>
          <a:noFill/>
          <a:ln/>
        </p:spPr>
        <p:txBody>
          <a:bodyPr wrap="square" lIns="0" tIns="0" rIns="0" bIns="0" rtlCol="0" anchor="ctr"/>
          <a:lstStyle/>
          <a:p>
            <a:pPr algn="ctr" indent="0" marL="0">
              <a:buNone/>
            </a:pPr>
            <a:r>
              <a:rPr lang="en-US" sz="950" dirty="0">
                <a:solidFill>
                  <a:srgbClr val="A78BFA"/>
                </a:solidFill>
              </a:rPr>
              <a:t>Plan • act • observe</a:t>
            </a:r>
            <a:endParaRPr lang="en-US" sz="950" dirty="0"/>
          </a:p>
        </p:txBody>
      </p:sp>
      <p:sp>
        <p:nvSpPr>
          <p:cNvPr id="23" name="Shape 21"/>
          <p:cNvSpPr/>
          <p:nvPr/>
        </p:nvSpPr>
        <p:spPr>
          <a:xfrm>
            <a:off x="9189720" y="2459736"/>
            <a:ext cx="393192" cy="0"/>
          </a:xfrm>
          <a:prstGeom prst="line">
            <a:avLst/>
          </a:prstGeom>
          <a:noFill/>
          <a:ln w="19050">
            <a:solidFill>
              <a:srgbClr val="27415F"/>
            </a:solidFill>
            <a:prstDash val="solid"/>
            <a:headEnd type="none"/>
            <a:tailEnd type="triangle"/>
          </a:ln>
        </p:spPr>
      </p:sp>
      <p:sp>
        <p:nvSpPr>
          <p:cNvPr id="24" name="Shape 22"/>
          <p:cNvSpPr/>
          <p:nvPr/>
        </p:nvSpPr>
        <p:spPr>
          <a:xfrm>
            <a:off x="9582912" y="1920240"/>
            <a:ext cx="1938528" cy="1078992"/>
          </a:xfrm>
          <a:prstGeom prst="roundRect">
            <a:avLst>
              <a:gd name="adj" fmla="val 6780"/>
            </a:avLst>
          </a:prstGeom>
          <a:solidFill>
            <a:srgbClr val="0E1B2B"/>
          </a:solidFill>
          <a:ln w="17780">
            <a:solidFill>
              <a:srgbClr val="F7C948"/>
            </a:solidFill>
            <a:prstDash val="solid"/>
          </a:ln>
        </p:spPr>
      </p:sp>
      <p:sp>
        <p:nvSpPr>
          <p:cNvPr id="25" name="Text 23"/>
          <p:cNvSpPr/>
          <p:nvPr/>
        </p:nvSpPr>
        <p:spPr>
          <a:xfrm>
            <a:off x="9692640" y="2185416"/>
            <a:ext cx="1719072" cy="256032"/>
          </a:xfrm>
          <a:prstGeom prst="rect">
            <a:avLst/>
          </a:prstGeom>
          <a:noFill/>
          <a:ln/>
        </p:spPr>
        <p:txBody>
          <a:bodyPr wrap="square" lIns="0" tIns="0" rIns="0" bIns="0" rtlCol="0" anchor="ctr"/>
          <a:lstStyle/>
          <a:p>
            <a:pPr algn="ctr" indent="0" marL="0">
              <a:buNone/>
            </a:pPr>
            <a:r>
              <a:rPr lang="en-US" sz="1500" b="1" dirty="0">
                <a:solidFill>
                  <a:srgbClr val="F7FAFC"/>
                </a:solidFill>
              </a:rPr>
              <a:t>Result</a:t>
            </a:r>
            <a:endParaRPr lang="en-US" sz="1500" dirty="0"/>
          </a:p>
        </p:txBody>
      </p:sp>
      <p:sp>
        <p:nvSpPr>
          <p:cNvPr id="26" name="Text 24"/>
          <p:cNvSpPr/>
          <p:nvPr/>
        </p:nvSpPr>
        <p:spPr>
          <a:xfrm>
            <a:off x="9692640" y="2542032"/>
            <a:ext cx="1719072" cy="182880"/>
          </a:xfrm>
          <a:prstGeom prst="rect">
            <a:avLst/>
          </a:prstGeom>
          <a:noFill/>
          <a:ln/>
        </p:spPr>
        <p:txBody>
          <a:bodyPr wrap="square" lIns="0" tIns="0" rIns="0" bIns="0" rtlCol="0" anchor="ctr"/>
          <a:lstStyle/>
          <a:p>
            <a:pPr algn="ctr" indent="0" marL="0">
              <a:buNone/>
            </a:pPr>
            <a:r>
              <a:rPr lang="en-US" sz="950" dirty="0">
                <a:solidFill>
                  <a:srgbClr val="F7C948"/>
                </a:solidFill>
              </a:rPr>
              <a:t>Text • JSON • changes</a:t>
            </a:r>
            <a:endParaRPr lang="en-US" sz="950" dirty="0"/>
          </a:p>
        </p:txBody>
      </p:sp>
      <p:sp>
        <p:nvSpPr>
          <p:cNvPr id="27" name="Shape 25"/>
          <p:cNvSpPr/>
          <p:nvPr/>
        </p:nvSpPr>
        <p:spPr>
          <a:xfrm>
            <a:off x="941832" y="3858768"/>
            <a:ext cx="1810512" cy="987552"/>
          </a:xfrm>
          <a:prstGeom prst="roundRect">
            <a:avLst>
              <a:gd name="adj" fmla="val 5556"/>
            </a:avLst>
          </a:prstGeom>
          <a:solidFill>
            <a:srgbClr val="132338"/>
          </a:solidFill>
          <a:ln w="12700">
            <a:solidFill>
              <a:srgbClr val="27415F"/>
            </a:solidFill>
            <a:prstDash val="solid"/>
          </a:ln>
        </p:spPr>
      </p:sp>
      <p:sp>
        <p:nvSpPr>
          <p:cNvPr id="28" name="Text 26"/>
          <p:cNvSpPr/>
          <p:nvPr/>
        </p:nvSpPr>
        <p:spPr>
          <a:xfrm>
            <a:off x="1051560" y="4078224"/>
            <a:ext cx="1591056" cy="219456"/>
          </a:xfrm>
          <a:prstGeom prst="rect">
            <a:avLst/>
          </a:prstGeom>
          <a:noFill/>
          <a:ln/>
        </p:spPr>
        <p:txBody>
          <a:bodyPr wrap="square" lIns="0" tIns="0" rIns="0" bIns="0" rtlCol="0" anchor="ctr"/>
          <a:lstStyle/>
          <a:p>
            <a:pPr algn="ctr" indent="0" marL="0">
              <a:buNone/>
            </a:pPr>
            <a:r>
              <a:rPr lang="en-US" sz="1400" b="1" dirty="0">
                <a:solidFill>
                  <a:srgbClr val="38BDF8"/>
                </a:solidFill>
              </a:rPr>
              <a:t>Model</a:t>
            </a:r>
            <a:endParaRPr lang="en-US" sz="1400" dirty="0"/>
          </a:p>
        </p:txBody>
      </p:sp>
      <p:sp>
        <p:nvSpPr>
          <p:cNvPr id="29" name="Text 27"/>
          <p:cNvSpPr/>
          <p:nvPr/>
        </p:nvSpPr>
        <p:spPr>
          <a:xfrm>
            <a:off x="1051560" y="4425696"/>
            <a:ext cx="1591056" cy="164592"/>
          </a:xfrm>
          <a:prstGeom prst="rect">
            <a:avLst/>
          </a:prstGeom>
          <a:noFill/>
          <a:ln/>
        </p:spPr>
        <p:txBody>
          <a:bodyPr wrap="square" lIns="0" tIns="0" rIns="0" bIns="0" rtlCol="0" anchor="ctr"/>
          <a:lstStyle/>
          <a:p>
            <a:pPr algn="ctr" indent="0" marL="0">
              <a:buNone/>
            </a:pPr>
            <a:r>
              <a:rPr lang="en-US" sz="950" dirty="0">
                <a:solidFill>
                  <a:srgbClr val="D8E3F0"/>
                </a:solidFill>
              </a:rPr>
              <a:t>Reasoning engine</a:t>
            </a:r>
            <a:endParaRPr lang="en-US" sz="950" dirty="0"/>
          </a:p>
        </p:txBody>
      </p:sp>
      <p:sp>
        <p:nvSpPr>
          <p:cNvPr id="30" name="Shape 28"/>
          <p:cNvSpPr/>
          <p:nvPr/>
        </p:nvSpPr>
        <p:spPr>
          <a:xfrm>
            <a:off x="3163824" y="3858768"/>
            <a:ext cx="1810512" cy="987552"/>
          </a:xfrm>
          <a:prstGeom prst="roundRect">
            <a:avLst>
              <a:gd name="adj" fmla="val 5556"/>
            </a:avLst>
          </a:prstGeom>
          <a:solidFill>
            <a:srgbClr val="132338"/>
          </a:solidFill>
          <a:ln w="12700">
            <a:solidFill>
              <a:srgbClr val="27415F"/>
            </a:solidFill>
            <a:prstDash val="solid"/>
          </a:ln>
        </p:spPr>
      </p:sp>
      <p:sp>
        <p:nvSpPr>
          <p:cNvPr id="31" name="Text 29"/>
          <p:cNvSpPr/>
          <p:nvPr/>
        </p:nvSpPr>
        <p:spPr>
          <a:xfrm>
            <a:off x="3273552" y="4078224"/>
            <a:ext cx="1591056" cy="219456"/>
          </a:xfrm>
          <a:prstGeom prst="rect">
            <a:avLst/>
          </a:prstGeom>
          <a:noFill/>
          <a:ln/>
        </p:spPr>
        <p:txBody>
          <a:bodyPr wrap="square" lIns="0" tIns="0" rIns="0" bIns="0" rtlCol="0" anchor="ctr"/>
          <a:lstStyle/>
          <a:p>
            <a:pPr algn="ctr" indent="0" marL="0">
              <a:buNone/>
            </a:pPr>
            <a:r>
              <a:rPr lang="en-US" sz="1400" b="1" dirty="0">
                <a:solidFill>
                  <a:srgbClr val="FF6B6B"/>
                </a:solidFill>
              </a:rPr>
              <a:t>Tools</a:t>
            </a:r>
            <a:endParaRPr lang="en-US" sz="1400" dirty="0"/>
          </a:p>
        </p:txBody>
      </p:sp>
      <p:sp>
        <p:nvSpPr>
          <p:cNvPr id="32" name="Text 30"/>
          <p:cNvSpPr/>
          <p:nvPr/>
        </p:nvSpPr>
        <p:spPr>
          <a:xfrm>
            <a:off x="3273552" y="4425696"/>
            <a:ext cx="1591056" cy="164592"/>
          </a:xfrm>
          <a:prstGeom prst="rect">
            <a:avLst/>
          </a:prstGeom>
          <a:noFill/>
          <a:ln/>
        </p:spPr>
        <p:txBody>
          <a:bodyPr wrap="square" lIns="0" tIns="0" rIns="0" bIns="0" rtlCol="0" anchor="ctr"/>
          <a:lstStyle/>
          <a:p>
            <a:pPr algn="ctr" indent="0" marL="0">
              <a:buNone/>
            </a:pPr>
            <a:r>
              <a:rPr lang="en-US" sz="950" dirty="0">
                <a:solidFill>
                  <a:srgbClr val="D8E3F0"/>
                </a:solidFill>
              </a:rPr>
              <a:t>Files, shell, APIs</a:t>
            </a:r>
            <a:endParaRPr lang="en-US" sz="950" dirty="0"/>
          </a:p>
        </p:txBody>
      </p:sp>
      <p:sp>
        <p:nvSpPr>
          <p:cNvPr id="33" name="Shape 31"/>
          <p:cNvSpPr/>
          <p:nvPr/>
        </p:nvSpPr>
        <p:spPr>
          <a:xfrm>
            <a:off x="5385816" y="3858768"/>
            <a:ext cx="1810512" cy="987552"/>
          </a:xfrm>
          <a:prstGeom prst="roundRect">
            <a:avLst>
              <a:gd name="adj" fmla="val 5556"/>
            </a:avLst>
          </a:prstGeom>
          <a:solidFill>
            <a:srgbClr val="132338"/>
          </a:solidFill>
          <a:ln w="12700">
            <a:solidFill>
              <a:srgbClr val="27415F"/>
            </a:solidFill>
            <a:prstDash val="solid"/>
          </a:ln>
        </p:spPr>
      </p:sp>
      <p:sp>
        <p:nvSpPr>
          <p:cNvPr id="34" name="Text 32"/>
          <p:cNvSpPr/>
          <p:nvPr/>
        </p:nvSpPr>
        <p:spPr>
          <a:xfrm>
            <a:off x="5495544" y="4078224"/>
            <a:ext cx="1591056" cy="219456"/>
          </a:xfrm>
          <a:prstGeom prst="rect">
            <a:avLst/>
          </a:prstGeom>
          <a:noFill/>
          <a:ln/>
        </p:spPr>
        <p:txBody>
          <a:bodyPr wrap="square" lIns="0" tIns="0" rIns="0" bIns="0" rtlCol="0" anchor="ctr"/>
          <a:lstStyle/>
          <a:p>
            <a:pPr algn="ctr" indent="0" marL="0">
              <a:buNone/>
            </a:pPr>
            <a:r>
              <a:rPr lang="en-US" sz="1400" b="1" dirty="0">
                <a:solidFill>
                  <a:srgbClr val="3DDC97"/>
                </a:solidFill>
              </a:rPr>
              <a:t>Skills</a:t>
            </a:r>
            <a:endParaRPr lang="en-US" sz="1400" dirty="0"/>
          </a:p>
        </p:txBody>
      </p:sp>
      <p:sp>
        <p:nvSpPr>
          <p:cNvPr id="35" name="Text 33"/>
          <p:cNvSpPr/>
          <p:nvPr/>
        </p:nvSpPr>
        <p:spPr>
          <a:xfrm>
            <a:off x="5495544" y="4425696"/>
            <a:ext cx="1591056" cy="164592"/>
          </a:xfrm>
          <a:prstGeom prst="rect">
            <a:avLst/>
          </a:prstGeom>
          <a:noFill/>
          <a:ln/>
        </p:spPr>
        <p:txBody>
          <a:bodyPr wrap="square" lIns="0" tIns="0" rIns="0" bIns="0" rtlCol="0" anchor="ctr"/>
          <a:lstStyle/>
          <a:p>
            <a:pPr algn="ctr" indent="0" marL="0">
              <a:buNone/>
            </a:pPr>
            <a:r>
              <a:rPr lang="en-US" sz="950" dirty="0">
                <a:solidFill>
                  <a:srgbClr val="D8E3F0"/>
                </a:solidFill>
              </a:rPr>
              <a:t>Reusable instructions</a:t>
            </a:r>
            <a:endParaRPr lang="en-US" sz="950" dirty="0"/>
          </a:p>
        </p:txBody>
      </p:sp>
      <p:sp>
        <p:nvSpPr>
          <p:cNvPr id="36" name="Shape 34"/>
          <p:cNvSpPr/>
          <p:nvPr/>
        </p:nvSpPr>
        <p:spPr>
          <a:xfrm>
            <a:off x="7607808" y="3858768"/>
            <a:ext cx="1810512" cy="987552"/>
          </a:xfrm>
          <a:prstGeom prst="roundRect">
            <a:avLst>
              <a:gd name="adj" fmla="val 5556"/>
            </a:avLst>
          </a:prstGeom>
          <a:solidFill>
            <a:srgbClr val="132338"/>
          </a:solidFill>
          <a:ln w="12700">
            <a:solidFill>
              <a:srgbClr val="27415F"/>
            </a:solidFill>
            <a:prstDash val="solid"/>
          </a:ln>
        </p:spPr>
      </p:sp>
      <p:sp>
        <p:nvSpPr>
          <p:cNvPr id="37" name="Text 35"/>
          <p:cNvSpPr/>
          <p:nvPr/>
        </p:nvSpPr>
        <p:spPr>
          <a:xfrm>
            <a:off x="7717536" y="4078224"/>
            <a:ext cx="1591056" cy="219456"/>
          </a:xfrm>
          <a:prstGeom prst="rect">
            <a:avLst/>
          </a:prstGeom>
          <a:noFill/>
          <a:ln/>
        </p:spPr>
        <p:txBody>
          <a:bodyPr wrap="square" lIns="0" tIns="0" rIns="0" bIns="0" rtlCol="0" anchor="ctr"/>
          <a:lstStyle/>
          <a:p>
            <a:pPr algn="ctr" indent="0" marL="0">
              <a:buNone/>
            </a:pPr>
            <a:r>
              <a:rPr lang="en-US" sz="1400" b="1" dirty="0">
                <a:solidFill>
                  <a:srgbClr val="A78BFA"/>
                </a:solidFill>
              </a:rPr>
              <a:t>Agents</a:t>
            </a:r>
            <a:endParaRPr lang="en-US" sz="1400" dirty="0"/>
          </a:p>
        </p:txBody>
      </p:sp>
      <p:sp>
        <p:nvSpPr>
          <p:cNvPr id="38" name="Text 36"/>
          <p:cNvSpPr/>
          <p:nvPr/>
        </p:nvSpPr>
        <p:spPr>
          <a:xfrm>
            <a:off x="7717536" y="4425696"/>
            <a:ext cx="1591056" cy="164592"/>
          </a:xfrm>
          <a:prstGeom prst="rect">
            <a:avLst/>
          </a:prstGeom>
          <a:noFill/>
          <a:ln/>
        </p:spPr>
        <p:txBody>
          <a:bodyPr wrap="square" lIns="0" tIns="0" rIns="0" bIns="0" rtlCol="0" anchor="ctr"/>
          <a:lstStyle/>
          <a:p>
            <a:pPr algn="ctr" indent="0" marL="0">
              <a:buNone/>
            </a:pPr>
            <a:r>
              <a:rPr lang="en-US" sz="950" dirty="0">
                <a:solidFill>
                  <a:srgbClr val="D8E3F0"/>
                </a:solidFill>
              </a:rPr>
              <a:t>Scoped specialists</a:t>
            </a:r>
            <a:endParaRPr lang="en-US" sz="950" dirty="0"/>
          </a:p>
        </p:txBody>
      </p:sp>
      <p:sp>
        <p:nvSpPr>
          <p:cNvPr id="39" name="Shape 37"/>
          <p:cNvSpPr/>
          <p:nvPr/>
        </p:nvSpPr>
        <p:spPr>
          <a:xfrm>
            <a:off x="9829800" y="3858768"/>
            <a:ext cx="1810512" cy="987552"/>
          </a:xfrm>
          <a:prstGeom prst="roundRect">
            <a:avLst>
              <a:gd name="adj" fmla="val 5556"/>
            </a:avLst>
          </a:prstGeom>
          <a:solidFill>
            <a:srgbClr val="132338"/>
          </a:solidFill>
          <a:ln w="12700">
            <a:solidFill>
              <a:srgbClr val="27415F"/>
            </a:solidFill>
            <a:prstDash val="solid"/>
          </a:ln>
        </p:spPr>
      </p:sp>
      <p:sp>
        <p:nvSpPr>
          <p:cNvPr id="40" name="Text 38"/>
          <p:cNvSpPr/>
          <p:nvPr/>
        </p:nvSpPr>
        <p:spPr>
          <a:xfrm>
            <a:off x="9939528" y="4078224"/>
            <a:ext cx="1591056" cy="219456"/>
          </a:xfrm>
          <a:prstGeom prst="rect">
            <a:avLst/>
          </a:prstGeom>
          <a:noFill/>
          <a:ln/>
        </p:spPr>
        <p:txBody>
          <a:bodyPr wrap="square" lIns="0" tIns="0" rIns="0" bIns="0" rtlCol="0" anchor="ctr"/>
          <a:lstStyle/>
          <a:p>
            <a:pPr algn="ctr" indent="0" marL="0">
              <a:buNone/>
            </a:pPr>
            <a:r>
              <a:rPr lang="en-US" sz="1400" b="1" dirty="0">
                <a:solidFill>
                  <a:srgbClr val="F7C948"/>
                </a:solidFill>
              </a:rPr>
              <a:t>Hooks</a:t>
            </a:r>
            <a:endParaRPr lang="en-US" sz="1400" dirty="0"/>
          </a:p>
        </p:txBody>
      </p:sp>
      <p:sp>
        <p:nvSpPr>
          <p:cNvPr id="41" name="Text 39"/>
          <p:cNvSpPr/>
          <p:nvPr/>
        </p:nvSpPr>
        <p:spPr>
          <a:xfrm>
            <a:off x="9939528" y="4425696"/>
            <a:ext cx="1591056" cy="164592"/>
          </a:xfrm>
          <a:prstGeom prst="rect">
            <a:avLst/>
          </a:prstGeom>
          <a:noFill/>
          <a:ln/>
        </p:spPr>
        <p:txBody>
          <a:bodyPr wrap="square" lIns="0" tIns="0" rIns="0" bIns="0" rtlCol="0" anchor="ctr"/>
          <a:lstStyle/>
          <a:p>
            <a:pPr algn="ctr" indent="0" marL="0">
              <a:buNone/>
            </a:pPr>
            <a:r>
              <a:rPr lang="en-US" sz="950" dirty="0">
                <a:solidFill>
                  <a:srgbClr val="D8E3F0"/>
                </a:solidFill>
              </a:rPr>
              <a:t>Guardrails and audit</a:t>
            </a:r>
            <a:endParaRPr lang="en-US" sz="950" dirty="0"/>
          </a:p>
        </p:txBody>
      </p:sp>
      <p:sp>
        <p:nvSpPr>
          <p:cNvPr id="42" name="Text 40"/>
          <p:cNvSpPr/>
          <p:nvPr/>
        </p:nvSpPr>
        <p:spPr>
          <a:xfrm>
            <a:off x="1097280" y="5303520"/>
            <a:ext cx="9966960" cy="420624"/>
          </a:xfrm>
          <a:prstGeom prst="rect">
            <a:avLst/>
          </a:prstGeom>
          <a:noFill/>
          <a:ln/>
        </p:spPr>
        <p:txBody>
          <a:bodyPr wrap="square" lIns="0" tIns="0" rIns="0" bIns="0" rtlCol="0" anchor="ctr"/>
          <a:lstStyle/>
          <a:p>
            <a:pPr algn="ctr" indent="0" marL="0">
              <a:buNone/>
            </a:pPr>
            <a:r>
              <a:rPr lang="en-US" sz="1450" b="1" dirty="0">
                <a:solidFill>
                  <a:srgbClr val="D8E3F0"/>
                </a:solidFill>
              </a:rPr>
              <a:t>Events stream what happened back to the host, where we can persist status, render progress, or enforce a gate.</a:t>
            </a:r>
            <a:endParaRPr lang="en-US" sz="1450" dirty="0"/>
          </a:p>
        </p:txBody>
      </p:sp>
      <p:sp>
        <p:nvSpPr>
          <p:cNvPr id="43" name="Text 41"/>
          <p:cNvSpPr/>
          <p:nvPr/>
        </p:nvSpPr>
        <p:spPr>
          <a:xfrm>
            <a:off x="7635240" y="6547104"/>
            <a:ext cx="3429000" cy="182880"/>
          </a:xfrm>
          <a:prstGeom prst="rect">
            <a:avLst/>
          </a:prstGeom>
          <a:noFill/>
          <a:ln/>
        </p:spPr>
        <p:txBody>
          <a:bodyPr wrap="square" lIns="0" tIns="0" rIns="0" bIns="0" rtlCol="0" anchor="ctr"/>
          <a:lstStyle/>
          <a:p>
            <a:pPr algn="r" indent="0" marL="0">
              <a:buNone/>
            </a:pPr>
            <a:r>
              <a:rPr lang="en-US" sz="820" u="sng" dirty="0">
                <a:solidFill>
                  <a:srgbClr val="91A4B8"/>
                </a:solidFill>
                <a:hlinkClick r:id="rId1" invalidUrl="" action="" tgtFrame="" tooltip="" history="1" highlightClick="0" endSnd="0">
                  <a:extLst>
                    <a:ext uri="{A12FA001-AC4F-418D-AE19-62706E023703}">
                      <ahyp:hlinkClr xmlns:ahyp="http://schemas.microsoft.com/office/drawing/2018/hyperlinkcolor" val="tx"/>
                    </a:ext>
                  </a:extLst>
                </a:hlinkClick>
              </a:rPr>
              <a:t>SDK feature guides</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CAPABILITIES</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Skills and agents: related, but different</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Progressive disclosure is useful only when we understand the loading rules.</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5</a:t>
            </a:r>
            <a:endParaRPr lang="en-US" sz="850" dirty="0"/>
          </a:p>
        </p:txBody>
      </p:sp>
      <p:sp>
        <p:nvSpPr>
          <p:cNvPr id="8" name="Shape 6"/>
          <p:cNvSpPr/>
          <p:nvPr/>
        </p:nvSpPr>
        <p:spPr>
          <a:xfrm>
            <a:off x="640080" y="1783080"/>
            <a:ext cx="3474720" cy="3520440"/>
          </a:xfrm>
          <a:prstGeom prst="roundRect">
            <a:avLst>
              <a:gd name="adj" fmla="val 2105"/>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9" name="Shape 7"/>
          <p:cNvSpPr/>
          <p:nvPr/>
        </p:nvSpPr>
        <p:spPr>
          <a:xfrm>
            <a:off x="640080" y="1783080"/>
            <a:ext cx="54864" cy="3520440"/>
          </a:xfrm>
          <a:prstGeom prst="rect">
            <a:avLst/>
          </a:prstGeom>
          <a:solidFill>
            <a:srgbClr val="3DDC97"/>
          </a:solidFill>
          <a:ln w="12700">
            <a:solidFill>
              <a:srgbClr val="3DDC97">
                <a:alpha val="0"/>
              </a:srgbClr>
            </a:solidFill>
            <a:prstDash val="solid"/>
          </a:ln>
        </p:spPr>
      </p:sp>
      <p:sp>
        <p:nvSpPr>
          <p:cNvPr id="10" name="Text 8"/>
          <p:cNvSpPr/>
          <p:nvPr/>
        </p:nvSpPr>
        <p:spPr>
          <a:xfrm>
            <a:off x="896112" y="1947672"/>
            <a:ext cx="2962656" cy="329184"/>
          </a:xfrm>
          <a:prstGeom prst="rect">
            <a:avLst/>
          </a:prstGeom>
          <a:noFill/>
          <a:ln/>
        </p:spPr>
        <p:txBody>
          <a:bodyPr wrap="square" lIns="0" tIns="0" rIns="0" bIns="0" rtlCol="0" anchor="ctr"/>
          <a:lstStyle/>
          <a:p>
            <a:pPr indent="0" marL="0">
              <a:buNone/>
            </a:pPr>
            <a:r>
              <a:rPr lang="en-US" sz="1600" b="1" dirty="0">
                <a:solidFill>
                  <a:srgbClr val="F7FAFC"/>
                </a:solidFill>
              </a:rPr>
              <a:t>Skills</a:t>
            </a:r>
            <a:endParaRPr lang="en-US" sz="1600" dirty="0"/>
          </a:p>
        </p:txBody>
      </p:sp>
      <p:sp>
        <p:nvSpPr>
          <p:cNvPr id="11" name="Text 9"/>
          <p:cNvSpPr/>
          <p:nvPr/>
        </p:nvSpPr>
        <p:spPr>
          <a:xfrm>
            <a:off x="896112" y="2414016"/>
            <a:ext cx="2962656" cy="2715768"/>
          </a:xfrm>
          <a:prstGeom prst="rect">
            <a:avLst/>
          </a:prstGeom>
          <a:noFill/>
          <a:ln/>
        </p:spPr>
        <p:txBody>
          <a:bodyPr wrap="square" lIns="254" tIns="254" rIns="254" bIns="254" rtlCol="0" anchor="t"/>
          <a:lstStyle/>
          <a:p>
            <a:pPr indent="0" marL="0">
              <a:buNone/>
            </a:pPr>
            <a:r>
              <a:rPr lang="en-US" sz="1150" dirty="0">
                <a:solidFill>
                  <a:srgbClr val="D8E3F0"/>
                </a:solidFill>
              </a:rPr>
              <a:t>Reusable instruction modules</a:t>
            </a:r>
            <a:endParaRPr lang="en-US" sz="1150" dirty="0"/>
          </a:p>
          <a:p>
            <a:pPr indent="0" marL="0">
              <a:buNone/>
            </a:pPr>
            <a:endParaRPr lang="en-US" sz="1150" dirty="0"/>
          </a:p>
          <a:p>
            <a:pPr indent="0" marL="0">
              <a:buNone/>
            </a:pPr>
            <a:r>
              <a:rPr lang="en-US" sz="1150" dirty="0">
                <a:solidFill>
                  <a:srgbClr val="D8E3F0"/>
                </a:solidFill>
              </a:rPr>
              <a:t>Good for:</a:t>
            </a:r>
            <a:endParaRPr lang="en-US" sz="1150" dirty="0"/>
          </a:p>
          <a:p>
            <a:pPr indent="0" marL="0">
              <a:buNone/>
            </a:pPr>
            <a:r>
              <a:rPr lang="en-US" sz="1150" dirty="0">
                <a:solidFill>
                  <a:srgbClr val="D8E3F0"/>
                </a:solidFill>
              </a:rPr>
              <a:t>• Dynatrace query procedures</a:t>
            </a:r>
            <a:endParaRPr lang="en-US" sz="1150" dirty="0"/>
          </a:p>
          <a:p>
            <a:pPr indent="0" marL="0">
              <a:buNone/>
            </a:pPr>
            <a:r>
              <a:rPr lang="en-US" sz="1150" dirty="0">
                <a:solidFill>
                  <a:srgbClr val="D8E3F0"/>
                </a:solidFill>
              </a:rPr>
              <a:t>• Jenkins invocation rules</a:t>
            </a:r>
            <a:endParaRPr lang="en-US" sz="1150" dirty="0"/>
          </a:p>
          <a:p>
            <a:pPr indent="0" marL="0">
              <a:buNone/>
            </a:pPr>
            <a:r>
              <a:rPr lang="en-US" sz="1150" dirty="0">
                <a:solidFill>
                  <a:srgbClr val="D8E3F0"/>
                </a:solidFill>
              </a:rPr>
              <a:t>• Test-report interpretation</a:t>
            </a:r>
            <a:endParaRPr lang="en-US" sz="1150" dirty="0"/>
          </a:p>
          <a:p>
            <a:pPr indent="0" marL="0">
              <a:buNone/>
            </a:pPr>
            <a:r>
              <a:rPr lang="en-US" sz="1150" dirty="0">
                <a:solidFill>
                  <a:srgbClr val="D8E3F0"/>
                </a:solidFill>
              </a:rPr>
              <a:t>• Organization-specific playbooks</a:t>
            </a:r>
            <a:endParaRPr lang="en-US" sz="1150" dirty="0"/>
          </a:p>
        </p:txBody>
      </p:sp>
      <p:sp>
        <p:nvSpPr>
          <p:cNvPr id="12" name="Shape 10"/>
          <p:cNvSpPr/>
          <p:nvPr/>
        </p:nvSpPr>
        <p:spPr>
          <a:xfrm>
            <a:off x="4343400" y="1783080"/>
            <a:ext cx="3474720" cy="3520440"/>
          </a:xfrm>
          <a:prstGeom prst="roundRect">
            <a:avLst>
              <a:gd name="adj" fmla="val 2105"/>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3" name="Shape 11"/>
          <p:cNvSpPr/>
          <p:nvPr/>
        </p:nvSpPr>
        <p:spPr>
          <a:xfrm>
            <a:off x="4343400" y="1783080"/>
            <a:ext cx="54864" cy="3520440"/>
          </a:xfrm>
          <a:prstGeom prst="rect">
            <a:avLst/>
          </a:prstGeom>
          <a:solidFill>
            <a:srgbClr val="A78BFA"/>
          </a:solidFill>
          <a:ln w="12700">
            <a:solidFill>
              <a:srgbClr val="A78BFA">
                <a:alpha val="0"/>
              </a:srgbClr>
            </a:solidFill>
            <a:prstDash val="solid"/>
          </a:ln>
        </p:spPr>
      </p:sp>
      <p:sp>
        <p:nvSpPr>
          <p:cNvPr id="14" name="Text 12"/>
          <p:cNvSpPr/>
          <p:nvPr/>
        </p:nvSpPr>
        <p:spPr>
          <a:xfrm>
            <a:off x="4599432" y="1947672"/>
            <a:ext cx="2962656" cy="329184"/>
          </a:xfrm>
          <a:prstGeom prst="rect">
            <a:avLst/>
          </a:prstGeom>
          <a:noFill/>
          <a:ln/>
        </p:spPr>
        <p:txBody>
          <a:bodyPr wrap="square" lIns="0" tIns="0" rIns="0" bIns="0" rtlCol="0" anchor="ctr"/>
          <a:lstStyle/>
          <a:p>
            <a:pPr indent="0" marL="0">
              <a:buNone/>
            </a:pPr>
            <a:r>
              <a:rPr lang="en-US" sz="1600" b="1" dirty="0">
                <a:solidFill>
                  <a:srgbClr val="F7FAFC"/>
                </a:solidFill>
              </a:rPr>
              <a:t>Custom agents</a:t>
            </a:r>
            <a:endParaRPr lang="en-US" sz="1600" dirty="0"/>
          </a:p>
        </p:txBody>
      </p:sp>
      <p:sp>
        <p:nvSpPr>
          <p:cNvPr id="15" name="Text 13"/>
          <p:cNvSpPr/>
          <p:nvPr/>
        </p:nvSpPr>
        <p:spPr>
          <a:xfrm>
            <a:off x="4599432" y="2414016"/>
            <a:ext cx="2962656" cy="2715768"/>
          </a:xfrm>
          <a:prstGeom prst="rect">
            <a:avLst/>
          </a:prstGeom>
          <a:noFill/>
          <a:ln/>
        </p:spPr>
        <p:txBody>
          <a:bodyPr wrap="square" lIns="254" tIns="254" rIns="254" bIns="254" rtlCol="0" anchor="t"/>
          <a:lstStyle/>
          <a:p>
            <a:pPr indent="0" marL="0">
              <a:buNone/>
            </a:pPr>
            <a:r>
              <a:rPr lang="en-US" sz="1150" dirty="0">
                <a:solidFill>
                  <a:srgbClr val="D8E3F0"/>
                </a:solidFill>
              </a:rPr>
              <a:t>Named specialists with their own prompt and tool scope</a:t>
            </a:r>
            <a:endParaRPr lang="en-US" sz="1150" dirty="0"/>
          </a:p>
          <a:p>
            <a:pPr indent="0" marL="0">
              <a:buNone/>
            </a:pPr>
            <a:endParaRPr lang="en-US" sz="1150" dirty="0"/>
          </a:p>
          <a:p>
            <a:pPr indent="0" marL="0">
              <a:buNone/>
            </a:pPr>
            <a:r>
              <a:rPr lang="en-US" sz="1150" dirty="0">
                <a:solidFill>
                  <a:srgbClr val="D8E3F0"/>
                </a:solidFill>
              </a:rPr>
              <a:t>Good for:</a:t>
            </a:r>
            <a:endParaRPr lang="en-US" sz="1150" dirty="0"/>
          </a:p>
          <a:p>
            <a:pPr indent="0" marL="0">
              <a:buNone/>
            </a:pPr>
            <a:r>
              <a:rPr lang="en-US" sz="1150" dirty="0">
                <a:solidFill>
                  <a:srgbClr val="D8E3F0"/>
                </a:solidFill>
              </a:rPr>
              <a:t>• Read-only repository research</a:t>
            </a:r>
            <a:endParaRPr lang="en-US" sz="1150" dirty="0"/>
          </a:p>
          <a:p>
            <a:pPr indent="0" marL="0">
              <a:buNone/>
            </a:pPr>
            <a:r>
              <a:rPr lang="en-US" sz="1150" dirty="0">
                <a:solidFill>
                  <a:srgbClr val="D8E3F0"/>
                </a:solidFill>
              </a:rPr>
              <a:t>• Code implementation</a:t>
            </a:r>
            <a:endParaRPr lang="en-US" sz="1150" dirty="0"/>
          </a:p>
          <a:p>
            <a:pPr indent="0" marL="0">
              <a:buNone/>
            </a:pPr>
            <a:r>
              <a:rPr lang="en-US" sz="1150" dirty="0">
                <a:solidFill>
                  <a:srgbClr val="D8E3F0"/>
                </a:solidFill>
              </a:rPr>
              <a:t>• Security review</a:t>
            </a:r>
            <a:endParaRPr lang="en-US" sz="1150" dirty="0"/>
          </a:p>
          <a:p>
            <a:pPr indent="0" marL="0">
              <a:buNone/>
            </a:pPr>
            <a:r>
              <a:rPr lang="en-US" sz="1150" dirty="0">
                <a:solidFill>
                  <a:srgbClr val="D8E3F0"/>
                </a:solidFill>
              </a:rPr>
              <a:t>• QA analysis</a:t>
            </a:r>
            <a:endParaRPr lang="en-US" sz="1150" dirty="0"/>
          </a:p>
        </p:txBody>
      </p:sp>
      <p:sp>
        <p:nvSpPr>
          <p:cNvPr id="16" name="Shape 14"/>
          <p:cNvSpPr/>
          <p:nvPr/>
        </p:nvSpPr>
        <p:spPr>
          <a:xfrm>
            <a:off x="8046720" y="1783080"/>
            <a:ext cx="3474720" cy="3520440"/>
          </a:xfrm>
          <a:prstGeom prst="roundRect">
            <a:avLst>
              <a:gd name="adj" fmla="val 2105"/>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7" name="Shape 15"/>
          <p:cNvSpPr/>
          <p:nvPr/>
        </p:nvSpPr>
        <p:spPr>
          <a:xfrm>
            <a:off x="8046720" y="1783080"/>
            <a:ext cx="54864" cy="3520440"/>
          </a:xfrm>
          <a:prstGeom prst="rect">
            <a:avLst/>
          </a:prstGeom>
          <a:solidFill>
            <a:srgbClr val="F7C948"/>
          </a:solidFill>
          <a:ln w="12700">
            <a:solidFill>
              <a:srgbClr val="F7C948">
                <a:alpha val="0"/>
              </a:srgbClr>
            </a:solidFill>
            <a:prstDash val="solid"/>
          </a:ln>
        </p:spPr>
      </p:sp>
      <p:sp>
        <p:nvSpPr>
          <p:cNvPr id="18" name="Text 16"/>
          <p:cNvSpPr/>
          <p:nvPr/>
        </p:nvSpPr>
        <p:spPr>
          <a:xfrm>
            <a:off x="8302752" y="1947672"/>
            <a:ext cx="2962656" cy="329184"/>
          </a:xfrm>
          <a:prstGeom prst="rect">
            <a:avLst/>
          </a:prstGeom>
          <a:noFill/>
          <a:ln/>
        </p:spPr>
        <p:txBody>
          <a:bodyPr wrap="square" lIns="0" tIns="0" rIns="0" bIns="0" rtlCol="0" anchor="ctr"/>
          <a:lstStyle/>
          <a:p>
            <a:pPr indent="0" marL="0">
              <a:buNone/>
            </a:pPr>
            <a:r>
              <a:rPr lang="en-US" sz="1600" b="1" dirty="0">
                <a:solidFill>
                  <a:srgbClr val="F7FAFC"/>
                </a:solidFill>
              </a:rPr>
              <a:t>Important rule</a:t>
            </a:r>
            <a:endParaRPr lang="en-US" sz="1600" dirty="0"/>
          </a:p>
        </p:txBody>
      </p:sp>
      <p:sp>
        <p:nvSpPr>
          <p:cNvPr id="19" name="Text 17"/>
          <p:cNvSpPr/>
          <p:nvPr/>
        </p:nvSpPr>
        <p:spPr>
          <a:xfrm>
            <a:off x="8302752" y="2414016"/>
            <a:ext cx="2962656" cy="2715768"/>
          </a:xfrm>
          <a:prstGeom prst="rect">
            <a:avLst/>
          </a:prstGeom>
          <a:noFill/>
          <a:ln/>
        </p:spPr>
        <p:txBody>
          <a:bodyPr wrap="square" lIns="254" tIns="254" rIns="254" bIns="254" rtlCol="0" anchor="t"/>
          <a:lstStyle/>
          <a:p>
            <a:pPr indent="0" marL="0">
              <a:buNone/>
            </a:pPr>
            <a:r>
              <a:rPr lang="en-US" sz="1150" dirty="0">
                <a:solidFill>
                  <a:srgbClr val="D8E3F0"/>
                </a:solidFill>
              </a:rPr>
              <a:t>Custom agents do not automatically inherit skills from the parent.</a:t>
            </a:r>
            <a:endParaRPr lang="en-US" sz="1150" dirty="0"/>
          </a:p>
          <a:p>
            <a:pPr indent="0" marL="0">
              <a:buNone/>
            </a:pPr>
            <a:endParaRPr lang="en-US" sz="1150" dirty="0"/>
          </a:p>
          <a:p>
            <a:pPr indent="0" marL="0">
              <a:buNone/>
            </a:pPr>
            <a:r>
              <a:rPr lang="en-US" sz="1150" dirty="0">
                <a:solidFill>
                  <a:srgbClr val="D8E3F0"/>
                </a:solidFill>
              </a:rPr>
              <a:t>Preload named skills on the agent or make them available through the session’s configured skill directories.</a:t>
            </a:r>
            <a:endParaRPr lang="en-US" sz="1150" dirty="0"/>
          </a:p>
        </p:txBody>
      </p:sp>
      <p:sp>
        <p:nvSpPr>
          <p:cNvPr id="20" name="Text 18"/>
          <p:cNvSpPr/>
          <p:nvPr/>
        </p:nvSpPr>
        <p:spPr>
          <a:xfrm>
            <a:off x="1143000" y="5678424"/>
            <a:ext cx="9921240" cy="411480"/>
          </a:xfrm>
          <a:prstGeom prst="rect">
            <a:avLst/>
          </a:prstGeom>
          <a:noFill/>
          <a:ln/>
        </p:spPr>
        <p:txBody>
          <a:bodyPr wrap="square" lIns="0" tIns="0" rIns="0" bIns="0" rtlCol="0" anchor="ctr"/>
          <a:lstStyle/>
          <a:p>
            <a:pPr algn="ctr" indent="0" marL="0">
              <a:buNone/>
            </a:pPr>
            <a:r>
              <a:rPr lang="en-US" sz="1600" b="1" dirty="0">
                <a:solidFill>
                  <a:srgbClr val="38BDF8"/>
                </a:solidFill>
              </a:rPr>
              <a:t>Discovery answers “what is available?” Invocation answers “what was actually used?”</a:t>
            </a:r>
            <a:endParaRPr lang="en-US" sz="1600" dirty="0"/>
          </a:p>
        </p:txBody>
      </p:sp>
      <p:sp>
        <p:nvSpPr>
          <p:cNvPr id="21" name="Text 19"/>
          <p:cNvSpPr/>
          <p:nvPr/>
        </p:nvSpPr>
        <p:spPr>
          <a:xfrm>
            <a:off x="7635240" y="6547104"/>
            <a:ext cx="3429000" cy="182880"/>
          </a:xfrm>
          <a:prstGeom prst="rect">
            <a:avLst/>
          </a:prstGeom>
          <a:noFill/>
          <a:ln/>
        </p:spPr>
        <p:txBody>
          <a:bodyPr wrap="square" lIns="0" tIns="0" rIns="0" bIns="0" rtlCol="0" anchor="ctr"/>
          <a:lstStyle/>
          <a:p>
            <a:pPr algn="r" indent="0" marL="0">
              <a:buNone/>
            </a:pPr>
            <a:r>
              <a:rPr lang="en-US" sz="820" u="sng" dirty="0">
                <a:solidFill>
                  <a:srgbClr val="91A4B8"/>
                </a:solidFill>
                <a:hlinkClick r:id="rId1" invalidUrl="" action="" tgtFrame="" tooltip="" history="1" highlightClick="0" endSnd="0">
                  <a:extLst>
                    <a:ext uri="{A12FA001-AC4F-418D-AE19-62706E023703}">
                      <ahyp:hlinkClr xmlns:ahyp="http://schemas.microsoft.com/office/drawing/2018/hyperlinkcolor" val="tx"/>
                    </a:ext>
                  </a:extLst>
                </a:hlinkClick>
              </a:rPr>
              <a:t>Custom agents documentation</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PROTOTYPE</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What we built during Innovation Week</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A runnable learning repository—not a production automation platform.</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6</a:t>
            </a:r>
            <a:endParaRPr lang="en-US" sz="850" dirty="0"/>
          </a:p>
        </p:txBody>
      </p:sp>
      <p:sp>
        <p:nvSpPr>
          <p:cNvPr id="8" name="Shape 6"/>
          <p:cNvSpPr/>
          <p:nvPr/>
        </p:nvSpPr>
        <p:spPr>
          <a:xfrm>
            <a:off x="658368" y="1755648"/>
            <a:ext cx="3493008" cy="1627632"/>
          </a:xfrm>
          <a:prstGeom prst="roundRect">
            <a:avLst>
              <a:gd name="adj" fmla="val 449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9" name="Shape 7"/>
          <p:cNvSpPr/>
          <p:nvPr/>
        </p:nvSpPr>
        <p:spPr>
          <a:xfrm>
            <a:off x="658368" y="1755648"/>
            <a:ext cx="54864" cy="1627632"/>
          </a:xfrm>
          <a:prstGeom prst="rect">
            <a:avLst/>
          </a:prstGeom>
          <a:solidFill>
            <a:srgbClr val="38BDF8"/>
          </a:solidFill>
          <a:ln w="12700">
            <a:solidFill>
              <a:srgbClr val="38BDF8">
                <a:alpha val="0"/>
              </a:srgbClr>
            </a:solidFill>
            <a:prstDash val="solid"/>
          </a:ln>
        </p:spPr>
      </p:sp>
      <p:sp>
        <p:nvSpPr>
          <p:cNvPr id="10" name="Text 8"/>
          <p:cNvSpPr/>
          <p:nvPr/>
        </p:nvSpPr>
        <p:spPr>
          <a:xfrm>
            <a:off x="914400" y="1920240"/>
            <a:ext cx="2980944" cy="329184"/>
          </a:xfrm>
          <a:prstGeom prst="rect">
            <a:avLst/>
          </a:prstGeom>
          <a:noFill/>
          <a:ln/>
        </p:spPr>
        <p:txBody>
          <a:bodyPr wrap="square" lIns="0" tIns="0" rIns="0" bIns="0" rtlCol="0" anchor="ctr"/>
          <a:lstStyle/>
          <a:p>
            <a:pPr indent="0" marL="0">
              <a:buNone/>
            </a:pPr>
            <a:r>
              <a:rPr lang="en-US" sz="1600" b="1" dirty="0">
                <a:solidFill>
                  <a:srgbClr val="F7FAFC"/>
                </a:solidFill>
              </a:rPr>
              <a:t>Model catalog</a:t>
            </a:r>
            <a:endParaRPr lang="en-US" sz="1600" dirty="0"/>
          </a:p>
        </p:txBody>
      </p:sp>
      <p:sp>
        <p:nvSpPr>
          <p:cNvPr id="11" name="Text 9"/>
          <p:cNvSpPr/>
          <p:nvPr/>
        </p:nvSpPr>
        <p:spPr>
          <a:xfrm>
            <a:off x="914400" y="2386584"/>
            <a:ext cx="2980944" cy="822960"/>
          </a:xfrm>
          <a:prstGeom prst="rect">
            <a:avLst/>
          </a:prstGeom>
          <a:noFill/>
          <a:ln/>
        </p:spPr>
        <p:txBody>
          <a:bodyPr wrap="square" lIns="254" tIns="254" rIns="254" bIns="254" rtlCol="0" anchor="t"/>
          <a:lstStyle/>
          <a:p>
            <a:pPr indent="0" marL="0">
              <a:buNone/>
            </a:pPr>
            <a:r>
              <a:rPr lang="en-US" sz="1150" dirty="0">
                <a:solidFill>
                  <a:srgbClr val="D8E3F0"/>
                </a:solidFill>
              </a:rPr>
              <a:t>Inspect account-available models and fall back safely.</a:t>
            </a:r>
            <a:endParaRPr lang="en-US" sz="1150" dirty="0"/>
          </a:p>
        </p:txBody>
      </p:sp>
      <p:sp>
        <p:nvSpPr>
          <p:cNvPr id="12" name="Shape 10"/>
          <p:cNvSpPr/>
          <p:nvPr/>
        </p:nvSpPr>
        <p:spPr>
          <a:xfrm>
            <a:off x="4498848" y="1755648"/>
            <a:ext cx="3493008" cy="1627632"/>
          </a:xfrm>
          <a:prstGeom prst="roundRect">
            <a:avLst>
              <a:gd name="adj" fmla="val 449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3" name="Shape 11"/>
          <p:cNvSpPr/>
          <p:nvPr/>
        </p:nvSpPr>
        <p:spPr>
          <a:xfrm>
            <a:off x="4498848" y="1755648"/>
            <a:ext cx="54864" cy="1627632"/>
          </a:xfrm>
          <a:prstGeom prst="rect">
            <a:avLst/>
          </a:prstGeom>
          <a:solidFill>
            <a:srgbClr val="3DDC97"/>
          </a:solidFill>
          <a:ln w="12700">
            <a:solidFill>
              <a:srgbClr val="3DDC97">
                <a:alpha val="0"/>
              </a:srgbClr>
            </a:solidFill>
            <a:prstDash val="solid"/>
          </a:ln>
        </p:spPr>
      </p:sp>
      <p:sp>
        <p:nvSpPr>
          <p:cNvPr id="14" name="Text 12"/>
          <p:cNvSpPr/>
          <p:nvPr/>
        </p:nvSpPr>
        <p:spPr>
          <a:xfrm>
            <a:off x="4754880" y="1920240"/>
            <a:ext cx="2980944" cy="329184"/>
          </a:xfrm>
          <a:prstGeom prst="rect">
            <a:avLst/>
          </a:prstGeom>
          <a:noFill/>
          <a:ln/>
        </p:spPr>
        <p:txBody>
          <a:bodyPr wrap="square" lIns="0" tIns="0" rIns="0" bIns="0" rtlCol="0" anchor="ctr"/>
          <a:lstStyle/>
          <a:p>
            <a:pPr indent="0" marL="0">
              <a:buNone/>
            </a:pPr>
            <a:r>
              <a:rPr lang="en-US" sz="1600" b="1" dirty="0">
                <a:solidFill>
                  <a:srgbClr val="F7FAFC"/>
                </a:solidFill>
              </a:rPr>
              <a:t>Skill discovery</a:t>
            </a:r>
            <a:endParaRPr lang="en-US" sz="1600" dirty="0"/>
          </a:p>
        </p:txBody>
      </p:sp>
      <p:sp>
        <p:nvSpPr>
          <p:cNvPr id="15" name="Text 13"/>
          <p:cNvSpPr/>
          <p:nvPr/>
        </p:nvSpPr>
        <p:spPr>
          <a:xfrm>
            <a:off x="4754880" y="2386584"/>
            <a:ext cx="2980944" cy="822960"/>
          </a:xfrm>
          <a:prstGeom prst="rect">
            <a:avLst/>
          </a:prstGeom>
          <a:noFill/>
          <a:ln/>
        </p:spPr>
        <p:txBody>
          <a:bodyPr wrap="square" lIns="254" tIns="254" rIns="254" bIns="254" rtlCol="0" anchor="t"/>
          <a:lstStyle/>
          <a:p>
            <a:pPr indent="0" marL="0">
              <a:buNone/>
            </a:pPr>
            <a:r>
              <a:rPr lang="en-US" sz="1150" dirty="0">
                <a:solidFill>
                  <a:srgbClr val="D8E3F0"/>
                </a:solidFill>
              </a:rPr>
              <a:t>List personal and project skills; inspect actual invocation.</a:t>
            </a:r>
            <a:endParaRPr lang="en-US" sz="1150" dirty="0"/>
          </a:p>
        </p:txBody>
      </p:sp>
      <p:sp>
        <p:nvSpPr>
          <p:cNvPr id="16" name="Shape 14"/>
          <p:cNvSpPr/>
          <p:nvPr/>
        </p:nvSpPr>
        <p:spPr>
          <a:xfrm>
            <a:off x="8339328" y="1755648"/>
            <a:ext cx="3493008" cy="1627632"/>
          </a:xfrm>
          <a:prstGeom prst="roundRect">
            <a:avLst>
              <a:gd name="adj" fmla="val 449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7" name="Shape 15"/>
          <p:cNvSpPr/>
          <p:nvPr/>
        </p:nvSpPr>
        <p:spPr>
          <a:xfrm>
            <a:off x="8339328" y="1755648"/>
            <a:ext cx="54864" cy="1627632"/>
          </a:xfrm>
          <a:prstGeom prst="rect">
            <a:avLst/>
          </a:prstGeom>
          <a:solidFill>
            <a:srgbClr val="A78BFA"/>
          </a:solidFill>
          <a:ln w="12700">
            <a:solidFill>
              <a:srgbClr val="A78BFA">
                <a:alpha val="0"/>
              </a:srgbClr>
            </a:solidFill>
            <a:prstDash val="solid"/>
          </a:ln>
        </p:spPr>
      </p:sp>
      <p:sp>
        <p:nvSpPr>
          <p:cNvPr id="18" name="Text 16"/>
          <p:cNvSpPr/>
          <p:nvPr/>
        </p:nvSpPr>
        <p:spPr>
          <a:xfrm>
            <a:off x="8595360" y="1920240"/>
            <a:ext cx="2980944" cy="329184"/>
          </a:xfrm>
          <a:prstGeom prst="rect">
            <a:avLst/>
          </a:prstGeom>
          <a:noFill/>
          <a:ln/>
        </p:spPr>
        <p:txBody>
          <a:bodyPr wrap="square" lIns="0" tIns="0" rIns="0" bIns="0" rtlCol="0" anchor="ctr"/>
          <a:lstStyle/>
          <a:p>
            <a:pPr indent="0" marL="0">
              <a:buNone/>
            </a:pPr>
            <a:r>
              <a:rPr lang="en-US" sz="1600" b="1" dirty="0">
                <a:solidFill>
                  <a:srgbClr val="F7FAFC"/>
                </a:solidFill>
              </a:rPr>
              <a:t>Custom agent</a:t>
            </a:r>
            <a:endParaRPr lang="en-US" sz="1600" dirty="0"/>
          </a:p>
        </p:txBody>
      </p:sp>
      <p:sp>
        <p:nvSpPr>
          <p:cNvPr id="19" name="Text 17"/>
          <p:cNvSpPr/>
          <p:nvPr/>
        </p:nvSpPr>
        <p:spPr>
          <a:xfrm>
            <a:off x="8595360" y="2386584"/>
            <a:ext cx="2980944" cy="822960"/>
          </a:xfrm>
          <a:prstGeom prst="rect">
            <a:avLst/>
          </a:prstGeom>
          <a:noFill/>
          <a:ln/>
        </p:spPr>
        <p:txBody>
          <a:bodyPr wrap="square" lIns="254" tIns="254" rIns="254" bIns="254" rtlCol="0" anchor="t"/>
          <a:lstStyle/>
          <a:p>
            <a:pPr indent="0" marL="0">
              <a:buNone/>
            </a:pPr>
            <a:r>
              <a:rPr lang="en-US" sz="1150" dirty="0">
                <a:solidFill>
                  <a:srgbClr val="D8E3F0"/>
                </a:solidFill>
              </a:rPr>
              <a:t>Create a read-only repository researcher with scoped behavior.</a:t>
            </a:r>
            <a:endParaRPr lang="en-US" sz="1150" dirty="0"/>
          </a:p>
        </p:txBody>
      </p:sp>
      <p:sp>
        <p:nvSpPr>
          <p:cNvPr id="20" name="Shape 18"/>
          <p:cNvSpPr/>
          <p:nvPr/>
        </p:nvSpPr>
        <p:spPr>
          <a:xfrm>
            <a:off x="658368" y="3749040"/>
            <a:ext cx="3493008" cy="1627632"/>
          </a:xfrm>
          <a:prstGeom prst="roundRect">
            <a:avLst>
              <a:gd name="adj" fmla="val 449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21" name="Shape 19"/>
          <p:cNvSpPr/>
          <p:nvPr/>
        </p:nvSpPr>
        <p:spPr>
          <a:xfrm>
            <a:off x="658368" y="3749040"/>
            <a:ext cx="54864" cy="1627632"/>
          </a:xfrm>
          <a:prstGeom prst="rect">
            <a:avLst/>
          </a:prstGeom>
          <a:solidFill>
            <a:srgbClr val="4F7CFF"/>
          </a:solidFill>
          <a:ln w="12700">
            <a:solidFill>
              <a:srgbClr val="4F7CFF">
                <a:alpha val="0"/>
              </a:srgbClr>
            </a:solidFill>
            <a:prstDash val="solid"/>
          </a:ln>
        </p:spPr>
      </p:sp>
      <p:sp>
        <p:nvSpPr>
          <p:cNvPr id="22" name="Text 20"/>
          <p:cNvSpPr/>
          <p:nvPr/>
        </p:nvSpPr>
        <p:spPr>
          <a:xfrm>
            <a:off x="914400" y="3913632"/>
            <a:ext cx="2980944" cy="329184"/>
          </a:xfrm>
          <a:prstGeom prst="rect">
            <a:avLst/>
          </a:prstGeom>
          <a:noFill/>
          <a:ln/>
        </p:spPr>
        <p:txBody>
          <a:bodyPr wrap="square" lIns="0" tIns="0" rIns="0" bIns="0" rtlCol="0" anchor="ctr"/>
          <a:lstStyle/>
          <a:p>
            <a:pPr indent="0" marL="0">
              <a:buNone/>
            </a:pPr>
            <a:r>
              <a:rPr lang="en-US" sz="1600" b="1" dirty="0">
                <a:solidFill>
                  <a:srgbClr val="F7FAFC"/>
                </a:solidFill>
              </a:rPr>
              <a:t>Issue triage</a:t>
            </a:r>
            <a:endParaRPr lang="en-US" sz="1600" dirty="0"/>
          </a:p>
        </p:txBody>
      </p:sp>
      <p:sp>
        <p:nvSpPr>
          <p:cNvPr id="23" name="Text 21"/>
          <p:cNvSpPr/>
          <p:nvPr/>
        </p:nvSpPr>
        <p:spPr>
          <a:xfrm>
            <a:off x="914400" y="4379976"/>
            <a:ext cx="2980944" cy="822960"/>
          </a:xfrm>
          <a:prstGeom prst="rect">
            <a:avLst/>
          </a:prstGeom>
          <a:noFill/>
          <a:ln/>
        </p:spPr>
        <p:txBody>
          <a:bodyPr wrap="square" lIns="254" tIns="254" rIns="254" bIns="254" rtlCol="0" anchor="t"/>
          <a:lstStyle/>
          <a:p>
            <a:pPr indent="0" marL="0">
              <a:buNone/>
            </a:pPr>
            <a:r>
              <a:rPr lang="en-US" sz="1150" dirty="0">
                <a:solidFill>
                  <a:srgbClr val="D8E3F0"/>
                </a:solidFill>
              </a:rPr>
              <a:t>Read labeled issues with the GitHub CLI and return validated JSON.</a:t>
            </a:r>
            <a:endParaRPr lang="en-US" sz="1150" dirty="0"/>
          </a:p>
        </p:txBody>
      </p:sp>
      <p:sp>
        <p:nvSpPr>
          <p:cNvPr id="24" name="Shape 22"/>
          <p:cNvSpPr/>
          <p:nvPr/>
        </p:nvSpPr>
        <p:spPr>
          <a:xfrm>
            <a:off x="4498848" y="3749040"/>
            <a:ext cx="3493008" cy="1627632"/>
          </a:xfrm>
          <a:prstGeom prst="roundRect">
            <a:avLst>
              <a:gd name="adj" fmla="val 449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25" name="Shape 23"/>
          <p:cNvSpPr/>
          <p:nvPr/>
        </p:nvSpPr>
        <p:spPr>
          <a:xfrm>
            <a:off x="4498848" y="3749040"/>
            <a:ext cx="54864" cy="1627632"/>
          </a:xfrm>
          <a:prstGeom prst="rect">
            <a:avLst/>
          </a:prstGeom>
          <a:solidFill>
            <a:srgbClr val="F7C948"/>
          </a:solidFill>
          <a:ln w="12700">
            <a:solidFill>
              <a:srgbClr val="F7C948">
                <a:alpha val="0"/>
              </a:srgbClr>
            </a:solidFill>
            <a:prstDash val="solid"/>
          </a:ln>
        </p:spPr>
      </p:sp>
      <p:sp>
        <p:nvSpPr>
          <p:cNvPr id="26" name="Text 24"/>
          <p:cNvSpPr/>
          <p:nvPr/>
        </p:nvSpPr>
        <p:spPr>
          <a:xfrm>
            <a:off x="4754880" y="3913632"/>
            <a:ext cx="2980944" cy="329184"/>
          </a:xfrm>
          <a:prstGeom prst="rect">
            <a:avLst/>
          </a:prstGeom>
          <a:noFill/>
          <a:ln/>
        </p:spPr>
        <p:txBody>
          <a:bodyPr wrap="square" lIns="0" tIns="0" rIns="0" bIns="0" rtlCol="0" anchor="ctr"/>
          <a:lstStyle/>
          <a:p>
            <a:pPr indent="0" marL="0">
              <a:buNone/>
            </a:pPr>
            <a:r>
              <a:rPr lang="en-US" sz="1600" b="1" dirty="0">
                <a:solidFill>
                  <a:srgbClr val="F7FAFC"/>
                </a:solidFill>
              </a:rPr>
              <a:t>Agent Factory</a:t>
            </a:r>
            <a:endParaRPr lang="en-US" sz="1600" dirty="0"/>
          </a:p>
        </p:txBody>
      </p:sp>
      <p:sp>
        <p:nvSpPr>
          <p:cNvPr id="27" name="Text 25"/>
          <p:cNvSpPr/>
          <p:nvPr/>
        </p:nvSpPr>
        <p:spPr>
          <a:xfrm>
            <a:off x="4754880" y="4379976"/>
            <a:ext cx="2980944" cy="822960"/>
          </a:xfrm>
          <a:prstGeom prst="rect">
            <a:avLst/>
          </a:prstGeom>
          <a:noFill/>
          <a:ln/>
        </p:spPr>
        <p:txBody>
          <a:bodyPr wrap="square" lIns="254" tIns="254" rIns="254" bIns="254" rtlCol="0" anchor="t"/>
          <a:lstStyle/>
          <a:p>
            <a:pPr indent="0" marL="0">
              <a:buNone/>
            </a:pPr>
            <a:r>
              <a:rPr lang="en-US" sz="1150" dirty="0">
                <a:solidFill>
                  <a:srgbClr val="D8E3F0"/>
                </a:solidFill>
              </a:rPr>
              <a:t>Coordinate bounded parallel analysts and a synthesis stage.</a:t>
            </a:r>
            <a:endParaRPr lang="en-US" sz="1150" dirty="0"/>
          </a:p>
        </p:txBody>
      </p:sp>
      <p:sp>
        <p:nvSpPr>
          <p:cNvPr id="28" name="Shape 26"/>
          <p:cNvSpPr/>
          <p:nvPr/>
        </p:nvSpPr>
        <p:spPr>
          <a:xfrm>
            <a:off x="8339328" y="3749040"/>
            <a:ext cx="3493008" cy="1627632"/>
          </a:xfrm>
          <a:prstGeom prst="roundRect">
            <a:avLst>
              <a:gd name="adj" fmla="val 449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29" name="Shape 27"/>
          <p:cNvSpPr/>
          <p:nvPr/>
        </p:nvSpPr>
        <p:spPr>
          <a:xfrm>
            <a:off x="8339328" y="3749040"/>
            <a:ext cx="54864" cy="1627632"/>
          </a:xfrm>
          <a:prstGeom prst="rect">
            <a:avLst/>
          </a:prstGeom>
          <a:solidFill>
            <a:srgbClr val="FF6B6B"/>
          </a:solidFill>
          <a:ln w="12700">
            <a:solidFill>
              <a:srgbClr val="FF6B6B">
                <a:alpha val="0"/>
              </a:srgbClr>
            </a:solidFill>
            <a:prstDash val="solid"/>
          </a:ln>
        </p:spPr>
      </p:sp>
      <p:sp>
        <p:nvSpPr>
          <p:cNvPr id="30" name="Text 28"/>
          <p:cNvSpPr/>
          <p:nvPr/>
        </p:nvSpPr>
        <p:spPr>
          <a:xfrm>
            <a:off x="8595360" y="3913632"/>
            <a:ext cx="2980944" cy="329184"/>
          </a:xfrm>
          <a:prstGeom prst="rect">
            <a:avLst/>
          </a:prstGeom>
          <a:noFill/>
          <a:ln/>
        </p:spPr>
        <p:txBody>
          <a:bodyPr wrap="square" lIns="0" tIns="0" rIns="0" bIns="0" rtlCol="0" anchor="ctr"/>
          <a:lstStyle/>
          <a:p>
            <a:pPr indent="0" marL="0">
              <a:buNone/>
            </a:pPr>
            <a:r>
              <a:rPr lang="en-US" sz="1600" b="1" dirty="0">
                <a:solidFill>
                  <a:srgbClr val="F7FAFC"/>
                </a:solidFill>
              </a:rPr>
              <a:t>Fresh handoff</a:t>
            </a:r>
            <a:endParaRPr lang="en-US" sz="1600" dirty="0"/>
          </a:p>
        </p:txBody>
      </p:sp>
      <p:sp>
        <p:nvSpPr>
          <p:cNvPr id="31" name="Text 29"/>
          <p:cNvSpPr/>
          <p:nvPr/>
        </p:nvSpPr>
        <p:spPr>
          <a:xfrm>
            <a:off x="8595360" y="4379976"/>
            <a:ext cx="2980944" cy="822960"/>
          </a:xfrm>
          <a:prstGeom prst="rect">
            <a:avLst/>
          </a:prstGeom>
          <a:noFill/>
          <a:ln/>
        </p:spPr>
        <p:txBody>
          <a:bodyPr wrap="square" lIns="254" tIns="254" rIns="254" bIns="254" rtlCol="0" anchor="t"/>
          <a:lstStyle/>
          <a:p>
            <a:pPr indent="0" marL="0">
              <a:buNone/>
            </a:pPr>
            <a:r>
              <a:rPr lang="en-US" sz="1150" dirty="0">
                <a:solidFill>
                  <a:srgbClr val="D8E3F0"/>
                </a:solidFill>
              </a:rPr>
              <a:t>Validate JSON, end one session, and start the next with only trusted data.</a:t>
            </a:r>
            <a:endParaRPr lang="en-US" sz="1150" dirty="0"/>
          </a:p>
        </p:txBody>
      </p:sp>
      <p:sp>
        <p:nvSpPr>
          <p:cNvPr id="32" name="Text 30"/>
          <p:cNvSpPr/>
          <p:nvPr/>
        </p:nvSpPr>
        <p:spPr>
          <a:xfrm>
            <a:off x="1280160" y="5897880"/>
            <a:ext cx="9601200" cy="320040"/>
          </a:xfrm>
          <a:prstGeom prst="rect">
            <a:avLst/>
          </a:prstGeom>
          <a:noFill/>
          <a:ln/>
        </p:spPr>
        <p:txBody>
          <a:bodyPr wrap="square" lIns="0" tIns="0" rIns="0" bIns="0" rtlCol="0" anchor="ctr"/>
          <a:lstStyle/>
          <a:p>
            <a:pPr algn="ctr" indent="0" marL="0">
              <a:buNone/>
            </a:pPr>
            <a:r>
              <a:rPr lang="en-US" sz="1450" dirty="0">
                <a:solidFill>
                  <a:srgbClr val="D8E3F0"/>
                </a:solidFill>
              </a:rPr>
              <a:t>Every example is intentionally small so the team can see one SDK concept at a time.</a:t>
            </a:r>
            <a:endParaRPr lang="en-US" sz="1450" dirty="0"/>
          </a:p>
        </p:txBody>
      </p:sp>
      <p:sp>
        <p:nvSpPr>
          <p:cNvPr id="33" name="Text 31"/>
          <p:cNvSpPr/>
          <p:nvPr/>
        </p:nvSpPr>
        <p:spPr>
          <a:xfrm>
            <a:off x="7635240" y="6547104"/>
            <a:ext cx="3429000" cy="182880"/>
          </a:xfrm>
          <a:prstGeom prst="rect">
            <a:avLst/>
          </a:prstGeom>
          <a:noFill/>
          <a:ln/>
        </p:spPr>
        <p:txBody>
          <a:bodyPr wrap="square" lIns="0" tIns="0" rIns="0" bIns="0" rtlCol="0" anchor="ctr"/>
          <a:lstStyle/>
          <a:p>
            <a:pPr algn="r" indent="0" marL="0">
              <a:buNone/>
            </a:pPr>
            <a:r>
              <a:rPr lang="en-US" sz="820" u="sng" dirty="0">
                <a:solidFill>
                  <a:srgbClr val="91A4B8"/>
                </a:solidFill>
                <a:hlinkClick r:id="rId1" invalidUrl="" action="" tgtFrame="" tooltip="" history="1" highlightClick="0" endSnd="0">
                  <a:extLst>
                    <a:ext uri="{A12FA001-AC4F-418D-AE19-62706E023703}">
                      <ahyp:hlinkClr xmlns:ahyp="http://schemas.microsoft.com/office/drawing/2018/hyperlinkcolor" val="tx"/>
                    </a:ext>
                  </a:extLst>
                </a:hlinkClick>
              </a:rPr>
              <a:t>Open the example repository</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VALUE</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Developer use cases</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Best fit: bounded work with clear ownership, evidence, and validation.</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7</a:t>
            </a:r>
            <a:endParaRPr lang="en-US" sz="850" dirty="0"/>
          </a:p>
        </p:txBody>
      </p:sp>
      <p:sp>
        <p:nvSpPr>
          <p:cNvPr id="8" name="Shape 6"/>
          <p:cNvSpPr/>
          <p:nvPr/>
        </p:nvSpPr>
        <p:spPr>
          <a:xfrm>
            <a:off x="658368" y="1719072"/>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9" name="Shape 7"/>
          <p:cNvSpPr/>
          <p:nvPr/>
        </p:nvSpPr>
        <p:spPr>
          <a:xfrm>
            <a:off x="658368" y="1719072"/>
            <a:ext cx="54864" cy="1170432"/>
          </a:xfrm>
          <a:prstGeom prst="rect">
            <a:avLst/>
          </a:prstGeom>
          <a:solidFill>
            <a:srgbClr val="38BDF8"/>
          </a:solidFill>
          <a:ln w="12700">
            <a:solidFill>
              <a:srgbClr val="38BDF8">
                <a:alpha val="0"/>
              </a:srgbClr>
            </a:solidFill>
            <a:prstDash val="solid"/>
          </a:ln>
        </p:spPr>
      </p:sp>
      <p:sp>
        <p:nvSpPr>
          <p:cNvPr id="10" name="Text 8"/>
          <p:cNvSpPr/>
          <p:nvPr/>
        </p:nvSpPr>
        <p:spPr>
          <a:xfrm>
            <a:off x="914400" y="1883664"/>
            <a:ext cx="4901184" cy="329184"/>
          </a:xfrm>
          <a:prstGeom prst="rect">
            <a:avLst/>
          </a:prstGeom>
          <a:noFill/>
          <a:ln/>
        </p:spPr>
        <p:txBody>
          <a:bodyPr wrap="square" lIns="0" tIns="0" rIns="0" bIns="0" rtlCol="0" anchor="ctr"/>
          <a:lstStyle/>
          <a:p>
            <a:pPr indent="0" marL="0">
              <a:buNone/>
            </a:pPr>
            <a:r>
              <a:rPr lang="en-US" sz="1600" b="1" dirty="0">
                <a:solidFill>
                  <a:srgbClr val="F7FAFC"/>
                </a:solidFill>
              </a:rPr>
              <a:t>Issue readiness</a:t>
            </a:r>
            <a:endParaRPr lang="en-US" sz="1600" dirty="0"/>
          </a:p>
        </p:txBody>
      </p:sp>
      <p:sp>
        <p:nvSpPr>
          <p:cNvPr id="11" name="Text 9"/>
          <p:cNvSpPr/>
          <p:nvPr/>
        </p:nvSpPr>
        <p:spPr>
          <a:xfrm>
            <a:off x="914400" y="2350008"/>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Rank eligible work, identify missing acceptance criteria, and recommend the safest starting point.</a:t>
            </a:r>
            <a:endParaRPr lang="en-US" sz="1150" dirty="0"/>
          </a:p>
        </p:txBody>
      </p:sp>
      <p:sp>
        <p:nvSpPr>
          <p:cNvPr id="12" name="Shape 10"/>
          <p:cNvSpPr/>
          <p:nvPr/>
        </p:nvSpPr>
        <p:spPr>
          <a:xfrm>
            <a:off x="4846320" y="1865376"/>
            <a:ext cx="932688" cy="310896"/>
          </a:xfrm>
          <a:prstGeom prst="roundRect">
            <a:avLst>
              <a:gd name="adj" fmla="val 23529"/>
            </a:avLst>
          </a:prstGeom>
          <a:solidFill>
            <a:srgbClr val="38BDF8">
              <a:alpha val="14000"/>
            </a:srgbClr>
          </a:solidFill>
          <a:ln w="10160">
            <a:solidFill>
              <a:srgbClr val="38BDF8">
                <a:alpha val="40000"/>
              </a:srgbClr>
            </a:solidFill>
            <a:prstDash val="solid"/>
          </a:ln>
        </p:spPr>
      </p:sp>
      <p:sp>
        <p:nvSpPr>
          <p:cNvPr id="13" name="Text 11"/>
          <p:cNvSpPr/>
          <p:nvPr/>
        </p:nvSpPr>
        <p:spPr>
          <a:xfrm>
            <a:off x="4919472" y="1915668"/>
            <a:ext cx="786384" cy="164592"/>
          </a:xfrm>
          <a:prstGeom prst="rect">
            <a:avLst/>
          </a:prstGeom>
          <a:noFill/>
          <a:ln/>
        </p:spPr>
        <p:txBody>
          <a:bodyPr wrap="square" lIns="0" tIns="0" rIns="0" bIns="0" rtlCol="0" anchor="ctr"/>
          <a:lstStyle/>
          <a:p>
            <a:pPr algn="ctr" indent="0" marL="0">
              <a:buNone/>
            </a:pPr>
            <a:r>
              <a:rPr lang="en-US" sz="950" b="1" dirty="0">
                <a:solidFill>
                  <a:srgbClr val="38BDF8"/>
                </a:solidFill>
              </a:rPr>
              <a:t>Read-only</a:t>
            </a:r>
            <a:endParaRPr lang="en-US" sz="950" dirty="0"/>
          </a:p>
        </p:txBody>
      </p:sp>
      <p:sp>
        <p:nvSpPr>
          <p:cNvPr id="14" name="Shape 12"/>
          <p:cNvSpPr/>
          <p:nvPr/>
        </p:nvSpPr>
        <p:spPr>
          <a:xfrm>
            <a:off x="6391656" y="1719072"/>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5" name="Shape 13"/>
          <p:cNvSpPr/>
          <p:nvPr/>
        </p:nvSpPr>
        <p:spPr>
          <a:xfrm>
            <a:off x="6391656" y="1719072"/>
            <a:ext cx="54864" cy="1170432"/>
          </a:xfrm>
          <a:prstGeom prst="rect">
            <a:avLst/>
          </a:prstGeom>
          <a:solidFill>
            <a:srgbClr val="3DDC97"/>
          </a:solidFill>
          <a:ln w="12700">
            <a:solidFill>
              <a:srgbClr val="3DDC97">
                <a:alpha val="0"/>
              </a:srgbClr>
            </a:solidFill>
            <a:prstDash val="solid"/>
          </a:ln>
        </p:spPr>
      </p:sp>
      <p:sp>
        <p:nvSpPr>
          <p:cNvPr id="16" name="Text 14"/>
          <p:cNvSpPr/>
          <p:nvPr/>
        </p:nvSpPr>
        <p:spPr>
          <a:xfrm>
            <a:off x="6647688" y="1883664"/>
            <a:ext cx="4901184" cy="329184"/>
          </a:xfrm>
          <a:prstGeom prst="rect">
            <a:avLst/>
          </a:prstGeom>
          <a:noFill/>
          <a:ln/>
        </p:spPr>
        <p:txBody>
          <a:bodyPr wrap="square" lIns="0" tIns="0" rIns="0" bIns="0" rtlCol="0" anchor="ctr"/>
          <a:lstStyle/>
          <a:p>
            <a:pPr indent="0" marL="0">
              <a:buNone/>
            </a:pPr>
            <a:r>
              <a:rPr lang="en-US" sz="1600" b="1" dirty="0">
                <a:solidFill>
                  <a:srgbClr val="F7FAFC"/>
                </a:solidFill>
              </a:rPr>
              <a:t>Repository research</a:t>
            </a:r>
            <a:endParaRPr lang="en-US" sz="1600" dirty="0"/>
          </a:p>
        </p:txBody>
      </p:sp>
      <p:sp>
        <p:nvSpPr>
          <p:cNvPr id="17" name="Text 15"/>
          <p:cNvSpPr/>
          <p:nvPr/>
        </p:nvSpPr>
        <p:spPr>
          <a:xfrm>
            <a:off x="6647688" y="2350008"/>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Trace code paths, dependencies, and likely change surfaces before editing.</a:t>
            </a:r>
            <a:endParaRPr lang="en-US" sz="1150" dirty="0"/>
          </a:p>
        </p:txBody>
      </p:sp>
      <p:sp>
        <p:nvSpPr>
          <p:cNvPr id="18" name="Shape 16"/>
          <p:cNvSpPr/>
          <p:nvPr/>
        </p:nvSpPr>
        <p:spPr>
          <a:xfrm>
            <a:off x="10579608" y="1865376"/>
            <a:ext cx="932688" cy="310896"/>
          </a:xfrm>
          <a:prstGeom prst="roundRect">
            <a:avLst>
              <a:gd name="adj" fmla="val 23529"/>
            </a:avLst>
          </a:prstGeom>
          <a:solidFill>
            <a:srgbClr val="3DDC97">
              <a:alpha val="14000"/>
            </a:srgbClr>
          </a:solidFill>
          <a:ln w="10160">
            <a:solidFill>
              <a:srgbClr val="3DDC97">
                <a:alpha val="40000"/>
              </a:srgbClr>
            </a:solidFill>
            <a:prstDash val="solid"/>
          </a:ln>
        </p:spPr>
      </p:sp>
      <p:sp>
        <p:nvSpPr>
          <p:cNvPr id="19" name="Text 17"/>
          <p:cNvSpPr/>
          <p:nvPr/>
        </p:nvSpPr>
        <p:spPr>
          <a:xfrm>
            <a:off x="10652760" y="1915668"/>
            <a:ext cx="786384" cy="164592"/>
          </a:xfrm>
          <a:prstGeom prst="rect">
            <a:avLst/>
          </a:prstGeom>
          <a:noFill/>
          <a:ln/>
        </p:spPr>
        <p:txBody>
          <a:bodyPr wrap="square" lIns="0" tIns="0" rIns="0" bIns="0" rtlCol="0" anchor="ctr"/>
          <a:lstStyle/>
          <a:p>
            <a:pPr algn="ctr" indent="0" marL="0">
              <a:buNone/>
            </a:pPr>
            <a:r>
              <a:rPr lang="en-US" sz="950" b="1" dirty="0">
                <a:solidFill>
                  <a:srgbClr val="3DDC97"/>
                </a:solidFill>
              </a:rPr>
              <a:t>Read-only</a:t>
            </a:r>
            <a:endParaRPr lang="en-US" sz="950" dirty="0"/>
          </a:p>
        </p:txBody>
      </p:sp>
      <p:sp>
        <p:nvSpPr>
          <p:cNvPr id="20" name="Shape 18"/>
          <p:cNvSpPr/>
          <p:nvPr/>
        </p:nvSpPr>
        <p:spPr>
          <a:xfrm>
            <a:off x="658368" y="3163824"/>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21" name="Shape 19"/>
          <p:cNvSpPr/>
          <p:nvPr/>
        </p:nvSpPr>
        <p:spPr>
          <a:xfrm>
            <a:off x="658368" y="3163824"/>
            <a:ext cx="54864" cy="1170432"/>
          </a:xfrm>
          <a:prstGeom prst="rect">
            <a:avLst/>
          </a:prstGeom>
          <a:solidFill>
            <a:srgbClr val="A78BFA"/>
          </a:solidFill>
          <a:ln w="12700">
            <a:solidFill>
              <a:srgbClr val="A78BFA">
                <a:alpha val="0"/>
              </a:srgbClr>
            </a:solidFill>
            <a:prstDash val="solid"/>
          </a:ln>
        </p:spPr>
      </p:sp>
      <p:sp>
        <p:nvSpPr>
          <p:cNvPr id="22" name="Text 20"/>
          <p:cNvSpPr/>
          <p:nvPr/>
        </p:nvSpPr>
        <p:spPr>
          <a:xfrm>
            <a:off x="914400" y="3328416"/>
            <a:ext cx="4901184" cy="329184"/>
          </a:xfrm>
          <a:prstGeom prst="rect">
            <a:avLst/>
          </a:prstGeom>
          <a:noFill/>
          <a:ln/>
        </p:spPr>
        <p:txBody>
          <a:bodyPr wrap="square" lIns="0" tIns="0" rIns="0" bIns="0" rtlCol="0" anchor="ctr"/>
          <a:lstStyle/>
          <a:p>
            <a:pPr indent="0" marL="0">
              <a:buNone/>
            </a:pPr>
            <a:r>
              <a:rPr lang="en-US" sz="1600" b="1" dirty="0">
                <a:solidFill>
                  <a:srgbClr val="F7FAFC"/>
                </a:solidFill>
              </a:rPr>
              <a:t>Targeted implementation</a:t>
            </a:r>
            <a:endParaRPr lang="en-US" sz="1600" dirty="0"/>
          </a:p>
        </p:txBody>
      </p:sp>
      <p:sp>
        <p:nvSpPr>
          <p:cNvPr id="23" name="Text 21"/>
          <p:cNvSpPr/>
          <p:nvPr/>
        </p:nvSpPr>
        <p:spPr>
          <a:xfrm>
            <a:off x="914400" y="3794760"/>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Create a worktree, make scoped changes, and return changed files plus test evidence.</a:t>
            </a:r>
            <a:endParaRPr lang="en-US" sz="1150" dirty="0"/>
          </a:p>
        </p:txBody>
      </p:sp>
      <p:sp>
        <p:nvSpPr>
          <p:cNvPr id="24" name="Shape 22"/>
          <p:cNvSpPr/>
          <p:nvPr/>
        </p:nvSpPr>
        <p:spPr>
          <a:xfrm>
            <a:off x="4846320" y="3310128"/>
            <a:ext cx="932688" cy="310896"/>
          </a:xfrm>
          <a:prstGeom prst="roundRect">
            <a:avLst>
              <a:gd name="adj" fmla="val 23529"/>
            </a:avLst>
          </a:prstGeom>
          <a:solidFill>
            <a:srgbClr val="A78BFA">
              <a:alpha val="14000"/>
            </a:srgbClr>
          </a:solidFill>
          <a:ln w="10160">
            <a:solidFill>
              <a:srgbClr val="A78BFA">
                <a:alpha val="40000"/>
              </a:srgbClr>
            </a:solidFill>
            <a:prstDash val="solid"/>
          </a:ln>
        </p:spPr>
      </p:sp>
      <p:sp>
        <p:nvSpPr>
          <p:cNvPr id="25" name="Text 23"/>
          <p:cNvSpPr/>
          <p:nvPr/>
        </p:nvSpPr>
        <p:spPr>
          <a:xfrm>
            <a:off x="4919472" y="3360420"/>
            <a:ext cx="786384" cy="164592"/>
          </a:xfrm>
          <a:prstGeom prst="rect">
            <a:avLst/>
          </a:prstGeom>
          <a:noFill/>
          <a:ln/>
        </p:spPr>
        <p:txBody>
          <a:bodyPr wrap="square" lIns="0" tIns="0" rIns="0" bIns="0" rtlCol="0" anchor="ctr"/>
          <a:lstStyle/>
          <a:p>
            <a:pPr algn="ctr" indent="0" marL="0">
              <a:buNone/>
            </a:pPr>
            <a:r>
              <a:rPr lang="en-US" sz="950" b="1" dirty="0">
                <a:solidFill>
                  <a:srgbClr val="A78BFA"/>
                </a:solidFill>
              </a:rPr>
              <a:t>Write</a:t>
            </a:r>
            <a:endParaRPr lang="en-US" sz="950" dirty="0"/>
          </a:p>
        </p:txBody>
      </p:sp>
      <p:sp>
        <p:nvSpPr>
          <p:cNvPr id="26" name="Shape 24"/>
          <p:cNvSpPr/>
          <p:nvPr/>
        </p:nvSpPr>
        <p:spPr>
          <a:xfrm>
            <a:off x="6391656" y="3163824"/>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27" name="Shape 25"/>
          <p:cNvSpPr/>
          <p:nvPr/>
        </p:nvSpPr>
        <p:spPr>
          <a:xfrm>
            <a:off x="6391656" y="3163824"/>
            <a:ext cx="54864" cy="1170432"/>
          </a:xfrm>
          <a:prstGeom prst="rect">
            <a:avLst/>
          </a:prstGeom>
          <a:solidFill>
            <a:srgbClr val="F7C948"/>
          </a:solidFill>
          <a:ln w="12700">
            <a:solidFill>
              <a:srgbClr val="F7C948">
                <a:alpha val="0"/>
              </a:srgbClr>
            </a:solidFill>
            <a:prstDash val="solid"/>
          </a:ln>
        </p:spPr>
      </p:sp>
      <p:sp>
        <p:nvSpPr>
          <p:cNvPr id="28" name="Text 26"/>
          <p:cNvSpPr/>
          <p:nvPr/>
        </p:nvSpPr>
        <p:spPr>
          <a:xfrm>
            <a:off x="6647688" y="3328416"/>
            <a:ext cx="4901184" cy="329184"/>
          </a:xfrm>
          <a:prstGeom prst="rect">
            <a:avLst/>
          </a:prstGeom>
          <a:noFill/>
          <a:ln/>
        </p:spPr>
        <p:txBody>
          <a:bodyPr wrap="square" lIns="0" tIns="0" rIns="0" bIns="0" rtlCol="0" anchor="ctr"/>
          <a:lstStyle/>
          <a:p>
            <a:pPr indent="0" marL="0">
              <a:buNone/>
            </a:pPr>
            <a:r>
              <a:rPr lang="en-US" sz="1600" b="1" dirty="0">
                <a:solidFill>
                  <a:srgbClr val="F7FAFC"/>
                </a:solidFill>
              </a:rPr>
              <a:t>Parallel review</a:t>
            </a:r>
            <a:endParaRPr lang="en-US" sz="1600" dirty="0"/>
          </a:p>
        </p:txBody>
      </p:sp>
      <p:sp>
        <p:nvSpPr>
          <p:cNvPr id="29" name="Text 27"/>
          <p:cNvSpPr/>
          <p:nvPr/>
        </p:nvSpPr>
        <p:spPr>
          <a:xfrm>
            <a:off x="6647688" y="3794760"/>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Fan out security, architecture, testability, and documentation reviews; synthesize findings.</a:t>
            </a:r>
            <a:endParaRPr lang="en-US" sz="1150" dirty="0"/>
          </a:p>
        </p:txBody>
      </p:sp>
      <p:sp>
        <p:nvSpPr>
          <p:cNvPr id="30" name="Shape 28"/>
          <p:cNvSpPr/>
          <p:nvPr/>
        </p:nvSpPr>
        <p:spPr>
          <a:xfrm>
            <a:off x="10579608" y="3310128"/>
            <a:ext cx="932688" cy="310896"/>
          </a:xfrm>
          <a:prstGeom prst="roundRect">
            <a:avLst>
              <a:gd name="adj" fmla="val 23529"/>
            </a:avLst>
          </a:prstGeom>
          <a:solidFill>
            <a:srgbClr val="F7C948">
              <a:alpha val="14000"/>
            </a:srgbClr>
          </a:solidFill>
          <a:ln w="10160">
            <a:solidFill>
              <a:srgbClr val="F7C948">
                <a:alpha val="40000"/>
              </a:srgbClr>
            </a:solidFill>
            <a:prstDash val="solid"/>
          </a:ln>
        </p:spPr>
      </p:sp>
      <p:sp>
        <p:nvSpPr>
          <p:cNvPr id="31" name="Text 29"/>
          <p:cNvSpPr/>
          <p:nvPr/>
        </p:nvSpPr>
        <p:spPr>
          <a:xfrm>
            <a:off x="10652760" y="3360420"/>
            <a:ext cx="786384" cy="164592"/>
          </a:xfrm>
          <a:prstGeom prst="rect">
            <a:avLst/>
          </a:prstGeom>
          <a:noFill/>
          <a:ln/>
        </p:spPr>
        <p:txBody>
          <a:bodyPr wrap="square" lIns="0" tIns="0" rIns="0" bIns="0" rtlCol="0" anchor="ctr"/>
          <a:lstStyle/>
          <a:p>
            <a:pPr algn="ctr" indent="0" marL="0">
              <a:buNone/>
            </a:pPr>
            <a:r>
              <a:rPr lang="en-US" sz="950" b="1" dirty="0">
                <a:solidFill>
                  <a:srgbClr val="F7C948"/>
                </a:solidFill>
              </a:rPr>
              <a:t>Parallel</a:t>
            </a:r>
            <a:endParaRPr lang="en-US" sz="950" dirty="0"/>
          </a:p>
        </p:txBody>
      </p:sp>
      <p:sp>
        <p:nvSpPr>
          <p:cNvPr id="32" name="Shape 30"/>
          <p:cNvSpPr/>
          <p:nvPr/>
        </p:nvSpPr>
        <p:spPr>
          <a:xfrm>
            <a:off x="658368" y="4608576"/>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33" name="Shape 31"/>
          <p:cNvSpPr/>
          <p:nvPr/>
        </p:nvSpPr>
        <p:spPr>
          <a:xfrm>
            <a:off x="658368" y="4608576"/>
            <a:ext cx="54864" cy="1170432"/>
          </a:xfrm>
          <a:prstGeom prst="rect">
            <a:avLst/>
          </a:prstGeom>
          <a:solidFill>
            <a:srgbClr val="4F7CFF"/>
          </a:solidFill>
          <a:ln w="12700">
            <a:solidFill>
              <a:srgbClr val="4F7CFF">
                <a:alpha val="0"/>
              </a:srgbClr>
            </a:solidFill>
            <a:prstDash val="solid"/>
          </a:ln>
        </p:spPr>
      </p:sp>
      <p:sp>
        <p:nvSpPr>
          <p:cNvPr id="34" name="Text 32"/>
          <p:cNvSpPr/>
          <p:nvPr/>
        </p:nvSpPr>
        <p:spPr>
          <a:xfrm>
            <a:off x="914400" y="4773168"/>
            <a:ext cx="4901184" cy="329184"/>
          </a:xfrm>
          <a:prstGeom prst="rect">
            <a:avLst/>
          </a:prstGeom>
          <a:noFill/>
          <a:ln/>
        </p:spPr>
        <p:txBody>
          <a:bodyPr wrap="square" lIns="0" tIns="0" rIns="0" bIns="0" rtlCol="0" anchor="ctr"/>
          <a:lstStyle/>
          <a:p>
            <a:pPr indent="0" marL="0">
              <a:buNone/>
            </a:pPr>
            <a:r>
              <a:rPr lang="en-US" sz="1600" b="1" dirty="0">
                <a:solidFill>
                  <a:srgbClr val="F7FAFC"/>
                </a:solidFill>
              </a:rPr>
              <a:t>Migration support</a:t>
            </a:r>
            <a:endParaRPr lang="en-US" sz="1600" dirty="0"/>
          </a:p>
        </p:txBody>
      </p:sp>
      <p:sp>
        <p:nvSpPr>
          <p:cNvPr id="35" name="Text 33"/>
          <p:cNvSpPr/>
          <p:nvPr/>
        </p:nvSpPr>
        <p:spPr>
          <a:xfrm>
            <a:off x="914400" y="5239512"/>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Divide independent packages or files among workers and verify the combined result.</a:t>
            </a:r>
            <a:endParaRPr lang="en-US" sz="1150" dirty="0"/>
          </a:p>
        </p:txBody>
      </p:sp>
      <p:sp>
        <p:nvSpPr>
          <p:cNvPr id="36" name="Shape 34"/>
          <p:cNvSpPr/>
          <p:nvPr/>
        </p:nvSpPr>
        <p:spPr>
          <a:xfrm>
            <a:off x="4846320" y="4754880"/>
            <a:ext cx="932688" cy="310896"/>
          </a:xfrm>
          <a:prstGeom prst="roundRect">
            <a:avLst>
              <a:gd name="adj" fmla="val 23529"/>
            </a:avLst>
          </a:prstGeom>
          <a:solidFill>
            <a:srgbClr val="4F7CFF">
              <a:alpha val="14000"/>
            </a:srgbClr>
          </a:solidFill>
          <a:ln w="10160">
            <a:solidFill>
              <a:srgbClr val="4F7CFF">
                <a:alpha val="40000"/>
              </a:srgbClr>
            </a:solidFill>
            <a:prstDash val="solid"/>
          </a:ln>
        </p:spPr>
      </p:sp>
      <p:sp>
        <p:nvSpPr>
          <p:cNvPr id="37" name="Text 35"/>
          <p:cNvSpPr/>
          <p:nvPr/>
        </p:nvSpPr>
        <p:spPr>
          <a:xfrm>
            <a:off x="4919472" y="4805172"/>
            <a:ext cx="786384" cy="164592"/>
          </a:xfrm>
          <a:prstGeom prst="rect">
            <a:avLst/>
          </a:prstGeom>
          <a:noFill/>
          <a:ln/>
        </p:spPr>
        <p:txBody>
          <a:bodyPr wrap="square" lIns="0" tIns="0" rIns="0" bIns="0" rtlCol="0" anchor="ctr"/>
          <a:lstStyle/>
          <a:p>
            <a:pPr algn="ctr" indent="0" marL="0">
              <a:buNone/>
            </a:pPr>
            <a:r>
              <a:rPr lang="en-US" sz="950" b="1" dirty="0">
                <a:solidFill>
                  <a:srgbClr val="4F7CFF"/>
                </a:solidFill>
              </a:rPr>
              <a:t>Fleet</a:t>
            </a:r>
            <a:endParaRPr lang="en-US" sz="950" dirty="0"/>
          </a:p>
        </p:txBody>
      </p:sp>
      <p:sp>
        <p:nvSpPr>
          <p:cNvPr id="38" name="Shape 36"/>
          <p:cNvSpPr/>
          <p:nvPr/>
        </p:nvSpPr>
        <p:spPr>
          <a:xfrm>
            <a:off x="6391656" y="4608576"/>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39" name="Shape 37"/>
          <p:cNvSpPr/>
          <p:nvPr/>
        </p:nvSpPr>
        <p:spPr>
          <a:xfrm>
            <a:off x="6391656" y="4608576"/>
            <a:ext cx="54864" cy="1170432"/>
          </a:xfrm>
          <a:prstGeom prst="rect">
            <a:avLst/>
          </a:prstGeom>
          <a:solidFill>
            <a:srgbClr val="FF6B6B"/>
          </a:solidFill>
          <a:ln w="12700">
            <a:solidFill>
              <a:srgbClr val="FF6B6B">
                <a:alpha val="0"/>
              </a:srgbClr>
            </a:solidFill>
            <a:prstDash val="solid"/>
          </a:ln>
        </p:spPr>
      </p:sp>
      <p:sp>
        <p:nvSpPr>
          <p:cNvPr id="40" name="Text 38"/>
          <p:cNvSpPr/>
          <p:nvPr/>
        </p:nvSpPr>
        <p:spPr>
          <a:xfrm>
            <a:off x="6647688" y="4773168"/>
            <a:ext cx="4901184" cy="329184"/>
          </a:xfrm>
          <a:prstGeom prst="rect">
            <a:avLst/>
          </a:prstGeom>
          <a:noFill/>
          <a:ln/>
        </p:spPr>
        <p:txBody>
          <a:bodyPr wrap="square" lIns="0" tIns="0" rIns="0" bIns="0" rtlCol="0" anchor="ctr"/>
          <a:lstStyle/>
          <a:p>
            <a:pPr indent="0" marL="0">
              <a:buNone/>
            </a:pPr>
            <a:r>
              <a:rPr lang="en-US" sz="1600" b="1" dirty="0">
                <a:solidFill>
                  <a:srgbClr val="F7FAFC"/>
                </a:solidFill>
              </a:rPr>
              <a:t>Release handoff</a:t>
            </a:r>
            <a:endParaRPr lang="en-US" sz="1600" dirty="0"/>
          </a:p>
        </p:txBody>
      </p:sp>
      <p:sp>
        <p:nvSpPr>
          <p:cNvPr id="41" name="Text 39"/>
          <p:cNvSpPr/>
          <p:nvPr/>
        </p:nvSpPr>
        <p:spPr>
          <a:xfrm>
            <a:off x="6647688" y="5239512"/>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Produce a typed summary for CI, release notes, or a human approval gate.</a:t>
            </a:r>
            <a:endParaRPr lang="en-US" sz="1150" dirty="0"/>
          </a:p>
        </p:txBody>
      </p:sp>
      <p:sp>
        <p:nvSpPr>
          <p:cNvPr id="42" name="Shape 40"/>
          <p:cNvSpPr/>
          <p:nvPr/>
        </p:nvSpPr>
        <p:spPr>
          <a:xfrm>
            <a:off x="10579608" y="4754880"/>
            <a:ext cx="932688" cy="310896"/>
          </a:xfrm>
          <a:prstGeom prst="roundRect">
            <a:avLst>
              <a:gd name="adj" fmla="val 23529"/>
            </a:avLst>
          </a:prstGeom>
          <a:solidFill>
            <a:srgbClr val="FF6B6B">
              <a:alpha val="14000"/>
            </a:srgbClr>
          </a:solidFill>
          <a:ln w="10160">
            <a:solidFill>
              <a:srgbClr val="FF6B6B">
                <a:alpha val="40000"/>
              </a:srgbClr>
            </a:solidFill>
            <a:prstDash val="solid"/>
          </a:ln>
        </p:spPr>
      </p:sp>
      <p:sp>
        <p:nvSpPr>
          <p:cNvPr id="43" name="Text 41"/>
          <p:cNvSpPr/>
          <p:nvPr/>
        </p:nvSpPr>
        <p:spPr>
          <a:xfrm>
            <a:off x="10652760" y="4805172"/>
            <a:ext cx="786384" cy="164592"/>
          </a:xfrm>
          <a:prstGeom prst="rect">
            <a:avLst/>
          </a:prstGeom>
          <a:noFill/>
          <a:ln/>
        </p:spPr>
        <p:txBody>
          <a:bodyPr wrap="square" lIns="0" tIns="0" rIns="0" bIns="0" rtlCol="0" anchor="ctr"/>
          <a:lstStyle/>
          <a:p>
            <a:pPr algn="ctr" indent="0" marL="0">
              <a:buNone/>
            </a:pPr>
            <a:r>
              <a:rPr lang="en-US" sz="950" b="1" dirty="0">
                <a:solidFill>
                  <a:srgbClr val="FF6B6B"/>
                </a:solidFill>
              </a:rPr>
              <a:t>Structured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VALUE</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QA use cases</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The strongest QA value is evidence synthesis and coverage expansion—not autonomous pass/fail authority.</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8</a:t>
            </a:r>
            <a:endParaRPr lang="en-US" sz="850" dirty="0"/>
          </a:p>
        </p:txBody>
      </p:sp>
      <p:sp>
        <p:nvSpPr>
          <p:cNvPr id="8" name="Shape 6"/>
          <p:cNvSpPr/>
          <p:nvPr/>
        </p:nvSpPr>
        <p:spPr>
          <a:xfrm>
            <a:off x="658368" y="1755648"/>
            <a:ext cx="3493008" cy="1645920"/>
          </a:xfrm>
          <a:prstGeom prst="roundRect">
            <a:avLst>
              <a:gd name="adj" fmla="val 444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9" name="Shape 7"/>
          <p:cNvSpPr/>
          <p:nvPr/>
        </p:nvSpPr>
        <p:spPr>
          <a:xfrm>
            <a:off x="658368" y="1755648"/>
            <a:ext cx="54864" cy="1645920"/>
          </a:xfrm>
          <a:prstGeom prst="rect">
            <a:avLst/>
          </a:prstGeom>
          <a:solidFill>
            <a:srgbClr val="38BDF8"/>
          </a:solidFill>
          <a:ln w="12700">
            <a:solidFill>
              <a:srgbClr val="38BDF8">
                <a:alpha val="0"/>
              </a:srgbClr>
            </a:solidFill>
            <a:prstDash val="solid"/>
          </a:ln>
        </p:spPr>
      </p:sp>
      <p:sp>
        <p:nvSpPr>
          <p:cNvPr id="10" name="Text 8"/>
          <p:cNvSpPr/>
          <p:nvPr/>
        </p:nvSpPr>
        <p:spPr>
          <a:xfrm>
            <a:off x="877824" y="1938528"/>
            <a:ext cx="438912" cy="292608"/>
          </a:xfrm>
          <a:prstGeom prst="rect">
            <a:avLst/>
          </a:prstGeom>
          <a:noFill/>
          <a:ln/>
        </p:spPr>
        <p:txBody>
          <a:bodyPr wrap="square" lIns="0" tIns="0" rIns="0" bIns="0" rtlCol="0" anchor="ctr"/>
          <a:lstStyle/>
          <a:p>
            <a:pPr indent="0" marL="0">
              <a:buNone/>
            </a:pPr>
            <a:r>
              <a:rPr lang="en-US" sz="1500" b="1" dirty="0">
                <a:solidFill>
                  <a:srgbClr val="38BDF8"/>
                </a:solidFill>
              </a:rPr>
              <a:t>01</a:t>
            </a:r>
            <a:endParaRPr lang="en-US" sz="1500" dirty="0"/>
          </a:p>
        </p:txBody>
      </p:sp>
      <p:sp>
        <p:nvSpPr>
          <p:cNvPr id="11" name="Text 9"/>
          <p:cNvSpPr/>
          <p:nvPr/>
        </p:nvSpPr>
        <p:spPr>
          <a:xfrm>
            <a:off x="1380744" y="1920240"/>
            <a:ext cx="2551176" cy="329184"/>
          </a:xfrm>
          <a:prstGeom prst="rect">
            <a:avLst/>
          </a:prstGeom>
          <a:noFill/>
          <a:ln/>
        </p:spPr>
        <p:txBody>
          <a:bodyPr wrap="square" lIns="0" tIns="0" rIns="0" bIns="0" rtlCol="0" anchor="ctr"/>
          <a:lstStyle/>
          <a:p>
            <a:pPr indent="0" marL="0">
              <a:buNone/>
            </a:pPr>
            <a:r>
              <a:rPr lang="en-US" sz="1600" b="1" dirty="0">
                <a:solidFill>
                  <a:srgbClr val="F7FAFC"/>
                </a:solidFill>
              </a:rPr>
              <a:t>Requirements</a:t>
            </a:r>
            <a:endParaRPr lang="en-US" sz="1600" dirty="0"/>
          </a:p>
        </p:txBody>
      </p:sp>
      <p:sp>
        <p:nvSpPr>
          <p:cNvPr id="12" name="Text 10"/>
          <p:cNvSpPr/>
          <p:nvPr/>
        </p:nvSpPr>
        <p:spPr>
          <a:xfrm>
            <a:off x="914400" y="2386584"/>
            <a:ext cx="2980944" cy="841248"/>
          </a:xfrm>
          <a:prstGeom prst="rect">
            <a:avLst/>
          </a:prstGeom>
          <a:noFill/>
          <a:ln/>
        </p:spPr>
        <p:txBody>
          <a:bodyPr wrap="square" lIns="254" tIns="254" rIns="254" bIns="254" rtlCol="0" anchor="t"/>
          <a:lstStyle/>
          <a:p>
            <a:pPr indent="0" marL="0">
              <a:buNone/>
            </a:pPr>
            <a:r>
              <a:rPr lang="en-US" sz="1150" dirty="0">
                <a:solidFill>
                  <a:srgbClr val="D8E3F0"/>
                </a:solidFill>
              </a:rPr>
              <a:t>Turn acceptance criteria into risks, scenarios, and traceability.</a:t>
            </a:r>
            <a:endParaRPr lang="en-US" sz="1150" dirty="0"/>
          </a:p>
        </p:txBody>
      </p:sp>
      <p:sp>
        <p:nvSpPr>
          <p:cNvPr id="13" name="Shape 11"/>
          <p:cNvSpPr/>
          <p:nvPr/>
        </p:nvSpPr>
        <p:spPr>
          <a:xfrm>
            <a:off x="4498848" y="1755648"/>
            <a:ext cx="3493008" cy="1645920"/>
          </a:xfrm>
          <a:prstGeom prst="roundRect">
            <a:avLst>
              <a:gd name="adj" fmla="val 444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4" name="Shape 12"/>
          <p:cNvSpPr/>
          <p:nvPr/>
        </p:nvSpPr>
        <p:spPr>
          <a:xfrm>
            <a:off x="4498848" y="1755648"/>
            <a:ext cx="54864" cy="1645920"/>
          </a:xfrm>
          <a:prstGeom prst="rect">
            <a:avLst/>
          </a:prstGeom>
          <a:solidFill>
            <a:srgbClr val="3DDC97"/>
          </a:solidFill>
          <a:ln w="12700">
            <a:solidFill>
              <a:srgbClr val="3DDC97">
                <a:alpha val="0"/>
              </a:srgbClr>
            </a:solidFill>
            <a:prstDash val="solid"/>
          </a:ln>
        </p:spPr>
      </p:sp>
      <p:sp>
        <p:nvSpPr>
          <p:cNvPr id="15" name="Text 13"/>
          <p:cNvSpPr/>
          <p:nvPr/>
        </p:nvSpPr>
        <p:spPr>
          <a:xfrm>
            <a:off x="4718304" y="1938528"/>
            <a:ext cx="438912" cy="292608"/>
          </a:xfrm>
          <a:prstGeom prst="rect">
            <a:avLst/>
          </a:prstGeom>
          <a:noFill/>
          <a:ln/>
        </p:spPr>
        <p:txBody>
          <a:bodyPr wrap="square" lIns="0" tIns="0" rIns="0" bIns="0" rtlCol="0" anchor="ctr"/>
          <a:lstStyle/>
          <a:p>
            <a:pPr indent="0" marL="0">
              <a:buNone/>
            </a:pPr>
            <a:r>
              <a:rPr lang="en-US" sz="1500" b="1" dirty="0">
                <a:solidFill>
                  <a:srgbClr val="3DDC97"/>
                </a:solidFill>
              </a:rPr>
              <a:t>02</a:t>
            </a:r>
            <a:endParaRPr lang="en-US" sz="1500" dirty="0"/>
          </a:p>
        </p:txBody>
      </p:sp>
      <p:sp>
        <p:nvSpPr>
          <p:cNvPr id="16" name="Text 14"/>
          <p:cNvSpPr/>
          <p:nvPr/>
        </p:nvSpPr>
        <p:spPr>
          <a:xfrm>
            <a:off x="5221224" y="1920240"/>
            <a:ext cx="2551176" cy="329184"/>
          </a:xfrm>
          <a:prstGeom prst="rect">
            <a:avLst/>
          </a:prstGeom>
          <a:noFill/>
          <a:ln/>
        </p:spPr>
        <p:txBody>
          <a:bodyPr wrap="square" lIns="0" tIns="0" rIns="0" bIns="0" rtlCol="0" anchor="ctr"/>
          <a:lstStyle/>
          <a:p>
            <a:pPr indent="0" marL="0">
              <a:buNone/>
            </a:pPr>
            <a:r>
              <a:rPr lang="en-US" sz="1600" b="1" dirty="0">
                <a:solidFill>
                  <a:srgbClr val="F7FAFC"/>
                </a:solidFill>
              </a:rPr>
              <a:t>Test design</a:t>
            </a:r>
            <a:endParaRPr lang="en-US" sz="1600" dirty="0"/>
          </a:p>
        </p:txBody>
      </p:sp>
      <p:sp>
        <p:nvSpPr>
          <p:cNvPr id="17" name="Text 15"/>
          <p:cNvSpPr/>
          <p:nvPr/>
        </p:nvSpPr>
        <p:spPr>
          <a:xfrm>
            <a:off x="4754880" y="2386584"/>
            <a:ext cx="2980944" cy="841248"/>
          </a:xfrm>
          <a:prstGeom prst="rect">
            <a:avLst/>
          </a:prstGeom>
          <a:noFill/>
          <a:ln/>
        </p:spPr>
        <p:txBody>
          <a:bodyPr wrap="square" lIns="254" tIns="254" rIns="254" bIns="254" rtlCol="0" anchor="t"/>
          <a:lstStyle/>
          <a:p>
            <a:pPr indent="0" marL="0">
              <a:buNone/>
            </a:pPr>
            <a:r>
              <a:rPr lang="en-US" sz="1150" dirty="0">
                <a:solidFill>
                  <a:srgbClr val="D8E3F0"/>
                </a:solidFill>
              </a:rPr>
              <a:t>Generate positive, negative, boundary, and data-variation cases.</a:t>
            </a:r>
            <a:endParaRPr lang="en-US" sz="1150" dirty="0"/>
          </a:p>
        </p:txBody>
      </p:sp>
      <p:sp>
        <p:nvSpPr>
          <p:cNvPr id="18" name="Shape 16"/>
          <p:cNvSpPr/>
          <p:nvPr/>
        </p:nvSpPr>
        <p:spPr>
          <a:xfrm>
            <a:off x="8339328" y="1755648"/>
            <a:ext cx="3493008" cy="1645920"/>
          </a:xfrm>
          <a:prstGeom prst="roundRect">
            <a:avLst>
              <a:gd name="adj" fmla="val 444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9" name="Shape 17"/>
          <p:cNvSpPr/>
          <p:nvPr/>
        </p:nvSpPr>
        <p:spPr>
          <a:xfrm>
            <a:off x="8339328" y="1755648"/>
            <a:ext cx="54864" cy="1645920"/>
          </a:xfrm>
          <a:prstGeom prst="rect">
            <a:avLst/>
          </a:prstGeom>
          <a:solidFill>
            <a:srgbClr val="4F7CFF"/>
          </a:solidFill>
          <a:ln w="12700">
            <a:solidFill>
              <a:srgbClr val="4F7CFF">
                <a:alpha val="0"/>
              </a:srgbClr>
            </a:solidFill>
            <a:prstDash val="solid"/>
          </a:ln>
        </p:spPr>
      </p:sp>
      <p:sp>
        <p:nvSpPr>
          <p:cNvPr id="20" name="Text 18"/>
          <p:cNvSpPr/>
          <p:nvPr/>
        </p:nvSpPr>
        <p:spPr>
          <a:xfrm>
            <a:off x="8558784" y="1938528"/>
            <a:ext cx="438912" cy="292608"/>
          </a:xfrm>
          <a:prstGeom prst="rect">
            <a:avLst/>
          </a:prstGeom>
          <a:noFill/>
          <a:ln/>
        </p:spPr>
        <p:txBody>
          <a:bodyPr wrap="square" lIns="0" tIns="0" rIns="0" bIns="0" rtlCol="0" anchor="ctr"/>
          <a:lstStyle/>
          <a:p>
            <a:pPr indent="0" marL="0">
              <a:buNone/>
            </a:pPr>
            <a:r>
              <a:rPr lang="en-US" sz="1500" b="1" dirty="0">
                <a:solidFill>
                  <a:srgbClr val="4F7CFF"/>
                </a:solidFill>
              </a:rPr>
              <a:t>03</a:t>
            </a:r>
            <a:endParaRPr lang="en-US" sz="1500" dirty="0"/>
          </a:p>
        </p:txBody>
      </p:sp>
      <p:sp>
        <p:nvSpPr>
          <p:cNvPr id="21" name="Text 19"/>
          <p:cNvSpPr/>
          <p:nvPr/>
        </p:nvSpPr>
        <p:spPr>
          <a:xfrm>
            <a:off x="9061704" y="1920240"/>
            <a:ext cx="2551176" cy="329184"/>
          </a:xfrm>
          <a:prstGeom prst="rect">
            <a:avLst/>
          </a:prstGeom>
          <a:noFill/>
          <a:ln/>
        </p:spPr>
        <p:txBody>
          <a:bodyPr wrap="square" lIns="0" tIns="0" rIns="0" bIns="0" rtlCol="0" anchor="ctr"/>
          <a:lstStyle/>
          <a:p>
            <a:pPr indent="0" marL="0">
              <a:buNone/>
            </a:pPr>
            <a:r>
              <a:rPr lang="en-US" sz="1600" b="1" dirty="0">
                <a:solidFill>
                  <a:srgbClr val="F7FAFC"/>
                </a:solidFill>
              </a:rPr>
              <a:t>Execution support</a:t>
            </a:r>
            <a:endParaRPr lang="en-US" sz="1600" dirty="0"/>
          </a:p>
        </p:txBody>
      </p:sp>
      <p:sp>
        <p:nvSpPr>
          <p:cNvPr id="22" name="Text 20"/>
          <p:cNvSpPr/>
          <p:nvPr/>
        </p:nvSpPr>
        <p:spPr>
          <a:xfrm>
            <a:off x="8595360" y="2386584"/>
            <a:ext cx="2980944" cy="841248"/>
          </a:xfrm>
          <a:prstGeom prst="rect">
            <a:avLst/>
          </a:prstGeom>
          <a:noFill/>
          <a:ln/>
        </p:spPr>
        <p:txBody>
          <a:bodyPr wrap="square" lIns="254" tIns="254" rIns="254" bIns="254" rtlCol="0" anchor="t"/>
          <a:lstStyle/>
          <a:p>
            <a:pPr indent="0" marL="0">
              <a:buNone/>
            </a:pPr>
            <a:r>
              <a:rPr lang="en-US" sz="1150" dirty="0">
                <a:solidFill>
                  <a:srgbClr val="D8E3F0"/>
                </a:solidFill>
              </a:rPr>
              <a:t>Prepare environment checks, targeted suites, and reproducible commands.</a:t>
            </a:r>
            <a:endParaRPr lang="en-US" sz="1150" dirty="0"/>
          </a:p>
        </p:txBody>
      </p:sp>
      <p:sp>
        <p:nvSpPr>
          <p:cNvPr id="23" name="Shape 21"/>
          <p:cNvSpPr/>
          <p:nvPr/>
        </p:nvSpPr>
        <p:spPr>
          <a:xfrm>
            <a:off x="658368" y="3767328"/>
            <a:ext cx="3493008" cy="1645920"/>
          </a:xfrm>
          <a:prstGeom prst="roundRect">
            <a:avLst>
              <a:gd name="adj" fmla="val 444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24" name="Shape 22"/>
          <p:cNvSpPr/>
          <p:nvPr/>
        </p:nvSpPr>
        <p:spPr>
          <a:xfrm>
            <a:off x="658368" y="3767328"/>
            <a:ext cx="54864" cy="1645920"/>
          </a:xfrm>
          <a:prstGeom prst="rect">
            <a:avLst/>
          </a:prstGeom>
          <a:solidFill>
            <a:srgbClr val="FF6B6B"/>
          </a:solidFill>
          <a:ln w="12700">
            <a:solidFill>
              <a:srgbClr val="FF6B6B">
                <a:alpha val="0"/>
              </a:srgbClr>
            </a:solidFill>
            <a:prstDash val="solid"/>
          </a:ln>
        </p:spPr>
      </p:sp>
      <p:sp>
        <p:nvSpPr>
          <p:cNvPr id="25" name="Text 23"/>
          <p:cNvSpPr/>
          <p:nvPr/>
        </p:nvSpPr>
        <p:spPr>
          <a:xfrm>
            <a:off x="877824" y="3950208"/>
            <a:ext cx="438912" cy="292608"/>
          </a:xfrm>
          <a:prstGeom prst="rect">
            <a:avLst/>
          </a:prstGeom>
          <a:noFill/>
          <a:ln/>
        </p:spPr>
        <p:txBody>
          <a:bodyPr wrap="square" lIns="0" tIns="0" rIns="0" bIns="0" rtlCol="0" anchor="ctr"/>
          <a:lstStyle/>
          <a:p>
            <a:pPr indent="0" marL="0">
              <a:buNone/>
            </a:pPr>
            <a:r>
              <a:rPr lang="en-US" sz="1500" b="1" dirty="0">
                <a:solidFill>
                  <a:srgbClr val="FF6B6B"/>
                </a:solidFill>
              </a:rPr>
              <a:t>04</a:t>
            </a:r>
            <a:endParaRPr lang="en-US" sz="1500" dirty="0"/>
          </a:p>
        </p:txBody>
      </p:sp>
      <p:sp>
        <p:nvSpPr>
          <p:cNvPr id="26" name="Text 24"/>
          <p:cNvSpPr/>
          <p:nvPr/>
        </p:nvSpPr>
        <p:spPr>
          <a:xfrm>
            <a:off x="1380744" y="3931920"/>
            <a:ext cx="2551176" cy="329184"/>
          </a:xfrm>
          <a:prstGeom prst="rect">
            <a:avLst/>
          </a:prstGeom>
          <a:noFill/>
          <a:ln/>
        </p:spPr>
        <p:txBody>
          <a:bodyPr wrap="square" lIns="0" tIns="0" rIns="0" bIns="0" rtlCol="0" anchor="ctr"/>
          <a:lstStyle/>
          <a:p>
            <a:pPr indent="0" marL="0">
              <a:buNone/>
            </a:pPr>
            <a:r>
              <a:rPr lang="en-US" sz="1600" b="1" dirty="0">
                <a:solidFill>
                  <a:srgbClr val="F7FAFC"/>
                </a:solidFill>
              </a:rPr>
              <a:t>Failure triage</a:t>
            </a:r>
            <a:endParaRPr lang="en-US" sz="1600" dirty="0"/>
          </a:p>
        </p:txBody>
      </p:sp>
      <p:sp>
        <p:nvSpPr>
          <p:cNvPr id="27" name="Text 25"/>
          <p:cNvSpPr/>
          <p:nvPr/>
        </p:nvSpPr>
        <p:spPr>
          <a:xfrm>
            <a:off x="914400" y="4398264"/>
            <a:ext cx="2980944" cy="841248"/>
          </a:xfrm>
          <a:prstGeom prst="rect">
            <a:avLst/>
          </a:prstGeom>
          <a:noFill/>
          <a:ln/>
        </p:spPr>
        <p:txBody>
          <a:bodyPr wrap="square" lIns="254" tIns="254" rIns="254" bIns="254" rtlCol="0" anchor="t"/>
          <a:lstStyle/>
          <a:p>
            <a:pPr indent="0" marL="0">
              <a:buNone/>
            </a:pPr>
            <a:r>
              <a:rPr lang="en-US" sz="1150" dirty="0">
                <a:solidFill>
                  <a:srgbClr val="D8E3F0"/>
                </a:solidFill>
              </a:rPr>
              <a:t>Correlate changed files, logs, stack traces, and prior attempts.</a:t>
            </a:r>
            <a:endParaRPr lang="en-US" sz="1150" dirty="0"/>
          </a:p>
        </p:txBody>
      </p:sp>
      <p:sp>
        <p:nvSpPr>
          <p:cNvPr id="28" name="Shape 26"/>
          <p:cNvSpPr/>
          <p:nvPr/>
        </p:nvSpPr>
        <p:spPr>
          <a:xfrm>
            <a:off x="4498848" y="3767328"/>
            <a:ext cx="3493008" cy="1645920"/>
          </a:xfrm>
          <a:prstGeom prst="roundRect">
            <a:avLst>
              <a:gd name="adj" fmla="val 444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29" name="Shape 27"/>
          <p:cNvSpPr/>
          <p:nvPr/>
        </p:nvSpPr>
        <p:spPr>
          <a:xfrm>
            <a:off x="4498848" y="3767328"/>
            <a:ext cx="54864" cy="1645920"/>
          </a:xfrm>
          <a:prstGeom prst="rect">
            <a:avLst/>
          </a:prstGeom>
          <a:solidFill>
            <a:srgbClr val="A78BFA"/>
          </a:solidFill>
          <a:ln w="12700">
            <a:solidFill>
              <a:srgbClr val="A78BFA">
                <a:alpha val="0"/>
              </a:srgbClr>
            </a:solidFill>
            <a:prstDash val="solid"/>
          </a:ln>
        </p:spPr>
      </p:sp>
      <p:sp>
        <p:nvSpPr>
          <p:cNvPr id="30" name="Text 28"/>
          <p:cNvSpPr/>
          <p:nvPr/>
        </p:nvSpPr>
        <p:spPr>
          <a:xfrm>
            <a:off x="4718304" y="3950208"/>
            <a:ext cx="438912" cy="292608"/>
          </a:xfrm>
          <a:prstGeom prst="rect">
            <a:avLst/>
          </a:prstGeom>
          <a:noFill/>
          <a:ln/>
        </p:spPr>
        <p:txBody>
          <a:bodyPr wrap="square" lIns="0" tIns="0" rIns="0" bIns="0" rtlCol="0" anchor="ctr"/>
          <a:lstStyle/>
          <a:p>
            <a:pPr indent="0" marL="0">
              <a:buNone/>
            </a:pPr>
            <a:r>
              <a:rPr lang="en-US" sz="1500" b="1" dirty="0">
                <a:solidFill>
                  <a:srgbClr val="A78BFA"/>
                </a:solidFill>
              </a:rPr>
              <a:t>05</a:t>
            </a:r>
            <a:endParaRPr lang="en-US" sz="1500" dirty="0"/>
          </a:p>
        </p:txBody>
      </p:sp>
      <p:sp>
        <p:nvSpPr>
          <p:cNvPr id="31" name="Text 29"/>
          <p:cNvSpPr/>
          <p:nvPr/>
        </p:nvSpPr>
        <p:spPr>
          <a:xfrm>
            <a:off x="5221224" y="3931920"/>
            <a:ext cx="2551176" cy="329184"/>
          </a:xfrm>
          <a:prstGeom prst="rect">
            <a:avLst/>
          </a:prstGeom>
          <a:noFill/>
          <a:ln/>
        </p:spPr>
        <p:txBody>
          <a:bodyPr wrap="square" lIns="0" tIns="0" rIns="0" bIns="0" rtlCol="0" anchor="ctr"/>
          <a:lstStyle/>
          <a:p>
            <a:pPr indent="0" marL="0">
              <a:buNone/>
            </a:pPr>
            <a:r>
              <a:rPr lang="en-US" sz="1600" b="1" dirty="0">
                <a:solidFill>
                  <a:srgbClr val="F7FAFC"/>
                </a:solidFill>
              </a:rPr>
              <a:t>Report analysis</a:t>
            </a:r>
            <a:endParaRPr lang="en-US" sz="1600" dirty="0"/>
          </a:p>
        </p:txBody>
      </p:sp>
      <p:sp>
        <p:nvSpPr>
          <p:cNvPr id="32" name="Text 30"/>
          <p:cNvSpPr/>
          <p:nvPr/>
        </p:nvSpPr>
        <p:spPr>
          <a:xfrm>
            <a:off x="4754880" y="4398264"/>
            <a:ext cx="2980944" cy="841248"/>
          </a:xfrm>
          <a:prstGeom prst="rect">
            <a:avLst/>
          </a:prstGeom>
          <a:noFill/>
          <a:ln/>
        </p:spPr>
        <p:txBody>
          <a:bodyPr wrap="square" lIns="254" tIns="254" rIns="254" bIns="254" rtlCol="0" anchor="t"/>
          <a:lstStyle/>
          <a:p>
            <a:pPr indent="0" marL="0">
              <a:buNone/>
            </a:pPr>
            <a:r>
              <a:rPr lang="en-US" sz="1150" dirty="0">
                <a:solidFill>
                  <a:srgbClr val="D8E3F0"/>
                </a:solidFill>
              </a:rPr>
              <a:t>Summarize Serenity/JUnit evidence and highlight regression clusters.</a:t>
            </a:r>
            <a:endParaRPr lang="en-US" sz="1150" dirty="0"/>
          </a:p>
        </p:txBody>
      </p:sp>
      <p:sp>
        <p:nvSpPr>
          <p:cNvPr id="33" name="Shape 31"/>
          <p:cNvSpPr/>
          <p:nvPr/>
        </p:nvSpPr>
        <p:spPr>
          <a:xfrm>
            <a:off x="8339328" y="3767328"/>
            <a:ext cx="3493008" cy="1645920"/>
          </a:xfrm>
          <a:prstGeom prst="roundRect">
            <a:avLst>
              <a:gd name="adj" fmla="val 4444"/>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34" name="Shape 32"/>
          <p:cNvSpPr/>
          <p:nvPr/>
        </p:nvSpPr>
        <p:spPr>
          <a:xfrm>
            <a:off x="8339328" y="3767328"/>
            <a:ext cx="54864" cy="1645920"/>
          </a:xfrm>
          <a:prstGeom prst="rect">
            <a:avLst/>
          </a:prstGeom>
          <a:solidFill>
            <a:srgbClr val="F7C948"/>
          </a:solidFill>
          <a:ln w="12700">
            <a:solidFill>
              <a:srgbClr val="F7C948">
                <a:alpha val="0"/>
              </a:srgbClr>
            </a:solidFill>
            <a:prstDash val="solid"/>
          </a:ln>
        </p:spPr>
      </p:sp>
      <p:sp>
        <p:nvSpPr>
          <p:cNvPr id="35" name="Text 33"/>
          <p:cNvSpPr/>
          <p:nvPr/>
        </p:nvSpPr>
        <p:spPr>
          <a:xfrm>
            <a:off x="8558784" y="3950208"/>
            <a:ext cx="438912" cy="292608"/>
          </a:xfrm>
          <a:prstGeom prst="rect">
            <a:avLst/>
          </a:prstGeom>
          <a:noFill/>
          <a:ln/>
        </p:spPr>
        <p:txBody>
          <a:bodyPr wrap="square" lIns="0" tIns="0" rIns="0" bIns="0" rtlCol="0" anchor="ctr"/>
          <a:lstStyle/>
          <a:p>
            <a:pPr indent="0" marL="0">
              <a:buNone/>
            </a:pPr>
            <a:r>
              <a:rPr lang="en-US" sz="1500" b="1" dirty="0">
                <a:solidFill>
                  <a:srgbClr val="F7C948"/>
                </a:solidFill>
              </a:rPr>
              <a:t>06</a:t>
            </a:r>
            <a:endParaRPr lang="en-US" sz="1500" dirty="0"/>
          </a:p>
        </p:txBody>
      </p:sp>
      <p:sp>
        <p:nvSpPr>
          <p:cNvPr id="36" name="Text 34"/>
          <p:cNvSpPr/>
          <p:nvPr/>
        </p:nvSpPr>
        <p:spPr>
          <a:xfrm>
            <a:off x="9061704" y="3931920"/>
            <a:ext cx="2551176" cy="329184"/>
          </a:xfrm>
          <a:prstGeom prst="rect">
            <a:avLst/>
          </a:prstGeom>
          <a:noFill/>
          <a:ln/>
        </p:spPr>
        <p:txBody>
          <a:bodyPr wrap="square" lIns="0" tIns="0" rIns="0" bIns="0" rtlCol="0" anchor="ctr"/>
          <a:lstStyle/>
          <a:p>
            <a:pPr indent="0" marL="0">
              <a:buNone/>
            </a:pPr>
            <a:r>
              <a:rPr lang="en-US" sz="1600" b="1" dirty="0">
                <a:solidFill>
                  <a:srgbClr val="F7FAFC"/>
                </a:solidFill>
              </a:rPr>
              <a:t>Quality gate</a:t>
            </a:r>
            <a:endParaRPr lang="en-US" sz="1600" dirty="0"/>
          </a:p>
        </p:txBody>
      </p:sp>
      <p:sp>
        <p:nvSpPr>
          <p:cNvPr id="37" name="Text 35"/>
          <p:cNvSpPr/>
          <p:nvPr/>
        </p:nvSpPr>
        <p:spPr>
          <a:xfrm>
            <a:off x="8595360" y="4398264"/>
            <a:ext cx="2980944" cy="841248"/>
          </a:xfrm>
          <a:prstGeom prst="rect">
            <a:avLst/>
          </a:prstGeom>
          <a:noFill/>
          <a:ln/>
        </p:spPr>
        <p:txBody>
          <a:bodyPr wrap="square" lIns="254" tIns="254" rIns="254" bIns="254" rtlCol="0" anchor="t"/>
          <a:lstStyle/>
          <a:p>
            <a:pPr indent="0" marL="0">
              <a:buNone/>
            </a:pPr>
            <a:r>
              <a:rPr lang="en-US" sz="1150" dirty="0">
                <a:solidFill>
                  <a:srgbClr val="D8E3F0"/>
                </a:solidFill>
              </a:rPr>
              <a:t>Recommend action while deterministic systems retain pass/fail authority.</a:t>
            </a:r>
            <a:endParaRPr lang="en-US" sz="1150" dirty="0"/>
          </a:p>
        </p:txBody>
      </p:sp>
      <p:sp>
        <p:nvSpPr>
          <p:cNvPr id="38" name="Text 36"/>
          <p:cNvSpPr/>
          <p:nvPr/>
        </p:nvSpPr>
        <p:spPr>
          <a:xfrm>
            <a:off x="1280160" y="5897880"/>
            <a:ext cx="9601200" cy="320040"/>
          </a:xfrm>
          <a:prstGeom prst="rect">
            <a:avLst/>
          </a:prstGeom>
          <a:noFill/>
          <a:ln/>
        </p:spPr>
        <p:txBody>
          <a:bodyPr wrap="square" lIns="0" tIns="0" rIns="0" bIns="0" rtlCol="0" anchor="ctr"/>
          <a:lstStyle/>
          <a:p>
            <a:pPr algn="ctr" indent="0" marL="0">
              <a:buNone/>
            </a:pPr>
            <a:r>
              <a:rPr lang="en-US" sz="1450" b="1" dirty="0">
                <a:solidFill>
                  <a:srgbClr val="3DDC97"/>
                </a:solidFill>
              </a:rPr>
              <a:t>QA remains the owner of quality strategy; the agent accelerates analysis and broadens coverage.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WORKFLOW</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The end-to-end workflow we designed</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Short-lived agent sessions inside a durable, deterministic controller.</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9</a:t>
            </a:r>
            <a:endParaRPr lang="en-US" sz="850" dirty="0"/>
          </a:p>
        </p:txBody>
      </p:sp>
      <p:sp>
        <p:nvSpPr>
          <p:cNvPr id="8" name="Shape 6"/>
          <p:cNvSpPr/>
          <p:nvPr/>
        </p:nvSpPr>
        <p:spPr>
          <a:xfrm>
            <a:off x="566928" y="1965960"/>
            <a:ext cx="585216" cy="585216"/>
          </a:xfrm>
          <a:prstGeom prst="ellipse">
            <a:avLst/>
          </a:prstGeom>
          <a:solidFill>
            <a:srgbClr val="38BDF8"/>
          </a:solidFill>
          <a:ln w="12700">
            <a:solidFill>
              <a:srgbClr val="38BDF8">
                <a:alpha val="0"/>
              </a:srgbClr>
            </a:solidFill>
            <a:prstDash val="solid"/>
          </a:ln>
        </p:spPr>
      </p:sp>
      <p:sp>
        <p:nvSpPr>
          <p:cNvPr id="9" name="Text 7"/>
          <p:cNvSpPr/>
          <p:nvPr/>
        </p:nvSpPr>
        <p:spPr>
          <a:xfrm>
            <a:off x="566928" y="2121408"/>
            <a:ext cx="585216" cy="182880"/>
          </a:xfrm>
          <a:prstGeom prst="rect">
            <a:avLst/>
          </a:prstGeom>
          <a:noFill/>
          <a:ln/>
        </p:spPr>
        <p:txBody>
          <a:bodyPr wrap="square" lIns="0" tIns="0" rIns="0" bIns="0" rtlCol="0" anchor="ctr"/>
          <a:lstStyle/>
          <a:p>
            <a:pPr algn="ctr" indent="0" marL="0">
              <a:buNone/>
            </a:pPr>
            <a:r>
              <a:rPr lang="en-US" sz="1300" b="1" dirty="0">
                <a:solidFill>
                  <a:srgbClr val="07111F"/>
                </a:solidFill>
              </a:rPr>
              <a:t>1</a:t>
            </a:r>
            <a:endParaRPr lang="en-US" sz="1300" dirty="0"/>
          </a:p>
        </p:txBody>
      </p:sp>
      <p:sp>
        <p:nvSpPr>
          <p:cNvPr id="10" name="Text 8"/>
          <p:cNvSpPr/>
          <p:nvPr/>
        </p:nvSpPr>
        <p:spPr>
          <a:xfrm>
            <a:off x="246888" y="2761488"/>
            <a:ext cx="1225296" cy="274320"/>
          </a:xfrm>
          <a:prstGeom prst="rect">
            <a:avLst/>
          </a:prstGeom>
          <a:noFill/>
          <a:ln/>
        </p:spPr>
        <p:txBody>
          <a:bodyPr wrap="square" lIns="0" tIns="0" rIns="0" bIns="0" rtlCol="0" anchor="ctr"/>
          <a:lstStyle/>
          <a:p>
            <a:pPr algn="ctr" indent="0" marL="0">
              <a:buNone/>
            </a:pPr>
            <a:r>
              <a:rPr lang="en-US" sz="1500" b="1" dirty="0">
                <a:solidFill>
                  <a:srgbClr val="F7FAFC"/>
                </a:solidFill>
              </a:rPr>
              <a:t>Scan</a:t>
            </a:r>
            <a:endParaRPr lang="en-US" sz="1500" dirty="0"/>
          </a:p>
        </p:txBody>
      </p:sp>
      <p:sp>
        <p:nvSpPr>
          <p:cNvPr id="11" name="Text 9"/>
          <p:cNvSpPr/>
          <p:nvPr/>
        </p:nvSpPr>
        <p:spPr>
          <a:xfrm>
            <a:off x="128016" y="3145536"/>
            <a:ext cx="1463040" cy="457200"/>
          </a:xfrm>
          <a:prstGeom prst="rect">
            <a:avLst/>
          </a:prstGeom>
          <a:noFill/>
          <a:ln/>
        </p:spPr>
        <p:txBody>
          <a:bodyPr wrap="square" lIns="0" tIns="0" rIns="0" bIns="0" rtlCol="0" anchor="ctr"/>
          <a:lstStyle/>
          <a:p>
            <a:pPr algn="ctr" indent="0" marL="0">
              <a:buNone/>
            </a:pPr>
            <a:r>
              <a:rPr lang="en-US" sz="1000" dirty="0">
                <a:solidFill>
                  <a:srgbClr val="91A4B8"/>
                </a:solidFill>
              </a:rPr>
              <a:t>Label + ready comment</a:t>
            </a:r>
            <a:endParaRPr lang="en-US" sz="1000" dirty="0"/>
          </a:p>
        </p:txBody>
      </p:sp>
      <p:sp>
        <p:nvSpPr>
          <p:cNvPr id="12" name="Shape 10"/>
          <p:cNvSpPr/>
          <p:nvPr/>
        </p:nvSpPr>
        <p:spPr>
          <a:xfrm>
            <a:off x="1179576" y="2258568"/>
            <a:ext cx="1307592" cy="0"/>
          </a:xfrm>
          <a:prstGeom prst="line">
            <a:avLst/>
          </a:prstGeom>
          <a:noFill/>
          <a:ln w="19050">
            <a:solidFill>
              <a:srgbClr val="27415F"/>
            </a:solidFill>
            <a:prstDash val="solid"/>
            <a:headEnd type="none"/>
            <a:tailEnd type="triangle"/>
          </a:ln>
        </p:spPr>
      </p:sp>
      <p:sp>
        <p:nvSpPr>
          <p:cNvPr id="13" name="Shape 11"/>
          <p:cNvSpPr/>
          <p:nvPr/>
        </p:nvSpPr>
        <p:spPr>
          <a:xfrm>
            <a:off x="2487168" y="1965960"/>
            <a:ext cx="585216" cy="585216"/>
          </a:xfrm>
          <a:prstGeom prst="ellipse">
            <a:avLst/>
          </a:prstGeom>
          <a:solidFill>
            <a:srgbClr val="3DDC97"/>
          </a:solidFill>
          <a:ln w="12700">
            <a:solidFill>
              <a:srgbClr val="3DDC97">
                <a:alpha val="0"/>
              </a:srgbClr>
            </a:solidFill>
            <a:prstDash val="solid"/>
          </a:ln>
        </p:spPr>
      </p:sp>
      <p:sp>
        <p:nvSpPr>
          <p:cNvPr id="14" name="Text 12"/>
          <p:cNvSpPr/>
          <p:nvPr/>
        </p:nvSpPr>
        <p:spPr>
          <a:xfrm>
            <a:off x="2487168" y="2121408"/>
            <a:ext cx="585216" cy="182880"/>
          </a:xfrm>
          <a:prstGeom prst="rect">
            <a:avLst/>
          </a:prstGeom>
          <a:noFill/>
          <a:ln/>
        </p:spPr>
        <p:txBody>
          <a:bodyPr wrap="square" lIns="0" tIns="0" rIns="0" bIns="0" rtlCol="0" anchor="ctr"/>
          <a:lstStyle/>
          <a:p>
            <a:pPr algn="ctr" indent="0" marL="0">
              <a:buNone/>
            </a:pPr>
            <a:r>
              <a:rPr lang="en-US" sz="1300" b="1" dirty="0">
                <a:solidFill>
                  <a:srgbClr val="07111F"/>
                </a:solidFill>
              </a:rPr>
              <a:t>2</a:t>
            </a:r>
            <a:endParaRPr lang="en-US" sz="1300" dirty="0"/>
          </a:p>
        </p:txBody>
      </p:sp>
      <p:sp>
        <p:nvSpPr>
          <p:cNvPr id="15" name="Text 13"/>
          <p:cNvSpPr/>
          <p:nvPr/>
        </p:nvSpPr>
        <p:spPr>
          <a:xfrm>
            <a:off x="2167128" y="2761488"/>
            <a:ext cx="1225296" cy="274320"/>
          </a:xfrm>
          <a:prstGeom prst="rect">
            <a:avLst/>
          </a:prstGeom>
          <a:noFill/>
          <a:ln/>
        </p:spPr>
        <p:txBody>
          <a:bodyPr wrap="square" lIns="0" tIns="0" rIns="0" bIns="0" rtlCol="0" anchor="ctr"/>
          <a:lstStyle/>
          <a:p>
            <a:pPr algn="ctr" indent="0" marL="0">
              <a:buNone/>
            </a:pPr>
            <a:r>
              <a:rPr lang="en-US" sz="1500" b="1" dirty="0">
                <a:solidFill>
                  <a:srgbClr val="F7FAFC"/>
                </a:solidFill>
              </a:rPr>
              <a:t>Triage</a:t>
            </a:r>
            <a:endParaRPr lang="en-US" sz="1500" dirty="0"/>
          </a:p>
        </p:txBody>
      </p:sp>
      <p:sp>
        <p:nvSpPr>
          <p:cNvPr id="16" name="Text 14"/>
          <p:cNvSpPr/>
          <p:nvPr/>
        </p:nvSpPr>
        <p:spPr>
          <a:xfrm>
            <a:off x="2048256" y="3145536"/>
            <a:ext cx="1463040" cy="457200"/>
          </a:xfrm>
          <a:prstGeom prst="rect">
            <a:avLst/>
          </a:prstGeom>
          <a:noFill/>
          <a:ln/>
        </p:spPr>
        <p:txBody>
          <a:bodyPr wrap="square" lIns="0" tIns="0" rIns="0" bIns="0" rtlCol="0" anchor="ctr"/>
          <a:lstStyle/>
          <a:p>
            <a:pPr algn="ctr" indent="0" marL="0">
              <a:buNone/>
            </a:pPr>
            <a:r>
              <a:rPr lang="en-US" sz="1000" dirty="0">
                <a:solidFill>
                  <a:srgbClr val="91A4B8"/>
                </a:solidFill>
              </a:rPr>
              <a:t>Prioritized JSON</a:t>
            </a:r>
            <a:endParaRPr lang="en-US" sz="1000" dirty="0"/>
          </a:p>
        </p:txBody>
      </p:sp>
      <p:sp>
        <p:nvSpPr>
          <p:cNvPr id="17" name="Shape 15"/>
          <p:cNvSpPr/>
          <p:nvPr/>
        </p:nvSpPr>
        <p:spPr>
          <a:xfrm>
            <a:off x="3099816" y="2258568"/>
            <a:ext cx="1307592" cy="0"/>
          </a:xfrm>
          <a:prstGeom prst="line">
            <a:avLst/>
          </a:prstGeom>
          <a:noFill/>
          <a:ln w="19050">
            <a:solidFill>
              <a:srgbClr val="27415F"/>
            </a:solidFill>
            <a:prstDash val="solid"/>
            <a:headEnd type="none"/>
            <a:tailEnd type="triangle"/>
          </a:ln>
        </p:spPr>
      </p:sp>
      <p:sp>
        <p:nvSpPr>
          <p:cNvPr id="18" name="Shape 16"/>
          <p:cNvSpPr/>
          <p:nvPr/>
        </p:nvSpPr>
        <p:spPr>
          <a:xfrm>
            <a:off x="4407408" y="1965960"/>
            <a:ext cx="585216" cy="585216"/>
          </a:xfrm>
          <a:prstGeom prst="ellipse">
            <a:avLst/>
          </a:prstGeom>
          <a:solidFill>
            <a:srgbClr val="A78BFA"/>
          </a:solidFill>
          <a:ln w="12700">
            <a:solidFill>
              <a:srgbClr val="A78BFA">
                <a:alpha val="0"/>
              </a:srgbClr>
            </a:solidFill>
            <a:prstDash val="solid"/>
          </a:ln>
        </p:spPr>
      </p:sp>
      <p:sp>
        <p:nvSpPr>
          <p:cNvPr id="19" name="Text 17"/>
          <p:cNvSpPr/>
          <p:nvPr/>
        </p:nvSpPr>
        <p:spPr>
          <a:xfrm>
            <a:off x="4407408" y="2121408"/>
            <a:ext cx="585216" cy="182880"/>
          </a:xfrm>
          <a:prstGeom prst="rect">
            <a:avLst/>
          </a:prstGeom>
          <a:noFill/>
          <a:ln/>
        </p:spPr>
        <p:txBody>
          <a:bodyPr wrap="square" lIns="0" tIns="0" rIns="0" bIns="0" rtlCol="0" anchor="ctr"/>
          <a:lstStyle/>
          <a:p>
            <a:pPr algn="ctr" indent="0" marL="0">
              <a:buNone/>
            </a:pPr>
            <a:r>
              <a:rPr lang="en-US" sz="1300" b="1" dirty="0">
                <a:solidFill>
                  <a:srgbClr val="07111F"/>
                </a:solidFill>
              </a:rPr>
              <a:t>3</a:t>
            </a:r>
            <a:endParaRPr lang="en-US" sz="1300" dirty="0"/>
          </a:p>
        </p:txBody>
      </p:sp>
      <p:sp>
        <p:nvSpPr>
          <p:cNvPr id="20" name="Text 18"/>
          <p:cNvSpPr/>
          <p:nvPr/>
        </p:nvSpPr>
        <p:spPr>
          <a:xfrm>
            <a:off x="4087368" y="2761488"/>
            <a:ext cx="1225296" cy="274320"/>
          </a:xfrm>
          <a:prstGeom prst="rect">
            <a:avLst/>
          </a:prstGeom>
          <a:noFill/>
          <a:ln/>
        </p:spPr>
        <p:txBody>
          <a:bodyPr wrap="square" lIns="0" tIns="0" rIns="0" bIns="0" rtlCol="0" anchor="ctr"/>
          <a:lstStyle/>
          <a:p>
            <a:pPr algn="ctr" indent="0" marL="0">
              <a:buNone/>
            </a:pPr>
            <a:r>
              <a:rPr lang="en-US" sz="1500" b="1" dirty="0">
                <a:solidFill>
                  <a:srgbClr val="F7FAFC"/>
                </a:solidFill>
              </a:rPr>
              <a:t>Code</a:t>
            </a:r>
            <a:endParaRPr lang="en-US" sz="1500" dirty="0"/>
          </a:p>
        </p:txBody>
      </p:sp>
      <p:sp>
        <p:nvSpPr>
          <p:cNvPr id="21" name="Text 19"/>
          <p:cNvSpPr/>
          <p:nvPr/>
        </p:nvSpPr>
        <p:spPr>
          <a:xfrm>
            <a:off x="3968496" y="3145536"/>
            <a:ext cx="1463040" cy="457200"/>
          </a:xfrm>
          <a:prstGeom prst="rect">
            <a:avLst/>
          </a:prstGeom>
          <a:noFill/>
          <a:ln/>
        </p:spPr>
        <p:txBody>
          <a:bodyPr wrap="square" lIns="0" tIns="0" rIns="0" bIns="0" rtlCol="0" anchor="ctr"/>
          <a:lstStyle/>
          <a:p>
            <a:pPr algn="ctr" indent="0" marL="0">
              <a:buNone/>
            </a:pPr>
            <a:r>
              <a:rPr lang="en-US" sz="1000" dirty="0">
                <a:solidFill>
                  <a:srgbClr val="91A4B8"/>
                </a:solidFill>
              </a:rPr>
              <a:t>Change handoff</a:t>
            </a:r>
            <a:endParaRPr lang="en-US" sz="1000" dirty="0"/>
          </a:p>
        </p:txBody>
      </p:sp>
      <p:sp>
        <p:nvSpPr>
          <p:cNvPr id="22" name="Shape 20"/>
          <p:cNvSpPr/>
          <p:nvPr/>
        </p:nvSpPr>
        <p:spPr>
          <a:xfrm>
            <a:off x="5020056" y="2258568"/>
            <a:ext cx="1307592" cy="0"/>
          </a:xfrm>
          <a:prstGeom prst="line">
            <a:avLst/>
          </a:prstGeom>
          <a:noFill/>
          <a:ln w="19050">
            <a:solidFill>
              <a:srgbClr val="27415F"/>
            </a:solidFill>
            <a:prstDash val="solid"/>
            <a:headEnd type="none"/>
            <a:tailEnd type="triangle"/>
          </a:ln>
        </p:spPr>
      </p:sp>
      <p:sp>
        <p:nvSpPr>
          <p:cNvPr id="23" name="Shape 21"/>
          <p:cNvSpPr/>
          <p:nvPr/>
        </p:nvSpPr>
        <p:spPr>
          <a:xfrm>
            <a:off x="6327648" y="1965960"/>
            <a:ext cx="585216" cy="585216"/>
          </a:xfrm>
          <a:prstGeom prst="ellipse">
            <a:avLst/>
          </a:prstGeom>
          <a:solidFill>
            <a:srgbClr val="F7C948"/>
          </a:solidFill>
          <a:ln w="12700">
            <a:solidFill>
              <a:srgbClr val="F7C948">
                <a:alpha val="0"/>
              </a:srgbClr>
            </a:solidFill>
            <a:prstDash val="solid"/>
          </a:ln>
        </p:spPr>
      </p:sp>
      <p:sp>
        <p:nvSpPr>
          <p:cNvPr id="24" name="Text 22"/>
          <p:cNvSpPr/>
          <p:nvPr/>
        </p:nvSpPr>
        <p:spPr>
          <a:xfrm>
            <a:off x="6327648" y="2121408"/>
            <a:ext cx="585216" cy="182880"/>
          </a:xfrm>
          <a:prstGeom prst="rect">
            <a:avLst/>
          </a:prstGeom>
          <a:noFill/>
          <a:ln/>
        </p:spPr>
        <p:txBody>
          <a:bodyPr wrap="square" lIns="0" tIns="0" rIns="0" bIns="0" rtlCol="0" anchor="ctr"/>
          <a:lstStyle/>
          <a:p>
            <a:pPr algn="ctr" indent="0" marL="0">
              <a:buNone/>
            </a:pPr>
            <a:r>
              <a:rPr lang="en-US" sz="1300" b="1" dirty="0">
                <a:solidFill>
                  <a:srgbClr val="07111F"/>
                </a:solidFill>
              </a:rPr>
              <a:t>4</a:t>
            </a:r>
            <a:endParaRPr lang="en-US" sz="1300" dirty="0"/>
          </a:p>
        </p:txBody>
      </p:sp>
      <p:sp>
        <p:nvSpPr>
          <p:cNvPr id="25" name="Text 23"/>
          <p:cNvSpPr/>
          <p:nvPr/>
        </p:nvSpPr>
        <p:spPr>
          <a:xfrm>
            <a:off x="6007608" y="2761488"/>
            <a:ext cx="1225296" cy="274320"/>
          </a:xfrm>
          <a:prstGeom prst="rect">
            <a:avLst/>
          </a:prstGeom>
          <a:noFill/>
          <a:ln/>
        </p:spPr>
        <p:txBody>
          <a:bodyPr wrap="square" lIns="0" tIns="0" rIns="0" bIns="0" rtlCol="0" anchor="ctr"/>
          <a:lstStyle/>
          <a:p>
            <a:pPr algn="ctr" indent="0" marL="0">
              <a:buNone/>
            </a:pPr>
            <a:r>
              <a:rPr lang="en-US" sz="1500" b="1" dirty="0">
                <a:solidFill>
                  <a:srgbClr val="F7FAFC"/>
                </a:solidFill>
              </a:rPr>
              <a:t>Build</a:t>
            </a:r>
            <a:endParaRPr lang="en-US" sz="1500" dirty="0"/>
          </a:p>
        </p:txBody>
      </p:sp>
      <p:sp>
        <p:nvSpPr>
          <p:cNvPr id="26" name="Text 24"/>
          <p:cNvSpPr/>
          <p:nvPr/>
        </p:nvSpPr>
        <p:spPr>
          <a:xfrm>
            <a:off x="5888736" y="3145536"/>
            <a:ext cx="1463040" cy="457200"/>
          </a:xfrm>
          <a:prstGeom prst="rect">
            <a:avLst/>
          </a:prstGeom>
          <a:noFill/>
          <a:ln/>
        </p:spPr>
        <p:txBody>
          <a:bodyPr wrap="square" lIns="0" tIns="0" rIns="0" bIns="0" rtlCol="0" anchor="ctr"/>
          <a:lstStyle/>
          <a:p>
            <a:pPr algn="ctr" indent="0" marL="0">
              <a:buNone/>
            </a:pPr>
            <a:r>
              <a:rPr lang="en-US" sz="1000" dirty="0">
                <a:solidFill>
                  <a:srgbClr val="91A4B8"/>
                </a:solidFill>
              </a:rPr>
              <a:t>Jenkins job</a:t>
            </a:r>
            <a:endParaRPr lang="en-US" sz="1000" dirty="0"/>
          </a:p>
        </p:txBody>
      </p:sp>
      <p:sp>
        <p:nvSpPr>
          <p:cNvPr id="27" name="Shape 25"/>
          <p:cNvSpPr/>
          <p:nvPr/>
        </p:nvSpPr>
        <p:spPr>
          <a:xfrm>
            <a:off x="6940296" y="2258568"/>
            <a:ext cx="1307592" cy="0"/>
          </a:xfrm>
          <a:prstGeom prst="line">
            <a:avLst/>
          </a:prstGeom>
          <a:noFill/>
          <a:ln w="19050">
            <a:solidFill>
              <a:srgbClr val="27415F"/>
            </a:solidFill>
            <a:prstDash val="solid"/>
            <a:headEnd type="none"/>
            <a:tailEnd type="triangle"/>
          </a:ln>
        </p:spPr>
      </p:sp>
      <p:sp>
        <p:nvSpPr>
          <p:cNvPr id="28" name="Shape 26"/>
          <p:cNvSpPr/>
          <p:nvPr/>
        </p:nvSpPr>
        <p:spPr>
          <a:xfrm>
            <a:off x="8247888" y="1965960"/>
            <a:ext cx="585216" cy="585216"/>
          </a:xfrm>
          <a:prstGeom prst="ellipse">
            <a:avLst/>
          </a:prstGeom>
          <a:solidFill>
            <a:srgbClr val="4F7CFF"/>
          </a:solidFill>
          <a:ln w="12700">
            <a:solidFill>
              <a:srgbClr val="4F7CFF">
                <a:alpha val="0"/>
              </a:srgbClr>
            </a:solidFill>
            <a:prstDash val="solid"/>
          </a:ln>
        </p:spPr>
      </p:sp>
      <p:sp>
        <p:nvSpPr>
          <p:cNvPr id="29" name="Text 27"/>
          <p:cNvSpPr/>
          <p:nvPr/>
        </p:nvSpPr>
        <p:spPr>
          <a:xfrm>
            <a:off x="8247888" y="2121408"/>
            <a:ext cx="585216" cy="182880"/>
          </a:xfrm>
          <a:prstGeom prst="rect">
            <a:avLst/>
          </a:prstGeom>
          <a:noFill/>
          <a:ln/>
        </p:spPr>
        <p:txBody>
          <a:bodyPr wrap="square" lIns="0" tIns="0" rIns="0" bIns="0" rtlCol="0" anchor="ctr"/>
          <a:lstStyle/>
          <a:p>
            <a:pPr algn="ctr" indent="0" marL="0">
              <a:buNone/>
            </a:pPr>
            <a:r>
              <a:rPr lang="en-US" sz="1300" b="1" dirty="0">
                <a:solidFill>
                  <a:srgbClr val="07111F"/>
                </a:solidFill>
              </a:rPr>
              <a:t>5</a:t>
            </a:r>
            <a:endParaRPr lang="en-US" sz="1300" dirty="0"/>
          </a:p>
        </p:txBody>
      </p:sp>
      <p:sp>
        <p:nvSpPr>
          <p:cNvPr id="30" name="Text 28"/>
          <p:cNvSpPr/>
          <p:nvPr/>
        </p:nvSpPr>
        <p:spPr>
          <a:xfrm>
            <a:off x="7927848" y="2761488"/>
            <a:ext cx="1225296" cy="274320"/>
          </a:xfrm>
          <a:prstGeom prst="rect">
            <a:avLst/>
          </a:prstGeom>
          <a:noFill/>
          <a:ln/>
        </p:spPr>
        <p:txBody>
          <a:bodyPr wrap="square" lIns="0" tIns="0" rIns="0" bIns="0" rtlCol="0" anchor="ctr"/>
          <a:lstStyle/>
          <a:p>
            <a:pPr algn="ctr" indent="0" marL="0">
              <a:buNone/>
            </a:pPr>
            <a:r>
              <a:rPr lang="en-US" sz="1500" b="1" dirty="0">
                <a:solidFill>
                  <a:srgbClr val="F7FAFC"/>
                </a:solidFill>
              </a:rPr>
              <a:t>Evaluate</a:t>
            </a:r>
            <a:endParaRPr lang="en-US" sz="1500" dirty="0"/>
          </a:p>
        </p:txBody>
      </p:sp>
      <p:sp>
        <p:nvSpPr>
          <p:cNvPr id="31" name="Text 29"/>
          <p:cNvSpPr/>
          <p:nvPr/>
        </p:nvSpPr>
        <p:spPr>
          <a:xfrm>
            <a:off x="7808976" y="3145536"/>
            <a:ext cx="1463040" cy="457200"/>
          </a:xfrm>
          <a:prstGeom prst="rect">
            <a:avLst/>
          </a:prstGeom>
          <a:noFill/>
          <a:ln/>
        </p:spPr>
        <p:txBody>
          <a:bodyPr wrap="square" lIns="0" tIns="0" rIns="0" bIns="0" rtlCol="0" anchor="ctr"/>
          <a:lstStyle/>
          <a:p>
            <a:pPr algn="ctr" indent="0" marL="0">
              <a:buNone/>
            </a:pPr>
            <a:r>
              <a:rPr lang="en-US" sz="1000" dirty="0">
                <a:solidFill>
                  <a:srgbClr val="91A4B8"/>
                </a:solidFill>
              </a:rPr>
              <a:t>Serenity evidence</a:t>
            </a:r>
            <a:endParaRPr lang="en-US" sz="1000" dirty="0"/>
          </a:p>
        </p:txBody>
      </p:sp>
      <p:sp>
        <p:nvSpPr>
          <p:cNvPr id="32" name="Shape 30"/>
          <p:cNvSpPr/>
          <p:nvPr/>
        </p:nvSpPr>
        <p:spPr>
          <a:xfrm>
            <a:off x="8860536" y="2258568"/>
            <a:ext cx="1307592" cy="0"/>
          </a:xfrm>
          <a:prstGeom prst="line">
            <a:avLst/>
          </a:prstGeom>
          <a:noFill/>
          <a:ln w="19050">
            <a:solidFill>
              <a:srgbClr val="27415F"/>
            </a:solidFill>
            <a:prstDash val="solid"/>
            <a:headEnd type="none"/>
            <a:tailEnd type="triangle"/>
          </a:ln>
        </p:spPr>
      </p:sp>
      <p:sp>
        <p:nvSpPr>
          <p:cNvPr id="33" name="Shape 31"/>
          <p:cNvSpPr/>
          <p:nvPr/>
        </p:nvSpPr>
        <p:spPr>
          <a:xfrm>
            <a:off x="10168128" y="1965960"/>
            <a:ext cx="585216" cy="585216"/>
          </a:xfrm>
          <a:prstGeom prst="ellipse">
            <a:avLst/>
          </a:prstGeom>
          <a:solidFill>
            <a:srgbClr val="FF6B6B"/>
          </a:solidFill>
          <a:ln w="12700">
            <a:solidFill>
              <a:srgbClr val="FF6B6B">
                <a:alpha val="0"/>
              </a:srgbClr>
            </a:solidFill>
            <a:prstDash val="solid"/>
          </a:ln>
        </p:spPr>
      </p:sp>
      <p:sp>
        <p:nvSpPr>
          <p:cNvPr id="34" name="Text 32"/>
          <p:cNvSpPr/>
          <p:nvPr/>
        </p:nvSpPr>
        <p:spPr>
          <a:xfrm>
            <a:off x="10168128" y="2121408"/>
            <a:ext cx="585216" cy="182880"/>
          </a:xfrm>
          <a:prstGeom prst="rect">
            <a:avLst/>
          </a:prstGeom>
          <a:noFill/>
          <a:ln/>
        </p:spPr>
        <p:txBody>
          <a:bodyPr wrap="square" lIns="0" tIns="0" rIns="0" bIns="0" rtlCol="0" anchor="ctr"/>
          <a:lstStyle/>
          <a:p>
            <a:pPr algn="ctr" indent="0" marL="0">
              <a:buNone/>
            </a:pPr>
            <a:r>
              <a:rPr lang="en-US" sz="1300" b="1" dirty="0">
                <a:solidFill>
                  <a:srgbClr val="07111F"/>
                </a:solidFill>
              </a:rPr>
              <a:t>6</a:t>
            </a:r>
            <a:endParaRPr lang="en-US" sz="1300" dirty="0"/>
          </a:p>
        </p:txBody>
      </p:sp>
      <p:sp>
        <p:nvSpPr>
          <p:cNvPr id="35" name="Text 33"/>
          <p:cNvSpPr/>
          <p:nvPr/>
        </p:nvSpPr>
        <p:spPr>
          <a:xfrm>
            <a:off x="9848088" y="2761488"/>
            <a:ext cx="1225296" cy="274320"/>
          </a:xfrm>
          <a:prstGeom prst="rect">
            <a:avLst/>
          </a:prstGeom>
          <a:noFill/>
          <a:ln/>
        </p:spPr>
        <p:txBody>
          <a:bodyPr wrap="square" lIns="0" tIns="0" rIns="0" bIns="0" rtlCol="0" anchor="ctr"/>
          <a:lstStyle/>
          <a:p>
            <a:pPr algn="ctr" indent="0" marL="0">
              <a:buNone/>
            </a:pPr>
            <a:r>
              <a:rPr lang="en-US" sz="1500" b="1" dirty="0">
                <a:solidFill>
                  <a:srgbClr val="F7FAFC"/>
                </a:solidFill>
              </a:rPr>
              <a:t>Decide</a:t>
            </a:r>
            <a:endParaRPr lang="en-US" sz="1500" dirty="0"/>
          </a:p>
        </p:txBody>
      </p:sp>
      <p:sp>
        <p:nvSpPr>
          <p:cNvPr id="36" name="Text 34"/>
          <p:cNvSpPr/>
          <p:nvPr/>
        </p:nvSpPr>
        <p:spPr>
          <a:xfrm>
            <a:off x="9729216" y="3145536"/>
            <a:ext cx="1463040" cy="457200"/>
          </a:xfrm>
          <a:prstGeom prst="rect">
            <a:avLst/>
          </a:prstGeom>
          <a:noFill/>
          <a:ln/>
        </p:spPr>
        <p:txBody>
          <a:bodyPr wrap="square" lIns="0" tIns="0" rIns="0" bIns="0" rtlCol="0" anchor="ctr"/>
          <a:lstStyle/>
          <a:p>
            <a:pPr algn="ctr" indent="0" marL="0">
              <a:buNone/>
            </a:pPr>
            <a:r>
              <a:rPr lang="en-US" sz="1000" dirty="0">
                <a:solidFill>
                  <a:srgbClr val="91A4B8"/>
                </a:solidFill>
              </a:rPr>
              <a:t>Close or retry</a:t>
            </a:r>
            <a:endParaRPr lang="en-US" sz="1000" dirty="0"/>
          </a:p>
        </p:txBody>
      </p:sp>
      <p:sp>
        <p:nvSpPr>
          <p:cNvPr id="37" name="Shape 35"/>
          <p:cNvSpPr/>
          <p:nvPr/>
        </p:nvSpPr>
        <p:spPr>
          <a:xfrm>
            <a:off x="1874520" y="4078224"/>
            <a:ext cx="8412480" cy="1417320"/>
          </a:xfrm>
          <a:prstGeom prst="roundRect">
            <a:avLst>
              <a:gd name="adj" fmla="val 5161"/>
            </a:avLst>
          </a:prstGeom>
          <a:solidFill>
            <a:srgbClr val="0E1B2B"/>
          </a:solidFill>
          <a:ln w="12700">
            <a:solidFill>
              <a:srgbClr val="27415F"/>
            </a:solidFill>
            <a:prstDash val="solid"/>
          </a:ln>
        </p:spPr>
      </p:sp>
      <p:sp>
        <p:nvSpPr>
          <p:cNvPr id="38" name="Text 36"/>
          <p:cNvSpPr/>
          <p:nvPr/>
        </p:nvSpPr>
        <p:spPr>
          <a:xfrm>
            <a:off x="2194560" y="4334256"/>
            <a:ext cx="4572000" cy="228600"/>
          </a:xfrm>
          <a:prstGeom prst="rect">
            <a:avLst/>
          </a:prstGeom>
          <a:noFill/>
          <a:ln/>
        </p:spPr>
        <p:txBody>
          <a:bodyPr wrap="square" lIns="0" tIns="0" rIns="0" bIns="0" rtlCol="0" anchor="ctr"/>
          <a:lstStyle/>
          <a:p>
            <a:pPr indent="0" marL="0">
              <a:buNone/>
            </a:pPr>
            <a:r>
              <a:rPr lang="en-US" sz="1050" b="1" spc="110" kern="0" dirty="0">
                <a:solidFill>
                  <a:srgbClr val="F7C948"/>
                </a:solidFill>
              </a:rPr>
              <a:t>RETRY LOOP — MAXIMUM 3 ATTEMPTS</a:t>
            </a:r>
            <a:endParaRPr lang="en-US" sz="1050" dirty="0"/>
          </a:p>
        </p:txBody>
      </p:sp>
      <p:sp>
        <p:nvSpPr>
          <p:cNvPr id="39" name="Text 37"/>
          <p:cNvSpPr/>
          <p:nvPr/>
        </p:nvSpPr>
        <p:spPr>
          <a:xfrm>
            <a:off x="2194560" y="4736592"/>
            <a:ext cx="7635240" cy="420624"/>
          </a:xfrm>
          <a:prstGeom prst="rect">
            <a:avLst/>
          </a:prstGeom>
          <a:noFill/>
          <a:ln/>
        </p:spPr>
        <p:txBody>
          <a:bodyPr wrap="square" lIns="0" tIns="0" rIns="0" bIns="0" rtlCol="0" anchor="ctr"/>
          <a:lstStyle/>
          <a:p>
            <a:pPr indent="0" marL="0">
              <a:buNone/>
            </a:pPr>
            <a:r>
              <a:rPr lang="en-US" sz="1250" dirty="0">
                <a:solidFill>
                  <a:srgbClr val="D8E3F0"/>
                </a:solidFill>
              </a:rPr>
              <a:t>Failure JSON carries code-change context, build identity, report evidence, and the next remediation hypothesis into a fresh session.</a:t>
            </a:r>
            <a:endParaRPr lang="en-US" sz="1250" dirty="0"/>
          </a:p>
        </p:txBody>
      </p:sp>
      <p:sp>
        <p:nvSpPr>
          <p:cNvPr id="40" name="Shape 38"/>
          <p:cNvSpPr/>
          <p:nvPr/>
        </p:nvSpPr>
        <p:spPr>
          <a:xfrm>
            <a:off x="10817352" y="3611880"/>
            <a:ext cx="0" cy="1737360"/>
          </a:xfrm>
          <a:prstGeom prst="line">
            <a:avLst/>
          </a:prstGeom>
          <a:noFill/>
          <a:ln w="19050">
            <a:solidFill>
              <a:srgbClr val="FF6B6B"/>
            </a:solidFill>
            <a:prstDash val="solid"/>
            <a:headEnd type="none"/>
            <a:tailEnd type="triangle"/>
          </a:ln>
        </p:spPr>
      </p:sp>
      <p:sp>
        <p:nvSpPr>
          <p:cNvPr id="41" name="Shape 39"/>
          <p:cNvSpPr/>
          <p:nvPr/>
        </p:nvSpPr>
        <p:spPr>
          <a:xfrm>
            <a:off x="10817352" y="5349240"/>
            <a:ext cx="-8778240" cy="0"/>
          </a:xfrm>
          <a:prstGeom prst="line">
            <a:avLst/>
          </a:prstGeom>
          <a:noFill/>
          <a:ln w="19050">
            <a:solidFill>
              <a:srgbClr val="FF6B6B"/>
            </a:solidFill>
            <a:prstDash val="solid"/>
            <a:headEnd type="none"/>
            <a:tailEnd type="triangle"/>
          </a:ln>
        </p:spPr>
      </p:sp>
      <p:sp>
        <p:nvSpPr>
          <p:cNvPr id="42" name="Shape 40"/>
          <p:cNvSpPr/>
          <p:nvPr/>
        </p:nvSpPr>
        <p:spPr>
          <a:xfrm>
            <a:off x="2039112" y="5349240"/>
            <a:ext cx="0" cy="-1737360"/>
          </a:xfrm>
          <a:prstGeom prst="line">
            <a:avLst/>
          </a:prstGeom>
          <a:noFill/>
          <a:ln w="19050">
            <a:solidFill>
              <a:srgbClr val="FF6B6B"/>
            </a:solidFill>
            <a:prstDash val="solid"/>
            <a:headEnd type="none"/>
            <a:tailEnd type="triangle"/>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ORCHESTRATION</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Fan-out / fan-in for independent analysis</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Parallelism helps when workers do not contend for the same state.</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10</a:t>
            </a:r>
            <a:endParaRPr lang="en-US" sz="850" dirty="0"/>
          </a:p>
        </p:txBody>
      </p:sp>
      <p:sp>
        <p:nvSpPr>
          <p:cNvPr id="8" name="Shape 6"/>
          <p:cNvSpPr/>
          <p:nvPr/>
        </p:nvSpPr>
        <p:spPr>
          <a:xfrm>
            <a:off x="4663440" y="1664208"/>
            <a:ext cx="2880360" cy="749808"/>
          </a:xfrm>
          <a:prstGeom prst="roundRect">
            <a:avLst>
              <a:gd name="adj" fmla="val 7317"/>
            </a:avLst>
          </a:prstGeom>
          <a:solidFill>
            <a:srgbClr val="0E1B2B"/>
          </a:solidFill>
          <a:ln w="19050">
            <a:solidFill>
              <a:srgbClr val="38BDF8"/>
            </a:solidFill>
            <a:prstDash val="solid"/>
          </a:ln>
        </p:spPr>
      </p:sp>
      <p:sp>
        <p:nvSpPr>
          <p:cNvPr id="9" name="Text 7"/>
          <p:cNvSpPr/>
          <p:nvPr/>
        </p:nvSpPr>
        <p:spPr>
          <a:xfrm>
            <a:off x="4892040" y="1901952"/>
            <a:ext cx="2423160" cy="228600"/>
          </a:xfrm>
          <a:prstGeom prst="rect">
            <a:avLst/>
          </a:prstGeom>
          <a:noFill/>
          <a:ln/>
        </p:spPr>
        <p:txBody>
          <a:bodyPr wrap="square" lIns="0" tIns="0" rIns="0" bIns="0" rtlCol="0" anchor="ctr"/>
          <a:lstStyle/>
          <a:p>
            <a:pPr algn="ctr" indent="0" marL="0">
              <a:buNone/>
            </a:pPr>
            <a:r>
              <a:rPr lang="en-US" sz="1600" b="1" dirty="0">
                <a:solidFill>
                  <a:srgbClr val="F7FAFC"/>
                </a:solidFill>
              </a:rPr>
              <a:t>Factory / parent session</a:t>
            </a:r>
            <a:endParaRPr lang="en-US" sz="1600" dirty="0"/>
          </a:p>
        </p:txBody>
      </p:sp>
      <p:sp>
        <p:nvSpPr>
          <p:cNvPr id="10" name="Shape 8"/>
          <p:cNvSpPr/>
          <p:nvPr/>
        </p:nvSpPr>
        <p:spPr>
          <a:xfrm>
            <a:off x="6099048" y="2414016"/>
            <a:ext cx="-4361688" cy="932688"/>
          </a:xfrm>
          <a:prstGeom prst="line">
            <a:avLst/>
          </a:prstGeom>
          <a:noFill/>
          <a:ln w="19050">
            <a:solidFill>
              <a:srgbClr val="27415F"/>
            </a:solidFill>
            <a:prstDash val="solid"/>
            <a:headEnd type="none"/>
            <a:tailEnd type="triangle"/>
          </a:ln>
        </p:spPr>
      </p:sp>
      <p:sp>
        <p:nvSpPr>
          <p:cNvPr id="11" name="Shape 9"/>
          <p:cNvSpPr/>
          <p:nvPr/>
        </p:nvSpPr>
        <p:spPr>
          <a:xfrm>
            <a:off x="694944" y="3346704"/>
            <a:ext cx="2084832" cy="960120"/>
          </a:xfrm>
          <a:prstGeom prst="roundRect">
            <a:avLst>
              <a:gd name="adj" fmla="val 5714"/>
            </a:avLst>
          </a:prstGeom>
          <a:solidFill>
            <a:srgbClr val="132338"/>
          </a:solidFill>
          <a:ln w="15240">
            <a:solidFill>
              <a:srgbClr val="3DDC97"/>
            </a:solidFill>
            <a:prstDash val="solid"/>
          </a:ln>
        </p:spPr>
      </p:sp>
      <p:sp>
        <p:nvSpPr>
          <p:cNvPr id="12" name="Text 10"/>
          <p:cNvSpPr/>
          <p:nvPr/>
        </p:nvSpPr>
        <p:spPr>
          <a:xfrm>
            <a:off x="822960" y="3666744"/>
            <a:ext cx="1828800" cy="237744"/>
          </a:xfrm>
          <a:prstGeom prst="rect">
            <a:avLst/>
          </a:prstGeom>
          <a:noFill/>
          <a:ln/>
        </p:spPr>
        <p:txBody>
          <a:bodyPr wrap="square" lIns="0" tIns="0" rIns="0" bIns="0" rtlCol="0" anchor="ctr"/>
          <a:lstStyle/>
          <a:p>
            <a:pPr algn="ctr" indent="0" marL="0">
              <a:buNone/>
            </a:pPr>
            <a:r>
              <a:rPr lang="en-US" sz="1400" b="1" dirty="0">
                <a:solidFill>
                  <a:srgbClr val="3DDC97"/>
                </a:solidFill>
              </a:rPr>
              <a:t>Implementation</a:t>
            </a:r>
            <a:endParaRPr lang="en-US" sz="1400" dirty="0"/>
          </a:p>
        </p:txBody>
      </p:sp>
      <p:sp>
        <p:nvSpPr>
          <p:cNvPr id="13" name="Shape 11"/>
          <p:cNvSpPr/>
          <p:nvPr/>
        </p:nvSpPr>
        <p:spPr>
          <a:xfrm>
            <a:off x="1737360" y="4306824"/>
            <a:ext cx="4361688" cy="941832"/>
          </a:xfrm>
          <a:prstGeom prst="line">
            <a:avLst/>
          </a:prstGeom>
          <a:noFill/>
          <a:ln w="19050">
            <a:solidFill>
              <a:srgbClr val="27415F"/>
            </a:solidFill>
            <a:prstDash val="solid"/>
            <a:headEnd type="none"/>
            <a:tailEnd type="triangle"/>
          </a:ln>
        </p:spPr>
      </p:sp>
      <p:sp>
        <p:nvSpPr>
          <p:cNvPr id="14" name="Shape 12"/>
          <p:cNvSpPr/>
          <p:nvPr/>
        </p:nvSpPr>
        <p:spPr>
          <a:xfrm>
            <a:off x="6099048" y="2414016"/>
            <a:ext cx="-1499616" cy="932688"/>
          </a:xfrm>
          <a:prstGeom prst="line">
            <a:avLst/>
          </a:prstGeom>
          <a:noFill/>
          <a:ln w="19050">
            <a:solidFill>
              <a:srgbClr val="27415F"/>
            </a:solidFill>
            <a:prstDash val="solid"/>
            <a:headEnd type="none"/>
            <a:tailEnd type="triangle"/>
          </a:ln>
        </p:spPr>
      </p:sp>
      <p:sp>
        <p:nvSpPr>
          <p:cNvPr id="15" name="Shape 13"/>
          <p:cNvSpPr/>
          <p:nvPr/>
        </p:nvSpPr>
        <p:spPr>
          <a:xfrm>
            <a:off x="3557016" y="3346704"/>
            <a:ext cx="2084832" cy="960120"/>
          </a:xfrm>
          <a:prstGeom prst="roundRect">
            <a:avLst>
              <a:gd name="adj" fmla="val 5714"/>
            </a:avLst>
          </a:prstGeom>
          <a:solidFill>
            <a:srgbClr val="132338"/>
          </a:solidFill>
          <a:ln w="15240">
            <a:solidFill>
              <a:srgbClr val="4F7CFF"/>
            </a:solidFill>
            <a:prstDash val="solid"/>
          </a:ln>
        </p:spPr>
      </p:sp>
      <p:sp>
        <p:nvSpPr>
          <p:cNvPr id="16" name="Text 14"/>
          <p:cNvSpPr/>
          <p:nvPr/>
        </p:nvSpPr>
        <p:spPr>
          <a:xfrm>
            <a:off x="3685032" y="3666744"/>
            <a:ext cx="1828800" cy="237744"/>
          </a:xfrm>
          <a:prstGeom prst="rect">
            <a:avLst/>
          </a:prstGeom>
          <a:noFill/>
          <a:ln/>
        </p:spPr>
        <p:txBody>
          <a:bodyPr wrap="square" lIns="0" tIns="0" rIns="0" bIns="0" rtlCol="0" anchor="ctr"/>
          <a:lstStyle/>
          <a:p>
            <a:pPr algn="ctr" indent="0" marL="0">
              <a:buNone/>
            </a:pPr>
            <a:r>
              <a:rPr lang="en-US" sz="1400" b="1" dirty="0">
                <a:solidFill>
                  <a:srgbClr val="4F7CFF"/>
                </a:solidFill>
              </a:rPr>
              <a:t>Test strategy</a:t>
            </a:r>
            <a:endParaRPr lang="en-US" sz="1400" dirty="0"/>
          </a:p>
        </p:txBody>
      </p:sp>
      <p:sp>
        <p:nvSpPr>
          <p:cNvPr id="17" name="Shape 15"/>
          <p:cNvSpPr/>
          <p:nvPr/>
        </p:nvSpPr>
        <p:spPr>
          <a:xfrm>
            <a:off x="4599432" y="4306824"/>
            <a:ext cx="1499616" cy="941832"/>
          </a:xfrm>
          <a:prstGeom prst="line">
            <a:avLst/>
          </a:prstGeom>
          <a:noFill/>
          <a:ln w="19050">
            <a:solidFill>
              <a:srgbClr val="27415F"/>
            </a:solidFill>
            <a:prstDash val="solid"/>
            <a:headEnd type="none"/>
            <a:tailEnd type="triangle"/>
          </a:ln>
        </p:spPr>
      </p:sp>
      <p:sp>
        <p:nvSpPr>
          <p:cNvPr id="18" name="Shape 16"/>
          <p:cNvSpPr/>
          <p:nvPr/>
        </p:nvSpPr>
        <p:spPr>
          <a:xfrm>
            <a:off x="6099048" y="2414016"/>
            <a:ext cx="1362456" cy="932688"/>
          </a:xfrm>
          <a:prstGeom prst="line">
            <a:avLst/>
          </a:prstGeom>
          <a:noFill/>
          <a:ln w="19050">
            <a:solidFill>
              <a:srgbClr val="27415F"/>
            </a:solidFill>
            <a:prstDash val="solid"/>
            <a:headEnd type="none"/>
            <a:tailEnd type="triangle"/>
          </a:ln>
        </p:spPr>
      </p:sp>
      <p:sp>
        <p:nvSpPr>
          <p:cNvPr id="19" name="Shape 17"/>
          <p:cNvSpPr/>
          <p:nvPr/>
        </p:nvSpPr>
        <p:spPr>
          <a:xfrm>
            <a:off x="6419088" y="3346704"/>
            <a:ext cx="2084832" cy="960120"/>
          </a:xfrm>
          <a:prstGeom prst="roundRect">
            <a:avLst>
              <a:gd name="adj" fmla="val 5714"/>
            </a:avLst>
          </a:prstGeom>
          <a:solidFill>
            <a:srgbClr val="132338"/>
          </a:solidFill>
          <a:ln w="15240">
            <a:solidFill>
              <a:srgbClr val="FF6B6B"/>
            </a:solidFill>
            <a:prstDash val="solid"/>
          </a:ln>
        </p:spPr>
      </p:sp>
      <p:sp>
        <p:nvSpPr>
          <p:cNvPr id="20" name="Text 18"/>
          <p:cNvSpPr/>
          <p:nvPr/>
        </p:nvSpPr>
        <p:spPr>
          <a:xfrm>
            <a:off x="6547104" y="3666744"/>
            <a:ext cx="1828800" cy="237744"/>
          </a:xfrm>
          <a:prstGeom prst="rect">
            <a:avLst/>
          </a:prstGeom>
          <a:noFill/>
          <a:ln/>
        </p:spPr>
        <p:txBody>
          <a:bodyPr wrap="square" lIns="0" tIns="0" rIns="0" bIns="0" rtlCol="0" anchor="ctr"/>
          <a:lstStyle/>
          <a:p>
            <a:pPr algn="ctr" indent="0" marL="0">
              <a:buNone/>
            </a:pPr>
            <a:r>
              <a:rPr lang="en-US" sz="1400" b="1" dirty="0">
                <a:solidFill>
                  <a:srgbClr val="FF6B6B"/>
                </a:solidFill>
              </a:rPr>
              <a:t>Security</a:t>
            </a:r>
            <a:endParaRPr lang="en-US" sz="1400" dirty="0"/>
          </a:p>
        </p:txBody>
      </p:sp>
      <p:sp>
        <p:nvSpPr>
          <p:cNvPr id="21" name="Shape 19"/>
          <p:cNvSpPr/>
          <p:nvPr/>
        </p:nvSpPr>
        <p:spPr>
          <a:xfrm>
            <a:off x="7461504" y="4306824"/>
            <a:ext cx="-1362456" cy="941832"/>
          </a:xfrm>
          <a:prstGeom prst="line">
            <a:avLst/>
          </a:prstGeom>
          <a:noFill/>
          <a:ln w="19050">
            <a:solidFill>
              <a:srgbClr val="27415F"/>
            </a:solidFill>
            <a:prstDash val="solid"/>
            <a:headEnd type="none"/>
            <a:tailEnd type="triangle"/>
          </a:ln>
        </p:spPr>
      </p:sp>
      <p:sp>
        <p:nvSpPr>
          <p:cNvPr id="22" name="Shape 20"/>
          <p:cNvSpPr/>
          <p:nvPr/>
        </p:nvSpPr>
        <p:spPr>
          <a:xfrm>
            <a:off x="6099048" y="2414016"/>
            <a:ext cx="4224528" cy="932688"/>
          </a:xfrm>
          <a:prstGeom prst="line">
            <a:avLst/>
          </a:prstGeom>
          <a:noFill/>
          <a:ln w="19050">
            <a:solidFill>
              <a:srgbClr val="27415F"/>
            </a:solidFill>
            <a:prstDash val="solid"/>
            <a:headEnd type="none"/>
            <a:tailEnd type="triangle"/>
          </a:ln>
        </p:spPr>
      </p:sp>
      <p:sp>
        <p:nvSpPr>
          <p:cNvPr id="23" name="Shape 21"/>
          <p:cNvSpPr/>
          <p:nvPr/>
        </p:nvSpPr>
        <p:spPr>
          <a:xfrm>
            <a:off x="9281160" y="3346704"/>
            <a:ext cx="2084832" cy="960120"/>
          </a:xfrm>
          <a:prstGeom prst="roundRect">
            <a:avLst>
              <a:gd name="adj" fmla="val 5714"/>
            </a:avLst>
          </a:prstGeom>
          <a:solidFill>
            <a:srgbClr val="132338"/>
          </a:solidFill>
          <a:ln w="15240">
            <a:solidFill>
              <a:srgbClr val="A78BFA"/>
            </a:solidFill>
            <a:prstDash val="solid"/>
          </a:ln>
        </p:spPr>
      </p:sp>
      <p:sp>
        <p:nvSpPr>
          <p:cNvPr id="24" name="Text 22"/>
          <p:cNvSpPr/>
          <p:nvPr/>
        </p:nvSpPr>
        <p:spPr>
          <a:xfrm>
            <a:off x="9409176" y="3666744"/>
            <a:ext cx="1828800" cy="237744"/>
          </a:xfrm>
          <a:prstGeom prst="rect">
            <a:avLst/>
          </a:prstGeom>
          <a:noFill/>
          <a:ln/>
        </p:spPr>
        <p:txBody>
          <a:bodyPr wrap="square" lIns="0" tIns="0" rIns="0" bIns="0" rtlCol="0" anchor="ctr"/>
          <a:lstStyle/>
          <a:p>
            <a:pPr algn="ctr" indent="0" marL="0">
              <a:buNone/>
            </a:pPr>
            <a:r>
              <a:rPr lang="en-US" sz="1400" b="1" dirty="0">
                <a:solidFill>
                  <a:srgbClr val="A78BFA"/>
                </a:solidFill>
              </a:rPr>
              <a:t>Documentation</a:t>
            </a:r>
            <a:endParaRPr lang="en-US" sz="1400" dirty="0"/>
          </a:p>
        </p:txBody>
      </p:sp>
      <p:sp>
        <p:nvSpPr>
          <p:cNvPr id="25" name="Shape 23"/>
          <p:cNvSpPr/>
          <p:nvPr/>
        </p:nvSpPr>
        <p:spPr>
          <a:xfrm>
            <a:off x="10323576" y="4306824"/>
            <a:ext cx="-4224528" cy="941832"/>
          </a:xfrm>
          <a:prstGeom prst="line">
            <a:avLst/>
          </a:prstGeom>
          <a:noFill/>
          <a:ln w="19050">
            <a:solidFill>
              <a:srgbClr val="27415F"/>
            </a:solidFill>
            <a:prstDash val="solid"/>
            <a:headEnd type="none"/>
            <a:tailEnd type="triangle"/>
          </a:ln>
        </p:spPr>
      </p:sp>
      <p:sp>
        <p:nvSpPr>
          <p:cNvPr id="26" name="Shape 24"/>
          <p:cNvSpPr/>
          <p:nvPr/>
        </p:nvSpPr>
        <p:spPr>
          <a:xfrm>
            <a:off x="4663440" y="5248656"/>
            <a:ext cx="2880360" cy="749808"/>
          </a:xfrm>
          <a:prstGeom prst="roundRect">
            <a:avLst>
              <a:gd name="adj" fmla="val 7317"/>
            </a:avLst>
          </a:prstGeom>
          <a:solidFill>
            <a:srgbClr val="0E1B2B"/>
          </a:solidFill>
          <a:ln w="19050">
            <a:solidFill>
              <a:srgbClr val="F7C948"/>
            </a:solidFill>
            <a:prstDash val="solid"/>
          </a:ln>
        </p:spPr>
      </p:sp>
      <p:sp>
        <p:nvSpPr>
          <p:cNvPr id="27" name="Text 25"/>
          <p:cNvSpPr/>
          <p:nvPr/>
        </p:nvSpPr>
        <p:spPr>
          <a:xfrm>
            <a:off x="4892040" y="5486400"/>
            <a:ext cx="2423160" cy="228600"/>
          </a:xfrm>
          <a:prstGeom prst="rect">
            <a:avLst/>
          </a:prstGeom>
          <a:noFill/>
          <a:ln/>
        </p:spPr>
        <p:txBody>
          <a:bodyPr wrap="square" lIns="0" tIns="0" rIns="0" bIns="0" rtlCol="0" anchor="ctr"/>
          <a:lstStyle/>
          <a:p>
            <a:pPr algn="ctr" indent="0" marL="0">
              <a:buNone/>
            </a:pPr>
            <a:r>
              <a:rPr lang="en-US" sz="1600" b="1" dirty="0">
                <a:solidFill>
                  <a:srgbClr val="F7FAFC"/>
                </a:solidFill>
              </a:rPr>
              <a:t>Validated synthesis</a:t>
            </a:r>
            <a:endParaRPr lang="en-US" sz="1600" dirty="0"/>
          </a:p>
        </p:txBody>
      </p:sp>
      <p:sp>
        <p:nvSpPr>
          <p:cNvPr id="28" name="Shape 26"/>
          <p:cNvSpPr/>
          <p:nvPr/>
        </p:nvSpPr>
        <p:spPr>
          <a:xfrm>
            <a:off x="713232" y="5678424"/>
            <a:ext cx="1371600" cy="310896"/>
          </a:xfrm>
          <a:prstGeom prst="roundRect">
            <a:avLst>
              <a:gd name="adj" fmla="val 23529"/>
            </a:avLst>
          </a:prstGeom>
          <a:solidFill>
            <a:srgbClr val="38BDF8">
              <a:alpha val="14000"/>
            </a:srgbClr>
          </a:solidFill>
          <a:ln w="10160">
            <a:solidFill>
              <a:srgbClr val="38BDF8">
                <a:alpha val="40000"/>
              </a:srgbClr>
            </a:solidFill>
            <a:prstDash val="solid"/>
          </a:ln>
        </p:spPr>
      </p:sp>
      <p:sp>
        <p:nvSpPr>
          <p:cNvPr id="29" name="Text 27"/>
          <p:cNvSpPr/>
          <p:nvPr/>
        </p:nvSpPr>
        <p:spPr>
          <a:xfrm>
            <a:off x="786384" y="5728716"/>
            <a:ext cx="1225296" cy="164592"/>
          </a:xfrm>
          <a:prstGeom prst="rect">
            <a:avLst/>
          </a:prstGeom>
          <a:noFill/>
          <a:ln/>
        </p:spPr>
        <p:txBody>
          <a:bodyPr wrap="square" lIns="0" tIns="0" rIns="0" bIns="0" rtlCol="0" anchor="ctr"/>
          <a:lstStyle/>
          <a:p>
            <a:pPr algn="ctr" indent="0" marL="0">
              <a:buNone/>
            </a:pPr>
            <a:r>
              <a:rPr lang="en-US" sz="950" b="1" dirty="0">
                <a:solidFill>
                  <a:srgbClr val="38BDF8"/>
                </a:solidFill>
              </a:rPr>
              <a:t>max concurrency</a:t>
            </a:r>
            <a:endParaRPr lang="en-US" sz="950" dirty="0"/>
          </a:p>
        </p:txBody>
      </p:sp>
      <p:sp>
        <p:nvSpPr>
          <p:cNvPr id="30" name="Shape 28"/>
          <p:cNvSpPr/>
          <p:nvPr/>
        </p:nvSpPr>
        <p:spPr>
          <a:xfrm>
            <a:off x="2267712" y="5678424"/>
            <a:ext cx="1234440" cy="310896"/>
          </a:xfrm>
          <a:prstGeom prst="roundRect">
            <a:avLst>
              <a:gd name="adj" fmla="val 23529"/>
            </a:avLst>
          </a:prstGeom>
          <a:solidFill>
            <a:srgbClr val="3DDC97">
              <a:alpha val="14000"/>
            </a:srgbClr>
          </a:solidFill>
          <a:ln w="10160">
            <a:solidFill>
              <a:srgbClr val="3DDC97">
                <a:alpha val="40000"/>
              </a:srgbClr>
            </a:solidFill>
            <a:prstDash val="solid"/>
          </a:ln>
        </p:spPr>
      </p:sp>
      <p:sp>
        <p:nvSpPr>
          <p:cNvPr id="31" name="Text 29"/>
          <p:cNvSpPr/>
          <p:nvPr/>
        </p:nvSpPr>
        <p:spPr>
          <a:xfrm>
            <a:off x="2340864" y="5728716"/>
            <a:ext cx="1088136" cy="164592"/>
          </a:xfrm>
          <a:prstGeom prst="rect">
            <a:avLst/>
          </a:prstGeom>
          <a:noFill/>
          <a:ln/>
        </p:spPr>
        <p:txBody>
          <a:bodyPr wrap="square" lIns="0" tIns="0" rIns="0" bIns="0" rtlCol="0" anchor="ctr"/>
          <a:lstStyle/>
          <a:p>
            <a:pPr algn="ctr" indent="0" marL="0">
              <a:buNone/>
            </a:pPr>
            <a:r>
              <a:rPr lang="en-US" sz="950" b="1" dirty="0">
                <a:solidFill>
                  <a:srgbClr val="3DDC97"/>
                </a:solidFill>
              </a:rPr>
              <a:t>agent budget</a:t>
            </a:r>
            <a:endParaRPr lang="en-US" sz="950" dirty="0"/>
          </a:p>
        </p:txBody>
      </p:sp>
      <p:sp>
        <p:nvSpPr>
          <p:cNvPr id="32" name="Shape 30"/>
          <p:cNvSpPr/>
          <p:nvPr/>
        </p:nvSpPr>
        <p:spPr>
          <a:xfrm>
            <a:off x="8732520" y="5678424"/>
            <a:ext cx="1078992" cy="310896"/>
          </a:xfrm>
          <a:prstGeom prst="roundRect">
            <a:avLst>
              <a:gd name="adj" fmla="val 23529"/>
            </a:avLst>
          </a:prstGeom>
          <a:solidFill>
            <a:srgbClr val="F7C948">
              <a:alpha val="14000"/>
            </a:srgbClr>
          </a:solidFill>
          <a:ln w="10160">
            <a:solidFill>
              <a:srgbClr val="F7C948">
                <a:alpha val="40000"/>
              </a:srgbClr>
            </a:solidFill>
            <a:prstDash val="solid"/>
          </a:ln>
        </p:spPr>
      </p:sp>
      <p:sp>
        <p:nvSpPr>
          <p:cNvPr id="33" name="Text 31"/>
          <p:cNvSpPr/>
          <p:nvPr/>
        </p:nvSpPr>
        <p:spPr>
          <a:xfrm>
            <a:off x="8805672" y="5728716"/>
            <a:ext cx="932688" cy="164592"/>
          </a:xfrm>
          <a:prstGeom prst="rect">
            <a:avLst/>
          </a:prstGeom>
          <a:noFill/>
          <a:ln/>
        </p:spPr>
        <p:txBody>
          <a:bodyPr wrap="square" lIns="0" tIns="0" rIns="0" bIns="0" rtlCol="0" anchor="ctr"/>
          <a:lstStyle/>
          <a:p>
            <a:pPr algn="ctr" indent="0" marL="0">
              <a:buNone/>
            </a:pPr>
            <a:r>
              <a:rPr lang="en-US" sz="950" b="1" dirty="0">
                <a:solidFill>
                  <a:srgbClr val="F7C948"/>
                </a:solidFill>
              </a:rPr>
              <a:t>timeout</a:t>
            </a:r>
            <a:endParaRPr lang="en-US" sz="950" dirty="0"/>
          </a:p>
        </p:txBody>
      </p:sp>
      <p:sp>
        <p:nvSpPr>
          <p:cNvPr id="34" name="Shape 32"/>
          <p:cNvSpPr/>
          <p:nvPr/>
        </p:nvSpPr>
        <p:spPr>
          <a:xfrm>
            <a:off x="9994392" y="5678424"/>
            <a:ext cx="1417320" cy="310896"/>
          </a:xfrm>
          <a:prstGeom prst="roundRect">
            <a:avLst>
              <a:gd name="adj" fmla="val 23529"/>
            </a:avLst>
          </a:prstGeom>
          <a:solidFill>
            <a:srgbClr val="FF6B6B">
              <a:alpha val="14000"/>
            </a:srgbClr>
          </a:solidFill>
          <a:ln w="10160">
            <a:solidFill>
              <a:srgbClr val="FF6B6B">
                <a:alpha val="40000"/>
              </a:srgbClr>
            </a:solidFill>
            <a:prstDash val="solid"/>
          </a:ln>
        </p:spPr>
      </p:sp>
      <p:sp>
        <p:nvSpPr>
          <p:cNvPr id="35" name="Text 33"/>
          <p:cNvSpPr/>
          <p:nvPr/>
        </p:nvSpPr>
        <p:spPr>
          <a:xfrm>
            <a:off x="10067544" y="5728716"/>
            <a:ext cx="1271016" cy="164592"/>
          </a:xfrm>
          <a:prstGeom prst="rect">
            <a:avLst/>
          </a:prstGeom>
          <a:noFill/>
          <a:ln/>
        </p:spPr>
        <p:txBody>
          <a:bodyPr wrap="square" lIns="0" tIns="0" rIns="0" bIns="0" rtlCol="0" anchor="ctr"/>
          <a:lstStyle/>
          <a:p>
            <a:pPr algn="ctr" indent="0" marL="0">
              <a:buNone/>
            </a:pPr>
            <a:r>
              <a:rPr lang="en-US" sz="950" b="1" dirty="0">
                <a:solidFill>
                  <a:srgbClr val="FF6B6B"/>
                </a:solidFill>
              </a:rPr>
              <a:t>failure → null</a:t>
            </a:r>
            <a:endParaRPr lang="en-US" sz="950" dirty="0"/>
          </a:p>
        </p:txBody>
      </p:sp>
      <p:sp>
        <p:nvSpPr>
          <p:cNvPr id="36" name="Text 34"/>
          <p:cNvSpPr/>
          <p:nvPr/>
        </p:nvSpPr>
        <p:spPr>
          <a:xfrm>
            <a:off x="7635240" y="6547104"/>
            <a:ext cx="3429000" cy="182880"/>
          </a:xfrm>
          <a:prstGeom prst="rect">
            <a:avLst/>
          </a:prstGeom>
          <a:noFill/>
          <a:ln/>
        </p:spPr>
        <p:txBody>
          <a:bodyPr wrap="square" lIns="0" tIns="0" rIns="0" bIns="0" rtlCol="0" anchor="ctr"/>
          <a:lstStyle/>
          <a:p>
            <a:pPr algn="r" indent="0" marL="0">
              <a:buNone/>
            </a:pPr>
            <a:r>
              <a:rPr lang="en-US" sz="820" u="sng" dirty="0">
                <a:solidFill>
                  <a:srgbClr val="91A4B8"/>
                </a:solidFill>
                <a:hlinkClick r:id="rId1" invalidUrl="" action="" tgtFrame="" tooltip="" history="1" highlightClick="0" endSnd="0">
                  <a:extLst>
                    <a:ext uri="{A12FA001-AC4F-418D-AE19-62706E023703}">
                      <ahyp:hlinkClr xmlns:ahyp="http://schemas.microsoft.com/office/drawing/2018/hyperlinkcolor" val="tx"/>
                    </a:ext>
                  </a:extLst>
                </a:hlinkClick>
              </a:rPr>
              <a:t>Fleet mode guidance</a:t>
            </a:r>
            <a:endParaRPr lang="en-US" sz="8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SAFETY</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What the application must control</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An agent can recommend actions; trusted code authorizes and verifies them.</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11</a:t>
            </a:r>
            <a:endParaRPr lang="en-US" sz="850" dirty="0"/>
          </a:p>
        </p:txBody>
      </p:sp>
      <p:sp>
        <p:nvSpPr>
          <p:cNvPr id="8" name="Shape 6"/>
          <p:cNvSpPr/>
          <p:nvPr/>
        </p:nvSpPr>
        <p:spPr>
          <a:xfrm>
            <a:off x="658368" y="1783080"/>
            <a:ext cx="5285232" cy="4133088"/>
          </a:xfrm>
          <a:prstGeom prst="roundRect">
            <a:avLst>
              <a:gd name="adj" fmla="val 177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9" name="Shape 7"/>
          <p:cNvSpPr/>
          <p:nvPr/>
        </p:nvSpPr>
        <p:spPr>
          <a:xfrm>
            <a:off x="658368" y="1783080"/>
            <a:ext cx="54864" cy="4133088"/>
          </a:xfrm>
          <a:prstGeom prst="rect">
            <a:avLst/>
          </a:prstGeom>
          <a:solidFill>
            <a:srgbClr val="3DDC97"/>
          </a:solidFill>
          <a:ln w="12700">
            <a:solidFill>
              <a:srgbClr val="3DDC97">
                <a:alpha val="0"/>
              </a:srgbClr>
            </a:solidFill>
            <a:prstDash val="solid"/>
          </a:ln>
        </p:spPr>
      </p:sp>
      <p:sp>
        <p:nvSpPr>
          <p:cNvPr id="10" name="Text 8"/>
          <p:cNvSpPr/>
          <p:nvPr/>
        </p:nvSpPr>
        <p:spPr>
          <a:xfrm>
            <a:off x="914400" y="1947672"/>
            <a:ext cx="4773168" cy="329184"/>
          </a:xfrm>
          <a:prstGeom prst="rect">
            <a:avLst/>
          </a:prstGeom>
          <a:noFill/>
          <a:ln/>
        </p:spPr>
        <p:txBody>
          <a:bodyPr wrap="square" lIns="0" tIns="0" rIns="0" bIns="0" rtlCol="0" anchor="ctr"/>
          <a:lstStyle/>
          <a:p>
            <a:pPr indent="0" marL="0">
              <a:buNone/>
            </a:pPr>
            <a:r>
              <a:rPr lang="en-US" sz="1600" b="1" dirty="0">
                <a:solidFill>
                  <a:srgbClr val="F7FAFC"/>
                </a:solidFill>
              </a:rPr>
              <a:t>Application / controller</a:t>
            </a:r>
            <a:endParaRPr lang="en-US" sz="1600" dirty="0"/>
          </a:p>
        </p:txBody>
      </p:sp>
      <p:sp>
        <p:nvSpPr>
          <p:cNvPr id="11" name="Text 9"/>
          <p:cNvSpPr/>
          <p:nvPr/>
        </p:nvSpPr>
        <p:spPr>
          <a:xfrm>
            <a:off x="914400" y="2414016"/>
            <a:ext cx="4773168" cy="3328416"/>
          </a:xfrm>
          <a:prstGeom prst="rect">
            <a:avLst/>
          </a:prstGeom>
          <a:noFill/>
          <a:ln/>
        </p:spPr>
        <p:txBody>
          <a:bodyPr wrap="square" lIns="254" tIns="254" rIns="254" bIns="254" rtlCol="0" anchor="t"/>
          <a:lstStyle/>
          <a:p>
            <a:pPr indent="0" marL="0">
              <a:buNone/>
            </a:pPr>
            <a:r>
              <a:rPr lang="en-US" sz="1150" dirty="0">
                <a:solidFill>
                  <a:srgbClr val="D8E3F0"/>
                </a:solidFill>
              </a:rPr>
              <a:t>✓ Verify webhook actor and repository</a:t>
            </a:r>
            <a:endParaRPr lang="en-US" sz="1150" dirty="0"/>
          </a:p>
          <a:p>
            <a:pPr indent="0" marL="0">
              <a:buNone/>
            </a:pPr>
            <a:endParaRPr lang="en-US" sz="1150" dirty="0"/>
          </a:p>
          <a:p>
            <a:pPr indent="0" marL="0">
              <a:buNone/>
            </a:pPr>
            <a:r>
              <a:rPr lang="en-US" sz="1150" dirty="0">
                <a:solidFill>
                  <a:srgbClr val="D8E3F0"/>
                </a:solidFill>
              </a:rPr>
              <a:t>✓ Claim work idempotently</a:t>
            </a:r>
            <a:endParaRPr lang="en-US" sz="1150" dirty="0"/>
          </a:p>
          <a:p>
            <a:pPr indent="0" marL="0">
              <a:buNone/>
            </a:pPr>
            <a:endParaRPr lang="en-US" sz="1150" dirty="0"/>
          </a:p>
          <a:p>
            <a:pPr indent="0" marL="0">
              <a:buNone/>
            </a:pPr>
            <a:r>
              <a:rPr lang="en-US" sz="1150" dirty="0">
                <a:solidFill>
                  <a:srgbClr val="D8E3F0"/>
                </a:solidFill>
              </a:rPr>
              <a:t>✓ Restrict tools and credentials</a:t>
            </a:r>
            <a:endParaRPr lang="en-US" sz="1150" dirty="0"/>
          </a:p>
          <a:p>
            <a:pPr indent="0" marL="0">
              <a:buNone/>
            </a:pPr>
            <a:endParaRPr lang="en-US" sz="1150" dirty="0"/>
          </a:p>
          <a:p>
            <a:pPr indent="0" marL="0">
              <a:buNone/>
            </a:pPr>
            <a:r>
              <a:rPr lang="en-US" sz="1150" dirty="0">
                <a:solidFill>
                  <a:srgbClr val="D8E3F0"/>
                </a:solidFill>
              </a:rPr>
              <a:t>✓ Poll Jenkins and persist state</a:t>
            </a:r>
            <a:endParaRPr lang="en-US" sz="1150" dirty="0"/>
          </a:p>
          <a:p>
            <a:pPr indent="0" marL="0">
              <a:buNone/>
            </a:pPr>
            <a:endParaRPr lang="en-US" sz="1150" dirty="0"/>
          </a:p>
          <a:p>
            <a:pPr indent="0" marL="0">
              <a:buNone/>
            </a:pPr>
            <a:r>
              <a:rPr lang="en-US" sz="1150" dirty="0">
                <a:solidFill>
                  <a:srgbClr val="D8E3F0"/>
                </a:solidFill>
              </a:rPr>
              <a:t>✓ Validate JSON contracts</a:t>
            </a:r>
            <a:endParaRPr lang="en-US" sz="1150" dirty="0"/>
          </a:p>
          <a:p>
            <a:pPr indent="0" marL="0">
              <a:buNone/>
            </a:pPr>
            <a:endParaRPr lang="en-US" sz="1150" dirty="0"/>
          </a:p>
          <a:p>
            <a:pPr indent="0" marL="0">
              <a:buNone/>
            </a:pPr>
            <a:r>
              <a:rPr lang="en-US" sz="1150" dirty="0">
                <a:solidFill>
                  <a:srgbClr val="D8E3F0"/>
                </a:solidFill>
              </a:rPr>
              <a:t>✓ Verify commit + build + report before closure</a:t>
            </a:r>
            <a:endParaRPr lang="en-US" sz="1150" dirty="0"/>
          </a:p>
        </p:txBody>
      </p:sp>
      <p:sp>
        <p:nvSpPr>
          <p:cNvPr id="12" name="Shape 10"/>
          <p:cNvSpPr/>
          <p:nvPr/>
        </p:nvSpPr>
        <p:spPr>
          <a:xfrm>
            <a:off x="6245352" y="1783080"/>
            <a:ext cx="5285232" cy="4133088"/>
          </a:xfrm>
          <a:prstGeom prst="roundRect">
            <a:avLst>
              <a:gd name="adj" fmla="val 177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3" name="Shape 11"/>
          <p:cNvSpPr/>
          <p:nvPr/>
        </p:nvSpPr>
        <p:spPr>
          <a:xfrm>
            <a:off x="6245352" y="1783080"/>
            <a:ext cx="54864" cy="4133088"/>
          </a:xfrm>
          <a:prstGeom prst="rect">
            <a:avLst/>
          </a:prstGeom>
          <a:solidFill>
            <a:srgbClr val="A78BFA"/>
          </a:solidFill>
          <a:ln w="12700">
            <a:solidFill>
              <a:srgbClr val="A78BFA">
                <a:alpha val="0"/>
              </a:srgbClr>
            </a:solidFill>
            <a:prstDash val="solid"/>
          </a:ln>
        </p:spPr>
      </p:sp>
      <p:sp>
        <p:nvSpPr>
          <p:cNvPr id="14" name="Text 12"/>
          <p:cNvSpPr/>
          <p:nvPr/>
        </p:nvSpPr>
        <p:spPr>
          <a:xfrm>
            <a:off x="6501384" y="1947672"/>
            <a:ext cx="4773168" cy="329184"/>
          </a:xfrm>
          <a:prstGeom prst="rect">
            <a:avLst/>
          </a:prstGeom>
          <a:noFill/>
          <a:ln/>
        </p:spPr>
        <p:txBody>
          <a:bodyPr wrap="square" lIns="0" tIns="0" rIns="0" bIns="0" rtlCol="0" anchor="ctr"/>
          <a:lstStyle/>
          <a:p>
            <a:pPr indent="0" marL="0">
              <a:buNone/>
            </a:pPr>
            <a:r>
              <a:rPr lang="en-US" sz="1600" b="1" dirty="0">
                <a:solidFill>
                  <a:srgbClr val="F7FAFC"/>
                </a:solidFill>
              </a:rPr>
              <a:t>Copilot session</a:t>
            </a:r>
            <a:endParaRPr lang="en-US" sz="1600" dirty="0"/>
          </a:p>
        </p:txBody>
      </p:sp>
      <p:sp>
        <p:nvSpPr>
          <p:cNvPr id="15" name="Text 13"/>
          <p:cNvSpPr/>
          <p:nvPr/>
        </p:nvSpPr>
        <p:spPr>
          <a:xfrm>
            <a:off x="6501384" y="2414016"/>
            <a:ext cx="4773168" cy="3328416"/>
          </a:xfrm>
          <a:prstGeom prst="rect">
            <a:avLst/>
          </a:prstGeom>
          <a:noFill/>
          <a:ln/>
        </p:spPr>
        <p:txBody>
          <a:bodyPr wrap="square" lIns="254" tIns="254" rIns="254" bIns="254" rtlCol="0" anchor="t"/>
          <a:lstStyle/>
          <a:p>
            <a:pPr indent="0" marL="0">
              <a:buNone/>
            </a:pPr>
            <a:r>
              <a:rPr lang="en-US" sz="1150" dirty="0">
                <a:solidFill>
                  <a:srgbClr val="D8E3F0"/>
                </a:solidFill>
              </a:rPr>
              <a:t>✓ Interpret goals and evidence</a:t>
            </a:r>
            <a:endParaRPr lang="en-US" sz="1150" dirty="0"/>
          </a:p>
          <a:p>
            <a:pPr indent="0" marL="0">
              <a:buNone/>
            </a:pPr>
            <a:endParaRPr lang="en-US" sz="1150" dirty="0"/>
          </a:p>
          <a:p>
            <a:pPr indent="0" marL="0">
              <a:buNone/>
            </a:pPr>
            <a:r>
              <a:rPr lang="en-US" sz="1150" dirty="0">
                <a:solidFill>
                  <a:srgbClr val="D8E3F0"/>
                </a:solidFill>
              </a:rPr>
              <a:t>✓ Select or invoke appropriate skills</a:t>
            </a:r>
            <a:endParaRPr lang="en-US" sz="1150" dirty="0"/>
          </a:p>
          <a:p>
            <a:pPr indent="0" marL="0">
              <a:buNone/>
            </a:pPr>
            <a:endParaRPr lang="en-US" sz="1150" dirty="0"/>
          </a:p>
          <a:p>
            <a:pPr indent="0" marL="0">
              <a:buNone/>
            </a:pPr>
            <a:r>
              <a:rPr lang="en-US" sz="1150" dirty="0">
                <a:solidFill>
                  <a:srgbClr val="D8E3F0"/>
                </a:solidFill>
              </a:rPr>
              <a:t>✓ Research code and propose changes</a:t>
            </a:r>
            <a:endParaRPr lang="en-US" sz="1150" dirty="0"/>
          </a:p>
          <a:p>
            <a:pPr indent="0" marL="0">
              <a:buNone/>
            </a:pPr>
            <a:endParaRPr lang="en-US" sz="1150" dirty="0"/>
          </a:p>
          <a:p>
            <a:pPr indent="0" marL="0">
              <a:buNone/>
            </a:pPr>
            <a:r>
              <a:rPr lang="en-US" sz="1150" dirty="0">
                <a:solidFill>
                  <a:srgbClr val="D8E3F0"/>
                </a:solidFill>
              </a:rPr>
              <a:t>✓ Use allowed tools with permission checks</a:t>
            </a:r>
            <a:endParaRPr lang="en-US" sz="1150" dirty="0"/>
          </a:p>
          <a:p>
            <a:pPr indent="0" marL="0">
              <a:buNone/>
            </a:pPr>
            <a:endParaRPr lang="en-US" sz="1150" dirty="0"/>
          </a:p>
          <a:p>
            <a:pPr indent="0" marL="0">
              <a:buNone/>
            </a:pPr>
            <a:r>
              <a:rPr lang="en-US" sz="1150" dirty="0">
                <a:solidFill>
                  <a:srgbClr val="D8E3F0"/>
                </a:solidFill>
              </a:rPr>
              <a:t>✓ Explain failures and remediation options</a:t>
            </a:r>
            <a:endParaRPr lang="en-US" sz="1150" dirty="0"/>
          </a:p>
          <a:p>
            <a:pPr indent="0" marL="0">
              <a:buNone/>
            </a:pPr>
            <a:endParaRPr lang="en-US" sz="1150" dirty="0"/>
          </a:p>
          <a:p>
            <a:pPr indent="0" marL="0">
              <a:buNone/>
            </a:pPr>
            <a:r>
              <a:rPr lang="en-US" sz="1150" dirty="0">
                <a:solidFill>
                  <a:srgbClr val="D8E3F0"/>
                </a:solidFill>
              </a:rPr>
              <a:t>✕ Never becomes credential or completion authority</a:t>
            </a:r>
            <a:endParaRPr lang="en-US" sz="1150" dirty="0"/>
          </a:p>
        </p:txBody>
      </p:sp>
      <p:sp>
        <p:nvSpPr>
          <p:cNvPr id="16" name="Text 14"/>
          <p:cNvSpPr/>
          <p:nvPr/>
        </p:nvSpPr>
        <p:spPr>
          <a:xfrm>
            <a:off x="7635240" y="6547104"/>
            <a:ext cx="3429000" cy="182880"/>
          </a:xfrm>
          <a:prstGeom prst="rect">
            <a:avLst/>
          </a:prstGeom>
          <a:noFill/>
          <a:ln/>
        </p:spPr>
        <p:txBody>
          <a:bodyPr wrap="square" lIns="0" tIns="0" rIns="0" bIns="0" rtlCol="0" anchor="ctr"/>
          <a:lstStyle/>
          <a:p>
            <a:pPr algn="r" indent="0" marL="0">
              <a:buNone/>
            </a:pPr>
            <a:r>
              <a:rPr lang="en-US" sz="820" u="sng" dirty="0">
                <a:solidFill>
                  <a:srgbClr val="91A4B8"/>
                </a:solidFill>
                <a:hlinkClick r:id="rId1" invalidUrl="" action="" tgtFrame="" tooltip="" history="1" highlightClick="0" endSnd="0">
                  <a:extLst>
                    <a:ext uri="{A12FA001-AC4F-418D-AE19-62706E023703}">
                      <ahyp:hlinkClr xmlns:ahyp="http://schemas.microsoft.com/office/drawing/2018/hyperlinkcolor" val="tx"/>
                    </a:ext>
                  </a:extLst>
                </a:hlinkClick>
              </a:rPr>
              <a:t>Hooks and permission controls</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REALITY CHECK</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What we learned</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The prototype answered architectural questions—and exposed integration risks.</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12</a:t>
            </a:r>
            <a:endParaRPr lang="en-US" sz="850" dirty="0"/>
          </a:p>
        </p:txBody>
      </p:sp>
      <p:sp>
        <p:nvSpPr>
          <p:cNvPr id="8" name="Shape 6"/>
          <p:cNvSpPr/>
          <p:nvPr/>
        </p:nvSpPr>
        <p:spPr>
          <a:xfrm>
            <a:off x="658368" y="1700784"/>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9" name="Shape 7"/>
          <p:cNvSpPr/>
          <p:nvPr/>
        </p:nvSpPr>
        <p:spPr>
          <a:xfrm>
            <a:off x="658368" y="1700784"/>
            <a:ext cx="54864" cy="1170432"/>
          </a:xfrm>
          <a:prstGeom prst="rect">
            <a:avLst/>
          </a:prstGeom>
          <a:solidFill>
            <a:srgbClr val="38BDF8"/>
          </a:solidFill>
          <a:ln w="12700">
            <a:solidFill>
              <a:srgbClr val="38BDF8">
                <a:alpha val="0"/>
              </a:srgbClr>
            </a:solidFill>
            <a:prstDash val="solid"/>
          </a:ln>
        </p:spPr>
      </p:sp>
      <p:sp>
        <p:nvSpPr>
          <p:cNvPr id="10" name="Text 8"/>
          <p:cNvSpPr/>
          <p:nvPr/>
        </p:nvSpPr>
        <p:spPr>
          <a:xfrm>
            <a:off x="877824" y="1883664"/>
            <a:ext cx="438912" cy="292608"/>
          </a:xfrm>
          <a:prstGeom prst="rect">
            <a:avLst/>
          </a:prstGeom>
          <a:noFill/>
          <a:ln/>
        </p:spPr>
        <p:txBody>
          <a:bodyPr wrap="square" lIns="0" tIns="0" rIns="0" bIns="0" rtlCol="0" anchor="ctr"/>
          <a:lstStyle/>
          <a:p>
            <a:pPr indent="0" marL="0">
              <a:buNone/>
            </a:pPr>
            <a:r>
              <a:rPr lang="en-US" sz="1500" b="1" dirty="0">
                <a:solidFill>
                  <a:srgbClr val="38BDF8"/>
                </a:solidFill>
              </a:rPr>
              <a:t>01</a:t>
            </a:r>
            <a:endParaRPr lang="en-US" sz="1500" dirty="0"/>
          </a:p>
        </p:txBody>
      </p:sp>
      <p:sp>
        <p:nvSpPr>
          <p:cNvPr id="11" name="Text 9"/>
          <p:cNvSpPr/>
          <p:nvPr/>
        </p:nvSpPr>
        <p:spPr>
          <a:xfrm>
            <a:off x="1380744" y="1865376"/>
            <a:ext cx="4471416" cy="329184"/>
          </a:xfrm>
          <a:prstGeom prst="rect">
            <a:avLst/>
          </a:prstGeom>
          <a:noFill/>
          <a:ln/>
        </p:spPr>
        <p:txBody>
          <a:bodyPr wrap="square" lIns="0" tIns="0" rIns="0" bIns="0" rtlCol="0" anchor="ctr"/>
          <a:lstStyle/>
          <a:p>
            <a:pPr indent="0" marL="0">
              <a:buNone/>
            </a:pPr>
            <a:r>
              <a:rPr lang="en-US" sz="1600" b="1" dirty="0">
                <a:solidFill>
                  <a:srgbClr val="F7FAFC"/>
                </a:solidFill>
              </a:rPr>
              <a:t>Sessions are boundaries</a:t>
            </a:r>
            <a:endParaRPr lang="en-US" sz="1600" dirty="0"/>
          </a:p>
        </p:txBody>
      </p:sp>
      <p:sp>
        <p:nvSpPr>
          <p:cNvPr id="12" name="Text 10"/>
          <p:cNvSpPr/>
          <p:nvPr/>
        </p:nvSpPr>
        <p:spPr>
          <a:xfrm>
            <a:off x="914400" y="2331720"/>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Fresh sessions reduce accidental context carryover, but JSON still needs validation.</a:t>
            </a:r>
            <a:endParaRPr lang="en-US" sz="1150" dirty="0"/>
          </a:p>
        </p:txBody>
      </p:sp>
      <p:sp>
        <p:nvSpPr>
          <p:cNvPr id="13" name="Shape 11"/>
          <p:cNvSpPr/>
          <p:nvPr/>
        </p:nvSpPr>
        <p:spPr>
          <a:xfrm>
            <a:off x="6391656" y="1700784"/>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4" name="Shape 12"/>
          <p:cNvSpPr/>
          <p:nvPr/>
        </p:nvSpPr>
        <p:spPr>
          <a:xfrm>
            <a:off x="6391656" y="1700784"/>
            <a:ext cx="54864" cy="1170432"/>
          </a:xfrm>
          <a:prstGeom prst="rect">
            <a:avLst/>
          </a:prstGeom>
          <a:solidFill>
            <a:srgbClr val="3DDC97"/>
          </a:solidFill>
          <a:ln w="12700">
            <a:solidFill>
              <a:srgbClr val="3DDC97">
                <a:alpha val="0"/>
              </a:srgbClr>
            </a:solidFill>
            <a:prstDash val="solid"/>
          </a:ln>
        </p:spPr>
      </p:sp>
      <p:sp>
        <p:nvSpPr>
          <p:cNvPr id="15" name="Text 13"/>
          <p:cNvSpPr/>
          <p:nvPr/>
        </p:nvSpPr>
        <p:spPr>
          <a:xfrm>
            <a:off x="6611112" y="1883664"/>
            <a:ext cx="438912" cy="292608"/>
          </a:xfrm>
          <a:prstGeom prst="rect">
            <a:avLst/>
          </a:prstGeom>
          <a:noFill/>
          <a:ln/>
        </p:spPr>
        <p:txBody>
          <a:bodyPr wrap="square" lIns="0" tIns="0" rIns="0" bIns="0" rtlCol="0" anchor="ctr"/>
          <a:lstStyle/>
          <a:p>
            <a:pPr indent="0" marL="0">
              <a:buNone/>
            </a:pPr>
            <a:r>
              <a:rPr lang="en-US" sz="1500" b="1" dirty="0">
                <a:solidFill>
                  <a:srgbClr val="3DDC97"/>
                </a:solidFill>
              </a:rPr>
              <a:t>02</a:t>
            </a:r>
            <a:endParaRPr lang="en-US" sz="1500" dirty="0"/>
          </a:p>
        </p:txBody>
      </p:sp>
      <p:sp>
        <p:nvSpPr>
          <p:cNvPr id="16" name="Text 14"/>
          <p:cNvSpPr/>
          <p:nvPr/>
        </p:nvSpPr>
        <p:spPr>
          <a:xfrm>
            <a:off x="7114032" y="1865376"/>
            <a:ext cx="4471416" cy="329184"/>
          </a:xfrm>
          <a:prstGeom prst="rect">
            <a:avLst/>
          </a:prstGeom>
          <a:noFill/>
          <a:ln/>
        </p:spPr>
        <p:txBody>
          <a:bodyPr wrap="square" lIns="0" tIns="0" rIns="0" bIns="0" rtlCol="0" anchor="ctr"/>
          <a:lstStyle/>
          <a:p>
            <a:pPr indent="0" marL="0">
              <a:buNone/>
            </a:pPr>
            <a:r>
              <a:rPr lang="en-US" sz="1600" b="1" dirty="0">
                <a:solidFill>
                  <a:srgbClr val="F7FAFC"/>
                </a:solidFill>
              </a:rPr>
              <a:t>Discovery ≠ invocation</a:t>
            </a:r>
            <a:endParaRPr lang="en-US" sz="1600" dirty="0"/>
          </a:p>
        </p:txBody>
      </p:sp>
      <p:sp>
        <p:nvSpPr>
          <p:cNvPr id="17" name="Text 15"/>
          <p:cNvSpPr/>
          <p:nvPr/>
        </p:nvSpPr>
        <p:spPr>
          <a:xfrm>
            <a:off x="6647688" y="2331720"/>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A visible skill is not proof the runtime actually selected and followed it.</a:t>
            </a:r>
            <a:endParaRPr lang="en-US" sz="1150" dirty="0"/>
          </a:p>
        </p:txBody>
      </p:sp>
      <p:sp>
        <p:nvSpPr>
          <p:cNvPr id="18" name="Shape 16"/>
          <p:cNvSpPr/>
          <p:nvPr/>
        </p:nvSpPr>
        <p:spPr>
          <a:xfrm>
            <a:off x="658368" y="3145536"/>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9" name="Shape 17"/>
          <p:cNvSpPr/>
          <p:nvPr/>
        </p:nvSpPr>
        <p:spPr>
          <a:xfrm>
            <a:off x="658368" y="3145536"/>
            <a:ext cx="54864" cy="1170432"/>
          </a:xfrm>
          <a:prstGeom prst="rect">
            <a:avLst/>
          </a:prstGeom>
          <a:solidFill>
            <a:srgbClr val="4F7CFF"/>
          </a:solidFill>
          <a:ln w="12700">
            <a:solidFill>
              <a:srgbClr val="4F7CFF">
                <a:alpha val="0"/>
              </a:srgbClr>
            </a:solidFill>
            <a:prstDash val="solid"/>
          </a:ln>
        </p:spPr>
      </p:sp>
      <p:sp>
        <p:nvSpPr>
          <p:cNvPr id="20" name="Text 18"/>
          <p:cNvSpPr/>
          <p:nvPr/>
        </p:nvSpPr>
        <p:spPr>
          <a:xfrm>
            <a:off x="877824" y="3328416"/>
            <a:ext cx="438912" cy="292608"/>
          </a:xfrm>
          <a:prstGeom prst="rect">
            <a:avLst/>
          </a:prstGeom>
          <a:noFill/>
          <a:ln/>
        </p:spPr>
        <p:txBody>
          <a:bodyPr wrap="square" lIns="0" tIns="0" rIns="0" bIns="0" rtlCol="0" anchor="ctr"/>
          <a:lstStyle/>
          <a:p>
            <a:pPr indent="0" marL="0">
              <a:buNone/>
            </a:pPr>
            <a:r>
              <a:rPr lang="en-US" sz="1500" b="1" dirty="0">
                <a:solidFill>
                  <a:srgbClr val="4F7CFF"/>
                </a:solidFill>
              </a:rPr>
              <a:t>03</a:t>
            </a:r>
            <a:endParaRPr lang="en-US" sz="1500" dirty="0"/>
          </a:p>
        </p:txBody>
      </p:sp>
      <p:sp>
        <p:nvSpPr>
          <p:cNvPr id="21" name="Text 19"/>
          <p:cNvSpPr/>
          <p:nvPr/>
        </p:nvSpPr>
        <p:spPr>
          <a:xfrm>
            <a:off x="1380744" y="3310128"/>
            <a:ext cx="4471416" cy="329184"/>
          </a:xfrm>
          <a:prstGeom prst="rect">
            <a:avLst/>
          </a:prstGeom>
          <a:noFill/>
          <a:ln/>
        </p:spPr>
        <p:txBody>
          <a:bodyPr wrap="square" lIns="0" tIns="0" rIns="0" bIns="0" rtlCol="0" anchor="ctr"/>
          <a:lstStyle/>
          <a:p>
            <a:pPr indent="0" marL="0">
              <a:buNone/>
            </a:pPr>
            <a:r>
              <a:rPr lang="en-US" sz="1600" b="1" dirty="0">
                <a:solidFill>
                  <a:srgbClr val="F7FAFC"/>
                </a:solidFill>
              </a:rPr>
              <a:t>Models are account-specific</a:t>
            </a:r>
            <a:endParaRPr lang="en-US" sz="1600" dirty="0"/>
          </a:p>
        </p:txBody>
      </p:sp>
      <p:sp>
        <p:nvSpPr>
          <p:cNvPr id="22" name="Text 20"/>
          <p:cNvSpPr/>
          <p:nvPr/>
        </p:nvSpPr>
        <p:spPr>
          <a:xfrm>
            <a:off x="914400" y="3776472"/>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List what is available; never hard-code an assumed model without fallback.</a:t>
            </a:r>
            <a:endParaRPr lang="en-US" sz="1150" dirty="0"/>
          </a:p>
        </p:txBody>
      </p:sp>
      <p:sp>
        <p:nvSpPr>
          <p:cNvPr id="23" name="Shape 21"/>
          <p:cNvSpPr/>
          <p:nvPr/>
        </p:nvSpPr>
        <p:spPr>
          <a:xfrm>
            <a:off x="6391656" y="3145536"/>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24" name="Shape 22"/>
          <p:cNvSpPr/>
          <p:nvPr/>
        </p:nvSpPr>
        <p:spPr>
          <a:xfrm>
            <a:off x="6391656" y="3145536"/>
            <a:ext cx="54864" cy="1170432"/>
          </a:xfrm>
          <a:prstGeom prst="rect">
            <a:avLst/>
          </a:prstGeom>
          <a:solidFill>
            <a:srgbClr val="F7C948"/>
          </a:solidFill>
          <a:ln w="12700">
            <a:solidFill>
              <a:srgbClr val="F7C948">
                <a:alpha val="0"/>
              </a:srgbClr>
            </a:solidFill>
            <a:prstDash val="solid"/>
          </a:ln>
        </p:spPr>
      </p:sp>
      <p:sp>
        <p:nvSpPr>
          <p:cNvPr id="25" name="Text 23"/>
          <p:cNvSpPr/>
          <p:nvPr/>
        </p:nvSpPr>
        <p:spPr>
          <a:xfrm>
            <a:off x="6611112" y="3328416"/>
            <a:ext cx="438912" cy="292608"/>
          </a:xfrm>
          <a:prstGeom prst="rect">
            <a:avLst/>
          </a:prstGeom>
          <a:noFill/>
          <a:ln/>
        </p:spPr>
        <p:txBody>
          <a:bodyPr wrap="square" lIns="0" tIns="0" rIns="0" bIns="0" rtlCol="0" anchor="ctr"/>
          <a:lstStyle/>
          <a:p>
            <a:pPr indent="0" marL="0">
              <a:buNone/>
            </a:pPr>
            <a:r>
              <a:rPr lang="en-US" sz="1500" b="1" dirty="0">
                <a:solidFill>
                  <a:srgbClr val="F7C948"/>
                </a:solidFill>
              </a:rPr>
              <a:t>04</a:t>
            </a:r>
            <a:endParaRPr lang="en-US" sz="1500" dirty="0"/>
          </a:p>
        </p:txBody>
      </p:sp>
      <p:sp>
        <p:nvSpPr>
          <p:cNvPr id="26" name="Text 24"/>
          <p:cNvSpPr/>
          <p:nvPr/>
        </p:nvSpPr>
        <p:spPr>
          <a:xfrm>
            <a:off x="7114032" y="3310128"/>
            <a:ext cx="4471416" cy="329184"/>
          </a:xfrm>
          <a:prstGeom prst="rect">
            <a:avLst/>
          </a:prstGeom>
          <a:noFill/>
          <a:ln/>
        </p:spPr>
        <p:txBody>
          <a:bodyPr wrap="square" lIns="0" tIns="0" rIns="0" bIns="0" rtlCol="0" anchor="ctr"/>
          <a:lstStyle/>
          <a:p>
            <a:pPr indent="0" marL="0">
              <a:buNone/>
            </a:pPr>
            <a:r>
              <a:rPr lang="en-US" sz="1600" b="1" dirty="0">
                <a:solidFill>
                  <a:srgbClr val="F7FAFC"/>
                </a:solidFill>
              </a:rPr>
              <a:t>Extensions are experimental</a:t>
            </a:r>
            <a:endParaRPr lang="en-US" sz="1600" dirty="0"/>
          </a:p>
        </p:txBody>
      </p:sp>
      <p:sp>
        <p:nvSpPr>
          <p:cNvPr id="27" name="Text 25"/>
          <p:cNvSpPr/>
          <p:nvPr/>
        </p:nvSpPr>
        <p:spPr>
          <a:xfrm>
            <a:off x="6647688" y="3776472"/>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Agent Factory and fleet behavior can depend on matched SDK and runtime versions.</a:t>
            </a:r>
            <a:endParaRPr lang="en-US" sz="1150" dirty="0"/>
          </a:p>
        </p:txBody>
      </p:sp>
      <p:sp>
        <p:nvSpPr>
          <p:cNvPr id="28" name="Shape 26"/>
          <p:cNvSpPr/>
          <p:nvPr/>
        </p:nvSpPr>
        <p:spPr>
          <a:xfrm>
            <a:off x="658368" y="4590288"/>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29" name="Shape 27"/>
          <p:cNvSpPr/>
          <p:nvPr/>
        </p:nvSpPr>
        <p:spPr>
          <a:xfrm>
            <a:off x="658368" y="4590288"/>
            <a:ext cx="54864" cy="1170432"/>
          </a:xfrm>
          <a:prstGeom prst="rect">
            <a:avLst/>
          </a:prstGeom>
          <a:solidFill>
            <a:srgbClr val="A78BFA"/>
          </a:solidFill>
          <a:ln w="12700">
            <a:solidFill>
              <a:srgbClr val="A78BFA">
                <a:alpha val="0"/>
              </a:srgbClr>
            </a:solidFill>
            <a:prstDash val="solid"/>
          </a:ln>
        </p:spPr>
      </p:sp>
      <p:sp>
        <p:nvSpPr>
          <p:cNvPr id="30" name="Text 28"/>
          <p:cNvSpPr/>
          <p:nvPr/>
        </p:nvSpPr>
        <p:spPr>
          <a:xfrm>
            <a:off x="877824" y="4773168"/>
            <a:ext cx="438912" cy="292608"/>
          </a:xfrm>
          <a:prstGeom prst="rect">
            <a:avLst/>
          </a:prstGeom>
          <a:noFill/>
          <a:ln/>
        </p:spPr>
        <p:txBody>
          <a:bodyPr wrap="square" lIns="0" tIns="0" rIns="0" bIns="0" rtlCol="0" anchor="ctr"/>
          <a:lstStyle/>
          <a:p>
            <a:pPr indent="0" marL="0">
              <a:buNone/>
            </a:pPr>
            <a:r>
              <a:rPr lang="en-US" sz="1500" b="1" dirty="0">
                <a:solidFill>
                  <a:srgbClr val="A78BFA"/>
                </a:solidFill>
              </a:rPr>
              <a:t>05</a:t>
            </a:r>
            <a:endParaRPr lang="en-US" sz="1500" dirty="0"/>
          </a:p>
        </p:txBody>
      </p:sp>
      <p:sp>
        <p:nvSpPr>
          <p:cNvPr id="31" name="Text 29"/>
          <p:cNvSpPr/>
          <p:nvPr/>
        </p:nvSpPr>
        <p:spPr>
          <a:xfrm>
            <a:off x="1380744" y="4754880"/>
            <a:ext cx="4471416" cy="329184"/>
          </a:xfrm>
          <a:prstGeom prst="rect">
            <a:avLst/>
          </a:prstGeom>
          <a:noFill/>
          <a:ln/>
        </p:spPr>
        <p:txBody>
          <a:bodyPr wrap="square" lIns="0" tIns="0" rIns="0" bIns="0" rtlCol="0" anchor="ctr"/>
          <a:lstStyle/>
          <a:p>
            <a:pPr indent="0" marL="0">
              <a:buNone/>
            </a:pPr>
            <a:r>
              <a:rPr lang="en-US" sz="1600" b="1" dirty="0">
                <a:solidFill>
                  <a:srgbClr val="F7FAFC"/>
                </a:solidFill>
              </a:rPr>
              <a:t>Polling is ordinary software</a:t>
            </a:r>
            <a:endParaRPr lang="en-US" sz="1600" dirty="0"/>
          </a:p>
        </p:txBody>
      </p:sp>
      <p:sp>
        <p:nvSpPr>
          <p:cNvPr id="32" name="Text 30"/>
          <p:cNvSpPr/>
          <p:nvPr/>
        </p:nvSpPr>
        <p:spPr>
          <a:xfrm>
            <a:off x="914400" y="5221224"/>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Long waits, retries, idempotency, and state belong outside the model loop.</a:t>
            </a:r>
            <a:endParaRPr lang="en-US" sz="1150" dirty="0"/>
          </a:p>
        </p:txBody>
      </p:sp>
      <p:sp>
        <p:nvSpPr>
          <p:cNvPr id="33" name="Shape 31"/>
          <p:cNvSpPr/>
          <p:nvPr/>
        </p:nvSpPr>
        <p:spPr>
          <a:xfrm>
            <a:off x="6391656" y="4590288"/>
            <a:ext cx="5413248" cy="1170432"/>
          </a:xfrm>
          <a:prstGeom prst="roundRect">
            <a:avLst>
              <a:gd name="adj" fmla="val 6250"/>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34" name="Shape 32"/>
          <p:cNvSpPr/>
          <p:nvPr/>
        </p:nvSpPr>
        <p:spPr>
          <a:xfrm>
            <a:off x="6391656" y="4590288"/>
            <a:ext cx="54864" cy="1170432"/>
          </a:xfrm>
          <a:prstGeom prst="rect">
            <a:avLst/>
          </a:prstGeom>
          <a:solidFill>
            <a:srgbClr val="FF6B6B"/>
          </a:solidFill>
          <a:ln w="12700">
            <a:solidFill>
              <a:srgbClr val="FF6B6B">
                <a:alpha val="0"/>
              </a:srgbClr>
            </a:solidFill>
            <a:prstDash val="solid"/>
          </a:ln>
        </p:spPr>
      </p:sp>
      <p:sp>
        <p:nvSpPr>
          <p:cNvPr id="35" name="Text 33"/>
          <p:cNvSpPr/>
          <p:nvPr/>
        </p:nvSpPr>
        <p:spPr>
          <a:xfrm>
            <a:off x="6611112" y="4773168"/>
            <a:ext cx="438912" cy="292608"/>
          </a:xfrm>
          <a:prstGeom prst="rect">
            <a:avLst/>
          </a:prstGeom>
          <a:noFill/>
          <a:ln/>
        </p:spPr>
        <p:txBody>
          <a:bodyPr wrap="square" lIns="0" tIns="0" rIns="0" bIns="0" rtlCol="0" anchor="ctr"/>
          <a:lstStyle/>
          <a:p>
            <a:pPr indent="0" marL="0">
              <a:buNone/>
            </a:pPr>
            <a:r>
              <a:rPr lang="en-US" sz="1500" b="1" dirty="0">
                <a:solidFill>
                  <a:srgbClr val="FF6B6B"/>
                </a:solidFill>
              </a:rPr>
              <a:t>06</a:t>
            </a:r>
            <a:endParaRPr lang="en-US" sz="1500" dirty="0"/>
          </a:p>
        </p:txBody>
      </p:sp>
      <p:sp>
        <p:nvSpPr>
          <p:cNvPr id="36" name="Text 34"/>
          <p:cNvSpPr/>
          <p:nvPr/>
        </p:nvSpPr>
        <p:spPr>
          <a:xfrm>
            <a:off x="7114032" y="4754880"/>
            <a:ext cx="4471416" cy="329184"/>
          </a:xfrm>
          <a:prstGeom prst="rect">
            <a:avLst/>
          </a:prstGeom>
          <a:noFill/>
          <a:ln/>
        </p:spPr>
        <p:txBody>
          <a:bodyPr wrap="square" lIns="0" tIns="0" rIns="0" bIns="0" rtlCol="0" anchor="ctr"/>
          <a:lstStyle/>
          <a:p>
            <a:pPr indent="0" marL="0">
              <a:buNone/>
            </a:pPr>
            <a:r>
              <a:rPr lang="en-US" sz="1600" b="1" dirty="0">
                <a:solidFill>
                  <a:srgbClr val="F7FAFC"/>
                </a:solidFill>
              </a:rPr>
              <a:t>Evidence beats confidence</a:t>
            </a:r>
            <a:endParaRPr lang="en-US" sz="1600" dirty="0"/>
          </a:p>
        </p:txBody>
      </p:sp>
      <p:sp>
        <p:nvSpPr>
          <p:cNvPr id="37" name="Text 35"/>
          <p:cNvSpPr/>
          <p:nvPr/>
        </p:nvSpPr>
        <p:spPr>
          <a:xfrm>
            <a:off x="6647688" y="5221224"/>
            <a:ext cx="4901184" cy="365760"/>
          </a:xfrm>
          <a:prstGeom prst="rect">
            <a:avLst/>
          </a:prstGeom>
          <a:noFill/>
          <a:ln/>
        </p:spPr>
        <p:txBody>
          <a:bodyPr wrap="square" lIns="254" tIns="254" rIns="254" bIns="254" rtlCol="0" anchor="t"/>
          <a:lstStyle/>
          <a:p>
            <a:pPr indent="0" marL="0">
              <a:buNone/>
            </a:pPr>
            <a:r>
              <a:rPr lang="en-US" sz="1150" dirty="0">
                <a:solidFill>
                  <a:srgbClr val="D8E3F0"/>
                </a:solidFill>
              </a:rPr>
              <a:t>Tests, build identity, and parsed reports—not fluent text—authorize completion.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NEXT STEPS</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A practical adoption path</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Move from read-only evidence to bounded automation in stages.</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13</a:t>
            </a:r>
            <a:endParaRPr lang="en-US" sz="850" dirty="0"/>
          </a:p>
        </p:txBody>
      </p:sp>
      <p:sp>
        <p:nvSpPr>
          <p:cNvPr id="8" name="Shape 6"/>
          <p:cNvSpPr/>
          <p:nvPr/>
        </p:nvSpPr>
        <p:spPr>
          <a:xfrm>
            <a:off x="658368" y="1874520"/>
            <a:ext cx="2514600" cy="3337560"/>
          </a:xfrm>
          <a:prstGeom prst="roundRect">
            <a:avLst>
              <a:gd name="adj" fmla="val 2909"/>
            </a:avLst>
          </a:prstGeom>
          <a:solidFill>
            <a:srgbClr val="0E1B2B"/>
          </a:solidFill>
          <a:ln w="17780">
            <a:solidFill>
              <a:srgbClr val="38BDF8"/>
            </a:solidFill>
            <a:prstDash val="solid"/>
          </a:ln>
        </p:spPr>
      </p:sp>
      <p:sp>
        <p:nvSpPr>
          <p:cNvPr id="9" name="Shape 7"/>
          <p:cNvSpPr/>
          <p:nvPr/>
        </p:nvSpPr>
        <p:spPr>
          <a:xfrm>
            <a:off x="1133856" y="2157984"/>
            <a:ext cx="1572768" cy="310896"/>
          </a:xfrm>
          <a:prstGeom prst="roundRect">
            <a:avLst>
              <a:gd name="adj" fmla="val 23529"/>
            </a:avLst>
          </a:prstGeom>
          <a:solidFill>
            <a:srgbClr val="38BDF8">
              <a:alpha val="14000"/>
            </a:srgbClr>
          </a:solidFill>
          <a:ln w="10160">
            <a:solidFill>
              <a:srgbClr val="38BDF8">
                <a:alpha val="40000"/>
              </a:srgbClr>
            </a:solidFill>
            <a:prstDash val="solid"/>
          </a:ln>
        </p:spPr>
      </p:sp>
      <p:sp>
        <p:nvSpPr>
          <p:cNvPr id="10" name="Text 8"/>
          <p:cNvSpPr/>
          <p:nvPr/>
        </p:nvSpPr>
        <p:spPr>
          <a:xfrm>
            <a:off x="1207008" y="2208276"/>
            <a:ext cx="1426464" cy="164592"/>
          </a:xfrm>
          <a:prstGeom prst="rect">
            <a:avLst/>
          </a:prstGeom>
          <a:noFill/>
          <a:ln/>
        </p:spPr>
        <p:txBody>
          <a:bodyPr wrap="square" lIns="0" tIns="0" rIns="0" bIns="0" rtlCol="0" anchor="ctr"/>
          <a:lstStyle/>
          <a:p>
            <a:pPr algn="ctr" indent="0" marL="0">
              <a:buNone/>
            </a:pPr>
            <a:r>
              <a:rPr lang="en-US" sz="950" b="1" dirty="0">
                <a:solidFill>
                  <a:srgbClr val="38BDF8"/>
                </a:solidFill>
              </a:rPr>
              <a:t>NOW</a:t>
            </a:r>
            <a:endParaRPr lang="en-US" sz="950" dirty="0"/>
          </a:p>
        </p:txBody>
      </p:sp>
      <p:sp>
        <p:nvSpPr>
          <p:cNvPr id="11" name="Text 9"/>
          <p:cNvSpPr/>
          <p:nvPr/>
        </p:nvSpPr>
        <p:spPr>
          <a:xfrm>
            <a:off x="877824" y="2788920"/>
            <a:ext cx="2075688" cy="502920"/>
          </a:xfrm>
          <a:prstGeom prst="rect">
            <a:avLst/>
          </a:prstGeom>
          <a:noFill/>
          <a:ln/>
        </p:spPr>
        <p:txBody>
          <a:bodyPr wrap="square" lIns="0" tIns="0" rIns="0" bIns="0" rtlCol="0" anchor="ctr"/>
          <a:lstStyle/>
          <a:p>
            <a:pPr algn="ctr" indent="0" marL="0">
              <a:buNone/>
            </a:pPr>
            <a:r>
              <a:rPr lang="en-US" sz="1800" b="1" dirty="0">
                <a:solidFill>
                  <a:srgbClr val="F7FAFC"/>
                </a:solidFill>
              </a:rPr>
              <a:t>Knowledge transfer</a:t>
            </a:r>
            <a:endParaRPr lang="en-US" sz="1800" dirty="0"/>
          </a:p>
        </p:txBody>
      </p:sp>
      <p:sp>
        <p:nvSpPr>
          <p:cNvPr id="12" name="Text 10"/>
          <p:cNvSpPr/>
          <p:nvPr/>
        </p:nvSpPr>
        <p:spPr>
          <a:xfrm>
            <a:off x="914400" y="3611880"/>
            <a:ext cx="2002536" cy="960120"/>
          </a:xfrm>
          <a:prstGeom prst="rect">
            <a:avLst/>
          </a:prstGeom>
          <a:noFill/>
          <a:ln/>
        </p:spPr>
        <p:txBody>
          <a:bodyPr wrap="square" lIns="0" tIns="0" rIns="0" bIns="0" rtlCol="0" anchor="ctr"/>
          <a:lstStyle/>
          <a:p>
            <a:pPr algn="ctr" indent="0" marL="0">
              <a:buNone/>
            </a:pPr>
            <a:r>
              <a:rPr lang="en-US" sz="1200" dirty="0">
                <a:solidFill>
                  <a:srgbClr val="D8E3F0"/>
                </a:solidFill>
              </a:rPr>
              <a:t>Share examples</a:t>
            </a:r>
            <a:endParaRPr lang="en-US" sz="1200" dirty="0"/>
          </a:p>
          <a:p>
            <a:pPr algn="ctr" indent="0" marL="0">
              <a:buNone/>
            </a:pPr>
            <a:r>
              <a:rPr lang="en-US" sz="1200" dirty="0">
                <a:solidFill>
                  <a:srgbClr val="D8E3F0"/>
                </a:solidFill>
              </a:rPr>
              <a:t>Agree vocabulary</a:t>
            </a:r>
            <a:endParaRPr lang="en-US" sz="1200" dirty="0"/>
          </a:p>
          <a:p>
            <a:pPr algn="ctr" indent="0" marL="0">
              <a:buNone/>
            </a:pPr>
            <a:r>
              <a:rPr lang="en-US" sz="1200" dirty="0">
                <a:solidFill>
                  <a:srgbClr val="D8E3F0"/>
                </a:solidFill>
              </a:rPr>
              <a:t>Choose one use case</a:t>
            </a:r>
            <a:endParaRPr lang="en-US" sz="1200" dirty="0"/>
          </a:p>
        </p:txBody>
      </p:sp>
      <p:sp>
        <p:nvSpPr>
          <p:cNvPr id="13" name="Shape 11"/>
          <p:cNvSpPr/>
          <p:nvPr/>
        </p:nvSpPr>
        <p:spPr>
          <a:xfrm>
            <a:off x="3172968" y="3529584"/>
            <a:ext cx="347472" cy="0"/>
          </a:xfrm>
          <a:prstGeom prst="line">
            <a:avLst/>
          </a:prstGeom>
          <a:noFill/>
          <a:ln w="19050">
            <a:solidFill>
              <a:srgbClr val="27415F"/>
            </a:solidFill>
            <a:prstDash val="solid"/>
            <a:headEnd type="none"/>
            <a:tailEnd type="triangle"/>
          </a:ln>
        </p:spPr>
      </p:sp>
      <p:sp>
        <p:nvSpPr>
          <p:cNvPr id="14" name="Shape 12"/>
          <p:cNvSpPr/>
          <p:nvPr/>
        </p:nvSpPr>
        <p:spPr>
          <a:xfrm>
            <a:off x="3520440" y="1874520"/>
            <a:ext cx="2514600" cy="3337560"/>
          </a:xfrm>
          <a:prstGeom prst="roundRect">
            <a:avLst>
              <a:gd name="adj" fmla="val 2909"/>
            </a:avLst>
          </a:prstGeom>
          <a:solidFill>
            <a:srgbClr val="0E1B2B"/>
          </a:solidFill>
          <a:ln w="17780">
            <a:solidFill>
              <a:srgbClr val="3DDC97"/>
            </a:solidFill>
            <a:prstDash val="solid"/>
          </a:ln>
        </p:spPr>
      </p:sp>
      <p:sp>
        <p:nvSpPr>
          <p:cNvPr id="15" name="Shape 13"/>
          <p:cNvSpPr/>
          <p:nvPr/>
        </p:nvSpPr>
        <p:spPr>
          <a:xfrm>
            <a:off x="3995928" y="2157984"/>
            <a:ext cx="1572768" cy="310896"/>
          </a:xfrm>
          <a:prstGeom prst="roundRect">
            <a:avLst>
              <a:gd name="adj" fmla="val 23529"/>
            </a:avLst>
          </a:prstGeom>
          <a:solidFill>
            <a:srgbClr val="3DDC97">
              <a:alpha val="14000"/>
            </a:srgbClr>
          </a:solidFill>
          <a:ln w="10160">
            <a:solidFill>
              <a:srgbClr val="3DDC97">
                <a:alpha val="40000"/>
              </a:srgbClr>
            </a:solidFill>
            <a:prstDash val="solid"/>
          </a:ln>
        </p:spPr>
      </p:sp>
      <p:sp>
        <p:nvSpPr>
          <p:cNvPr id="16" name="Text 14"/>
          <p:cNvSpPr/>
          <p:nvPr/>
        </p:nvSpPr>
        <p:spPr>
          <a:xfrm>
            <a:off x="4069080" y="2208276"/>
            <a:ext cx="1426464" cy="164592"/>
          </a:xfrm>
          <a:prstGeom prst="rect">
            <a:avLst/>
          </a:prstGeom>
          <a:noFill/>
          <a:ln/>
        </p:spPr>
        <p:txBody>
          <a:bodyPr wrap="square" lIns="0" tIns="0" rIns="0" bIns="0" rtlCol="0" anchor="ctr"/>
          <a:lstStyle/>
          <a:p>
            <a:pPr algn="ctr" indent="0" marL="0">
              <a:buNone/>
            </a:pPr>
            <a:r>
              <a:rPr lang="en-US" sz="950" b="1" dirty="0">
                <a:solidFill>
                  <a:srgbClr val="3DDC97"/>
                </a:solidFill>
              </a:rPr>
              <a:t>PILOT</a:t>
            </a:r>
            <a:endParaRPr lang="en-US" sz="950" dirty="0"/>
          </a:p>
        </p:txBody>
      </p:sp>
      <p:sp>
        <p:nvSpPr>
          <p:cNvPr id="17" name="Text 15"/>
          <p:cNvSpPr/>
          <p:nvPr/>
        </p:nvSpPr>
        <p:spPr>
          <a:xfrm>
            <a:off x="3739896" y="2788920"/>
            <a:ext cx="2075688" cy="502920"/>
          </a:xfrm>
          <a:prstGeom prst="rect">
            <a:avLst/>
          </a:prstGeom>
          <a:noFill/>
          <a:ln/>
        </p:spPr>
        <p:txBody>
          <a:bodyPr wrap="square" lIns="0" tIns="0" rIns="0" bIns="0" rtlCol="0" anchor="ctr"/>
          <a:lstStyle/>
          <a:p>
            <a:pPr algn="ctr" indent="0" marL="0">
              <a:buNone/>
            </a:pPr>
            <a:r>
              <a:rPr lang="en-US" sz="1800" b="1" dirty="0">
                <a:solidFill>
                  <a:srgbClr val="F7FAFC"/>
                </a:solidFill>
              </a:rPr>
              <a:t>Read-only QA assistant</a:t>
            </a:r>
            <a:endParaRPr lang="en-US" sz="1800" dirty="0"/>
          </a:p>
        </p:txBody>
      </p:sp>
      <p:sp>
        <p:nvSpPr>
          <p:cNvPr id="18" name="Text 16"/>
          <p:cNvSpPr/>
          <p:nvPr/>
        </p:nvSpPr>
        <p:spPr>
          <a:xfrm>
            <a:off x="3776472" y="3611880"/>
            <a:ext cx="2002536" cy="960120"/>
          </a:xfrm>
          <a:prstGeom prst="rect">
            <a:avLst/>
          </a:prstGeom>
          <a:noFill/>
          <a:ln/>
        </p:spPr>
        <p:txBody>
          <a:bodyPr wrap="square" lIns="0" tIns="0" rIns="0" bIns="0" rtlCol="0" anchor="ctr"/>
          <a:lstStyle/>
          <a:p>
            <a:pPr algn="ctr" indent="0" marL="0">
              <a:buNone/>
            </a:pPr>
            <a:r>
              <a:rPr lang="en-US" sz="1200" dirty="0">
                <a:solidFill>
                  <a:srgbClr val="D8E3F0"/>
                </a:solidFill>
              </a:rPr>
              <a:t>Issue triage</a:t>
            </a:r>
            <a:endParaRPr lang="en-US" sz="1200" dirty="0"/>
          </a:p>
          <a:p>
            <a:pPr algn="ctr" indent="0" marL="0">
              <a:buNone/>
            </a:pPr>
            <a:r>
              <a:rPr lang="en-US" sz="1200" dirty="0">
                <a:solidFill>
                  <a:srgbClr val="D8E3F0"/>
                </a:solidFill>
              </a:rPr>
              <a:t>Test-plan generation</a:t>
            </a:r>
            <a:endParaRPr lang="en-US" sz="1200" dirty="0"/>
          </a:p>
          <a:p>
            <a:pPr algn="ctr" indent="0" marL="0">
              <a:buNone/>
            </a:pPr>
            <a:r>
              <a:rPr lang="en-US" sz="1200" dirty="0">
                <a:solidFill>
                  <a:srgbClr val="D8E3F0"/>
                </a:solidFill>
              </a:rPr>
              <a:t>Report summaries</a:t>
            </a:r>
            <a:endParaRPr lang="en-US" sz="1200" dirty="0"/>
          </a:p>
        </p:txBody>
      </p:sp>
      <p:sp>
        <p:nvSpPr>
          <p:cNvPr id="19" name="Shape 17"/>
          <p:cNvSpPr/>
          <p:nvPr/>
        </p:nvSpPr>
        <p:spPr>
          <a:xfrm>
            <a:off x="6035040" y="3529584"/>
            <a:ext cx="347472" cy="0"/>
          </a:xfrm>
          <a:prstGeom prst="line">
            <a:avLst/>
          </a:prstGeom>
          <a:noFill/>
          <a:ln w="19050">
            <a:solidFill>
              <a:srgbClr val="27415F"/>
            </a:solidFill>
            <a:prstDash val="solid"/>
            <a:headEnd type="none"/>
            <a:tailEnd type="triangle"/>
          </a:ln>
        </p:spPr>
      </p:sp>
      <p:sp>
        <p:nvSpPr>
          <p:cNvPr id="20" name="Shape 18"/>
          <p:cNvSpPr/>
          <p:nvPr/>
        </p:nvSpPr>
        <p:spPr>
          <a:xfrm>
            <a:off x="6382512" y="1874520"/>
            <a:ext cx="2514600" cy="3337560"/>
          </a:xfrm>
          <a:prstGeom prst="roundRect">
            <a:avLst>
              <a:gd name="adj" fmla="val 2909"/>
            </a:avLst>
          </a:prstGeom>
          <a:solidFill>
            <a:srgbClr val="0E1B2B"/>
          </a:solidFill>
          <a:ln w="17780">
            <a:solidFill>
              <a:srgbClr val="F7C948"/>
            </a:solidFill>
            <a:prstDash val="solid"/>
          </a:ln>
        </p:spPr>
      </p:sp>
      <p:sp>
        <p:nvSpPr>
          <p:cNvPr id="21" name="Shape 19"/>
          <p:cNvSpPr/>
          <p:nvPr/>
        </p:nvSpPr>
        <p:spPr>
          <a:xfrm>
            <a:off x="6858000" y="2157984"/>
            <a:ext cx="1572768" cy="310896"/>
          </a:xfrm>
          <a:prstGeom prst="roundRect">
            <a:avLst>
              <a:gd name="adj" fmla="val 23529"/>
            </a:avLst>
          </a:prstGeom>
          <a:solidFill>
            <a:srgbClr val="F7C948">
              <a:alpha val="14000"/>
            </a:srgbClr>
          </a:solidFill>
          <a:ln w="10160">
            <a:solidFill>
              <a:srgbClr val="F7C948">
                <a:alpha val="40000"/>
              </a:srgbClr>
            </a:solidFill>
            <a:prstDash val="solid"/>
          </a:ln>
        </p:spPr>
      </p:sp>
      <p:sp>
        <p:nvSpPr>
          <p:cNvPr id="22" name="Text 20"/>
          <p:cNvSpPr/>
          <p:nvPr/>
        </p:nvSpPr>
        <p:spPr>
          <a:xfrm>
            <a:off x="6931152" y="2208276"/>
            <a:ext cx="1426464" cy="164592"/>
          </a:xfrm>
          <a:prstGeom prst="rect">
            <a:avLst/>
          </a:prstGeom>
          <a:noFill/>
          <a:ln/>
        </p:spPr>
        <p:txBody>
          <a:bodyPr wrap="square" lIns="0" tIns="0" rIns="0" bIns="0" rtlCol="0" anchor="ctr"/>
          <a:lstStyle/>
          <a:p>
            <a:pPr algn="ctr" indent="0" marL="0">
              <a:buNone/>
            </a:pPr>
            <a:r>
              <a:rPr lang="en-US" sz="950" b="1" dirty="0">
                <a:solidFill>
                  <a:srgbClr val="F7C948"/>
                </a:solidFill>
              </a:rPr>
              <a:t>CONTROLLED</a:t>
            </a:r>
            <a:endParaRPr lang="en-US" sz="950" dirty="0"/>
          </a:p>
        </p:txBody>
      </p:sp>
      <p:sp>
        <p:nvSpPr>
          <p:cNvPr id="23" name="Text 21"/>
          <p:cNvSpPr/>
          <p:nvPr/>
        </p:nvSpPr>
        <p:spPr>
          <a:xfrm>
            <a:off x="6601968" y="2788920"/>
            <a:ext cx="2075688" cy="502920"/>
          </a:xfrm>
          <a:prstGeom prst="rect">
            <a:avLst/>
          </a:prstGeom>
          <a:noFill/>
          <a:ln/>
        </p:spPr>
        <p:txBody>
          <a:bodyPr wrap="square" lIns="0" tIns="0" rIns="0" bIns="0" rtlCol="0" anchor="ctr"/>
          <a:lstStyle/>
          <a:p>
            <a:pPr algn="ctr" indent="0" marL="0">
              <a:buNone/>
            </a:pPr>
            <a:r>
              <a:rPr lang="en-US" sz="1800" b="1" dirty="0">
                <a:solidFill>
                  <a:srgbClr val="F7FAFC"/>
                </a:solidFill>
              </a:rPr>
              <a:t>Human-approved changes</a:t>
            </a:r>
            <a:endParaRPr lang="en-US" sz="1800" dirty="0"/>
          </a:p>
        </p:txBody>
      </p:sp>
      <p:sp>
        <p:nvSpPr>
          <p:cNvPr id="24" name="Text 22"/>
          <p:cNvSpPr/>
          <p:nvPr/>
        </p:nvSpPr>
        <p:spPr>
          <a:xfrm>
            <a:off x="6638544" y="3611880"/>
            <a:ext cx="2002536" cy="960120"/>
          </a:xfrm>
          <a:prstGeom prst="rect">
            <a:avLst/>
          </a:prstGeom>
          <a:noFill/>
          <a:ln/>
        </p:spPr>
        <p:txBody>
          <a:bodyPr wrap="square" lIns="0" tIns="0" rIns="0" bIns="0" rtlCol="0" anchor="ctr"/>
          <a:lstStyle/>
          <a:p>
            <a:pPr algn="ctr" indent="0" marL="0">
              <a:buNone/>
            </a:pPr>
            <a:r>
              <a:rPr lang="en-US" sz="1200" dirty="0">
                <a:solidFill>
                  <a:srgbClr val="D8E3F0"/>
                </a:solidFill>
              </a:rPr>
              <a:t>Isolated worktree</a:t>
            </a:r>
            <a:endParaRPr lang="en-US" sz="1200" dirty="0"/>
          </a:p>
          <a:p>
            <a:pPr algn="ctr" indent="0" marL="0">
              <a:buNone/>
            </a:pPr>
            <a:r>
              <a:rPr lang="en-US" sz="1200" dirty="0">
                <a:solidFill>
                  <a:srgbClr val="D8E3F0"/>
                </a:solidFill>
              </a:rPr>
              <a:t>Required review</a:t>
            </a:r>
            <a:endParaRPr lang="en-US" sz="1200" dirty="0"/>
          </a:p>
          <a:p>
            <a:pPr algn="ctr" indent="0" marL="0">
              <a:buNone/>
            </a:pPr>
            <a:r>
              <a:rPr lang="en-US" sz="1200" dirty="0">
                <a:solidFill>
                  <a:srgbClr val="D8E3F0"/>
                </a:solidFill>
              </a:rPr>
              <a:t>CI trigger gate</a:t>
            </a:r>
            <a:endParaRPr lang="en-US" sz="1200" dirty="0"/>
          </a:p>
        </p:txBody>
      </p:sp>
      <p:sp>
        <p:nvSpPr>
          <p:cNvPr id="25" name="Shape 23"/>
          <p:cNvSpPr/>
          <p:nvPr/>
        </p:nvSpPr>
        <p:spPr>
          <a:xfrm>
            <a:off x="8897112" y="3529584"/>
            <a:ext cx="347472" cy="0"/>
          </a:xfrm>
          <a:prstGeom prst="line">
            <a:avLst/>
          </a:prstGeom>
          <a:noFill/>
          <a:ln w="19050">
            <a:solidFill>
              <a:srgbClr val="27415F"/>
            </a:solidFill>
            <a:prstDash val="solid"/>
            <a:headEnd type="none"/>
            <a:tailEnd type="triangle"/>
          </a:ln>
        </p:spPr>
      </p:sp>
      <p:sp>
        <p:nvSpPr>
          <p:cNvPr id="26" name="Shape 24"/>
          <p:cNvSpPr/>
          <p:nvPr/>
        </p:nvSpPr>
        <p:spPr>
          <a:xfrm>
            <a:off x="9244584" y="1874520"/>
            <a:ext cx="2514600" cy="3337560"/>
          </a:xfrm>
          <a:prstGeom prst="roundRect">
            <a:avLst>
              <a:gd name="adj" fmla="val 2909"/>
            </a:avLst>
          </a:prstGeom>
          <a:solidFill>
            <a:srgbClr val="0E1B2B"/>
          </a:solidFill>
          <a:ln w="17780">
            <a:solidFill>
              <a:srgbClr val="A78BFA"/>
            </a:solidFill>
            <a:prstDash val="solid"/>
          </a:ln>
        </p:spPr>
      </p:sp>
      <p:sp>
        <p:nvSpPr>
          <p:cNvPr id="27" name="Shape 25"/>
          <p:cNvSpPr/>
          <p:nvPr/>
        </p:nvSpPr>
        <p:spPr>
          <a:xfrm>
            <a:off x="9720072" y="2157984"/>
            <a:ext cx="1572768" cy="310896"/>
          </a:xfrm>
          <a:prstGeom prst="roundRect">
            <a:avLst>
              <a:gd name="adj" fmla="val 23529"/>
            </a:avLst>
          </a:prstGeom>
          <a:solidFill>
            <a:srgbClr val="A78BFA">
              <a:alpha val="14000"/>
            </a:srgbClr>
          </a:solidFill>
          <a:ln w="10160">
            <a:solidFill>
              <a:srgbClr val="A78BFA">
                <a:alpha val="40000"/>
              </a:srgbClr>
            </a:solidFill>
            <a:prstDash val="solid"/>
          </a:ln>
        </p:spPr>
      </p:sp>
      <p:sp>
        <p:nvSpPr>
          <p:cNvPr id="28" name="Text 26"/>
          <p:cNvSpPr/>
          <p:nvPr/>
        </p:nvSpPr>
        <p:spPr>
          <a:xfrm>
            <a:off x="9793224" y="2208276"/>
            <a:ext cx="1426464" cy="164592"/>
          </a:xfrm>
          <a:prstGeom prst="rect">
            <a:avLst/>
          </a:prstGeom>
          <a:noFill/>
          <a:ln/>
        </p:spPr>
        <p:txBody>
          <a:bodyPr wrap="square" lIns="0" tIns="0" rIns="0" bIns="0" rtlCol="0" anchor="ctr"/>
          <a:lstStyle/>
          <a:p>
            <a:pPr algn="ctr" indent="0" marL="0">
              <a:buNone/>
            </a:pPr>
            <a:r>
              <a:rPr lang="en-US" sz="950" b="1" dirty="0">
                <a:solidFill>
                  <a:srgbClr val="A78BFA"/>
                </a:solidFill>
              </a:rPr>
              <a:t>SCALE</a:t>
            </a:r>
            <a:endParaRPr lang="en-US" sz="950" dirty="0"/>
          </a:p>
        </p:txBody>
      </p:sp>
      <p:sp>
        <p:nvSpPr>
          <p:cNvPr id="29" name="Text 27"/>
          <p:cNvSpPr/>
          <p:nvPr/>
        </p:nvSpPr>
        <p:spPr>
          <a:xfrm>
            <a:off x="9464040" y="2788920"/>
            <a:ext cx="2075688" cy="502920"/>
          </a:xfrm>
          <a:prstGeom prst="rect">
            <a:avLst/>
          </a:prstGeom>
          <a:noFill/>
          <a:ln/>
        </p:spPr>
        <p:txBody>
          <a:bodyPr wrap="square" lIns="0" tIns="0" rIns="0" bIns="0" rtlCol="0" anchor="ctr"/>
          <a:lstStyle/>
          <a:p>
            <a:pPr algn="ctr" indent="0" marL="0">
              <a:buNone/>
            </a:pPr>
            <a:r>
              <a:rPr lang="en-US" sz="1800" b="1" dirty="0">
                <a:solidFill>
                  <a:srgbClr val="F7FAFC"/>
                </a:solidFill>
              </a:rPr>
              <a:t>Durable workflow</a:t>
            </a:r>
            <a:endParaRPr lang="en-US" sz="1800" dirty="0"/>
          </a:p>
        </p:txBody>
      </p:sp>
      <p:sp>
        <p:nvSpPr>
          <p:cNvPr id="30" name="Text 28"/>
          <p:cNvSpPr/>
          <p:nvPr/>
        </p:nvSpPr>
        <p:spPr>
          <a:xfrm>
            <a:off x="9500616" y="3611880"/>
            <a:ext cx="2002536" cy="960120"/>
          </a:xfrm>
          <a:prstGeom prst="rect">
            <a:avLst/>
          </a:prstGeom>
          <a:noFill/>
          <a:ln/>
        </p:spPr>
        <p:txBody>
          <a:bodyPr wrap="square" lIns="0" tIns="0" rIns="0" bIns="0" rtlCol="0" anchor="ctr"/>
          <a:lstStyle/>
          <a:p>
            <a:pPr algn="ctr" indent="0" marL="0">
              <a:buNone/>
            </a:pPr>
            <a:r>
              <a:rPr lang="en-US" sz="1200" dirty="0">
                <a:solidFill>
                  <a:srgbClr val="D8E3F0"/>
                </a:solidFill>
              </a:rPr>
              <a:t>State store</a:t>
            </a:r>
            <a:endParaRPr lang="en-US" sz="1200" dirty="0"/>
          </a:p>
          <a:p>
            <a:pPr algn="ctr" indent="0" marL="0">
              <a:buNone/>
            </a:pPr>
            <a:r>
              <a:rPr lang="en-US" sz="1200" dirty="0">
                <a:solidFill>
                  <a:srgbClr val="D8E3F0"/>
                </a:solidFill>
              </a:rPr>
              <a:t>Idempotency</a:t>
            </a:r>
            <a:endParaRPr lang="en-US" sz="1200" dirty="0"/>
          </a:p>
          <a:p>
            <a:pPr algn="ctr" indent="0" marL="0">
              <a:buNone/>
            </a:pPr>
            <a:r>
              <a:rPr lang="en-US" sz="1200" dirty="0">
                <a:solidFill>
                  <a:srgbClr val="D8E3F0"/>
                </a:solidFill>
              </a:rPr>
              <a:t>Observability + evals</a:t>
            </a:r>
            <a:endParaRPr lang="en-US" sz="1200" dirty="0"/>
          </a:p>
        </p:txBody>
      </p:sp>
      <p:sp>
        <p:nvSpPr>
          <p:cNvPr id="31" name="Text 29"/>
          <p:cNvSpPr/>
          <p:nvPr/>
        </p:nvSpPr>
        <p:spPr>
          <a:xfrm>
            <a:off x="1170432" y="5669280"/>
            <a:ext cx="9829800" cy="420624"/>
          </a:xfrm>
          <a:prstGeom prst="rect">
            <a:avLst/>
          </a:prstGeom>
          <a:noFill/>
          <a:ln/>
        </p:spPr>
        <p:txBody>
          <a:bodyPr wrap="square" lIns="0" tIns="0" rIns="0" bIns="0" rtlCol="0" anchor="ctr"/>
          <a:lstStyle/>
          <a:p>
            <a:pPr algn="ctr" indent="0" marL="0">
              <a:buNone/>
            </a:pPr>
            <a:r>
              <a:rPr lang="en-US" sz="1600" b="1" dirty="0">
                <a:solidFill>
                  <a:srgbClr val="3DDC97"/>
                </a:solidFill>
              </a:rPr>
              <a:t>Recommended first pilot: read-only issue readiness + QA test-plan generation with human review.</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38BDF8"/>
          </a:solidFill>
          <a:ln w="12700">
            <a:solidFill>
              <a:srgbClr val="38BDF8">
                <a:alpha val="0"/>
              </a:srgbClr>
            </a:solidFill>
            <a:prstDash val="solid"/>
          </a:ln>
        </p:spPr>
      </p:sp>
      <p:sp>
        <p:nvSpPr>
          <p:cNvPr id="3" name="Shape 1"/>
          <p:cNvSpPr/>
          <p:nvPr/>
        </p:nvSpPr>
        <p:spPr>
          <a:xfrm>
            <a:off x="713232" y="658368"/>
            <a:ext cx="1298448" cy="310896"/>
          </a:xfrm>
          <a:prstGeom prst="roundRect">
            <a:avLst>
              <a:gd name="adj" fmla="val 23529"/>
            </a:avLst>
          </a:prstGeom>
          <a:solidFill>
            <a:srgbClr val="3DDC97">
              <a:alpha val="14000"/>
            </a:srgbClr>
          </a:solidFill>
          <a:ln w="10160">
            <a:solidFill>
              <a:srgbClr val="3DDC97">
                <a:alpha val="40000"/>
              </a:srgbClr>
            </a:solidFill>
            <a:prstDash val="solid"/>
          </a:ln>
        </p:spPr>
      </p:sp>
      <p:sp>
        <p:nvSpPr>
          <p:cNvPr id="4" name="Text 2"/>
          <p:cNvSpPr/>
          <p:nvPr/>
        </p:nvSpPr>
        <p:spPr>
          <a:xfrm>
            <a:off x="786384" y="708660"/>
            <a:ext cx="1152144" cy="164592"/>
          </a:xfrm>
          <a:prstGeom prst="rect">
            <a:avLst/>
          </a:prstGeom>
          <a:noFill/>
          <a:ln/>
        </p:spPr>
        <p:txBody>
          <a:bodyPr wrap="square" lIns="0" tIns="0" rIns="0" bIns="0" rtlCol="0" anchor="ctr"/>
          <a:lstStyle/>
          <a:p>
            <a:pPr algn="ctr" indent="0" marL="0">
              <a:buNone/>
            </a:pPr>
            <a:r>
              <a:rPr lang="en-US" sz="950" b="1" dirty="0">
                <a:solidFill>
                  <a:srgbClr val="3DDC97"/>
                </a:solidFill>
              </a:rPr>
              <a:t>TAKEAWAY</a:t>
            </a:r>
            <a:endParaRPr lang="en-US" sz="950" dirty="0"/>
          </a:p>
        </p:txBody>
      </p:sp>
      <p:sp>
        <p:nvSpPr>
          <p:cNvPr id="5" name="Text 3"/>
          <p:cNvSpPr/>
          <p:nvPr/>
        </p:nvSpPr>
        <p:spPr>
          <a:xfrm>
            <a:off x="713232" y="1481328"/>
            <a:ext cx="9966960" cy="1325880"/>
          </a:xfrm>
          <a:prstGeom prst="rect">
            <a:avLst/>
          </a:prstGeom>
          <a:noFill/>
          <a:ln/>
        </p:spPr>
        <p:txBody>
          <a:bodyPr wrap="square" lIns="0" tIns="0" rIns="0" bIns="0" rtlCol="0" anchor="ctr"/>
          <a:lstStyle/>
          <a:p>
            <a:pPr indent="0" marL="0">
              <a:buNone/>
            </a:pPr>
            <a:r>
              <a:rPr lang="en-US" sz="3100" b="1" dirty="0">
                <a:solidFill>
                  <a:srgbClr val="F7FAFC"/>
                </a:solidFill>
              </a:rPr>
              <a:t>Copilot SDK is most valuable when we combine agent reasoning with ordinary engineering discipline.</a:t>
            </a:r>
            <a:endParaRPr lang="en-US" sz="3100" dirty="0"/>
          </a:p>
        </p:txBody>
      </p:sp>
      <p:sp>
        <p:nvSpPr>
          <p:cNvPr id="6" name="Shape 4"/>
          <p:cNvSpPr/>
          <p:nvPr/>
        </p:nvSpPr>
        <p:spPr>
          <a:xfrm>
            <a:off x="731520" y="3429000"/>
            <a:ext cx="3401568" cy="1600200"/>
          </a:xfrm>
          <a:prstGeom prst="roundRect">
            <a:avLst>
              <a:gd name="adj" fmla="val 4571"/>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7" name="Shape 5"/>
          <p:cNvSpPr/>
          <p:nvPr/>
        </p:nvSpPr>
        <p:spPr>
          <a:xfrm>
            <a:off x="731520" y="3429000"/>
            <a:ext cx="54864" cy="1600200"/>
          </a:xfrm>
          <a:prstGeom prst="rect">
            <a:avLst/>
          </a:prstGeom>
          <a:solidFill>
            <a:srgbClr val="A78BFA"/>
          </a:solidFill>
          <a:ln w="12700">
            <a:solidFill>
              <a:srgbClr val="A78BFA">
                <a:alpha val="0"/>
              </a:srgbClr>
            </a:solidFill>
            <a:prstDash val="solid"/>
          </a:ln>
        </p:spPr>
      </p:sp>
      <p:sp>
        <p:nvSpPr>
          <p:cNvPr id="8" name="Text 6"/>
          <p:cNvSpPr/>
          <p:nvPr/>
        </p:nvSpPr>
        <p:spPr>
          <a:xfrm>
            <a:off x="987552" y="3593592"/>
            <a:ext cx="2889504" cy="329184"/>
          </a:xfrm>
          <a:prstGeom prst="rect">
            <a:avLst/>
          </a:prstGeom>
          <a:noFill/>
          <a:ln/>
        </p:spPr>
        <p:txBody>
          <a:bodyPr wrap="square" lIns="0" tIns="0" rIns="0" bIns="0" rtlCol="0" anchor="ctr"/>
          <a:lstStyle/>
          <a:p>
            <a:pPr indent="0" marL="0">
              <a:buNone/>
            </a:pPr>
            <a:r>
              <a:rPr lang="en-US" sz="1600" b="1" dirty="0">
                <a:solidFill>
                  <a:srgbClr val="F7FAFC"/>
                </a:solidFill>
              </a:rPr>
              <a:t>Reasoning</a:t>
            </a:r>
            <a:endParaRPr lang="en-US" sz="1600" dirty="0"/>
          </a:p>
        </p:txBody>
      </p:sp>
      <p:sp>
        <p:nvSpPr>
          <p:cNvPr id="9" name="Text 7"/>
          <p:cNvSpPr/>
          <p:nvPr/>
        </p:nvSpPr>
        <p:spPr>
          <a:xfrm>
            <a:off x="987552" y="4059936"/>
            <a:ext cx="2889504" cy="795528"/>
          </a:xfrm>
          <a:prstGeom prst="rect">
            <a:avLst/>
          </a:prstGeom>
          <a:noFill/>
          <a:ln/>
        </p:spPr>
        <p:txBody>
          <a:bodyPr wrap="square" lIns="254" tIns="254" rIns="254" bIns="254" rtlCol="0" anchor="t"/>
          <a:lstStyle/>
          <a:p>
            <a:pPr indent="0" marL="0">
              <a:buNone/>
            </a:pPr>
            <a:r>
              <a:rPr lang="en-US" sz="1150" dirty="0">
                <a:solidFill>
                  <a:srgbClr val="D8E3F0"/>
                </a:solidFill>
              </a:rPr>
              <a:t>Copilot sessions, skills, agents, and parallel workers</a:t>
            </a:r>
            <a:endParaRPr lang="en-US" sz="1150" dirty="0"/>
          </a:p>
        </p:txBody>
      </p:sp>
      <p:sp>
        <p:nvSpPr>
          <p:cNvPr id="10" name="Shape 8"/>
          <p:cNvSpPr/>
          <p:nvPr/>
        </p:nvSpPr>
        <p:spPr>
          <a:xfrm>
            <a:off x="4498848" y="3429000"/>
            <a:ext cx="3401568" cy="1600200"/>
          </a:xfrm>
          <a:prstGeom prst="roundRect">
            <a:avLst>
              <a:gd name="adj" fmla="val 4571"/>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1" name="Shape 9"/>
          <p:cNvSpPr/>
          <p:nvPr/>
        </p:nvSpPr>
        <p:spPr>
          <a:xfrm>
            <a:off x="4498848" y="3429000"/>
            <a:ext cx="54864" cy="1600200"/>
          </a:xfrm>
          <a:prstGeom prst="rect">
            <a:avLst/>
          </a:prstGeom>
          <a:solidFill>
            <a:srgbClr val="3DDC97"/>
          </a:solidFill>
          <a:ln w="12700">
            <a:solidFill>
              <a:srgbClr val="3DDC97">
                <a:alpha val="0"/>
              </a:srgbClr>
            </a:solidFill>
            <a:prstDash val="solid"/>
          </a:ln>
        </p:spPr>
      </p:sp>
      <p:sp>
        <p:nvSpPr>
          <p:cNvPr id="12" name="Text 10"/>
          <p:cNvSpPr/>
          <p:nvPr/>
        </p:nvSpPr>
        <p:spPr>
          <a:xfrm>
            <a:off x="4754880" y="3593592"/>
            <a:ext cx="2889504" cy="329184"/>
          </a:xfrm>
          <a:prstGeom prst="rect">
            <a:avLst/>
          </a:prstGeom>
          <a:noFill/>
          <a:ln/>
        </p:spPr>
        <p:txBody>
          <a:bodyPr wrap="square" lIns="0" tIns="0" rIns="0" bIns="0" rtlCol="0" anchor="ctr"/>
          <a:lstStyle/>
          <a:p>
            <a:pPr indent="0" marL="0">
              <a:buNone/>
            </a:pPr>
            <a:r>
              <a:rPr lang="en-US" sz="1600" b="1" dirty="0">
                <a:solidFill>
                  <a:srgbClr val="F7FAFC"/>
                </a:solidFill>
              </a:rPr>
              <a:t>Control</a:t>
            </a:r>
            <a:endParaRPr lang="en-US" sz="1600" dirty="0"/>
          </a:p>
        </p:txBody>
      </p:sp>
      <p:sp>
        <p:nvSpPr>
          <p:cNvPr id="13" name="Text 11"/>
          <p:cNvSpPr/>
          <p:nvPr/>
        </p:nvSpPr>
        <p:spPr>
          <a:xfrm>
            <a:off x="4754880" y="4059936"/>
            <a:ext cx="2889504" cy="795528"/>
          </a:xfrm>
          <a:prstGeom prst="rect">
            <a:avLst/>
          </a:prstGeom>
          <a:noFill/>
          <a:ln/>
        </p:spPr>
        <p:txBody>
          <a:bodyPr wrap="square" lIns="254" tIns="254" rIns="254" bIns="254" rtlCol="0" anchor="t"/>
          <a:lstStyle/>
          <a:p>
            <a:pPr indent="0" marL="0">
              <a:buNone/>
            </a:pPr>
            <a:r>
              <a:rPr lang="en-US" sz="1150" dirty="0">
                <a:solidFill>
                  <a:srgbClr val="D8E3F0"/>
                </a:solidFill>
              </a:rPr>
              <a:t>Permissions, state, retries, schemas, and deterministic checks</a:t>
            </a:r>
            <a:endParaRPr lang="en-US" sz="1150" dirty="0"/>
          </a:p>
        </p:txBody>
      </p:sp>
      <p:sp>
        <p:nvSpPr>
          <p:cNvPr id="14" name="Shape 12"/>
          <p:cNvSpPr/>
          <p:nvPr/>
        </p:nvSpPr>
        <p:spPr>
          <a:xfrm>
            <a:off x="8266176" y="3429000"/>
            <a:ext cx="3401568" cy="1600200"/>
          </a:xfrm>
          <a:prstGeom prst="roundRect">
            <a:avLst>
              <a:gd name="adj" fmla="val 4571"/>
            </a:avLst>
          </a:prstGeom>
          <a:solidFill>
            <a:srgbClr val="0E1B2B"/>
          </a:solidFill>
          <a:ln w="12700">
            <a:solidFill>
              <a:srgbClr val="27415F"/>
            </a:solidFill>
            <a:prstDash val="solid"/>
          </a:ln>
          <a:effectLst>
            <a:outerShdw sx="100000" sy="100000" kx="0" ky="0" algn="bl" rotWithShape="0" blurRad="19050" dist="50800" dir="2700000">
              <a:srgbClr val="000000">
                <a:alpha val="18000"/>
              </a:srgbClr>
            </a:outerShdw>
          </a:effectLst>
        </p:spPr>
      </p:sp>
      <p:sp>
        <p:nvSpPr>
          <p:cNvPr id="15" name="Shape 13"/>
          <p:cNvSpPr/>
          <p:nvPr/>
        </p:nvSpPr>
        <p:spPr>
          <a:xfrm>
            <a:off x="8266176" y="3429000"/>
            <a:ext cx="54864" cy="1600200"/>
          </a:xfrm>
          <a:prstGeom prst="rect">
            <a:avLst/>
          </a:prstGeom>
          <a:solidFill>
            <a:srgbClr val="F7C948"/>
          </a:solidFill>
          <a:ln w="12700">
            <a:solidFill>
              <a:srgbClr val="F7C948">
                <a:alpha val="0"/>
              </a:srgbClr>
            </a:solidFill>
            <a:prstDash val="solid"/>
          </a:ln>
        </p:spPr>
      </p:sp>
      <p:sp>
        <p:nvSpPr>
          <p:cNvPr id="16" name="Text 14"/>
          <p:cNvSpPr/>
          <p:nvPr/>
        </p:nvSpPr>
        <p:spPr>
          <a:xfrm>
            <a:off x="8522208" y="3593592"/>
            <a:ext cx="2889504" cy="329184"/>
          </a:xfrm>
          <a:prstGeom prst="rect">
            <a:avLst/>
          </a:prstGeom>
          <a:noFill/>
          <a:ln/>
        </p:spPr>
        <p:txBody>
          <a:bodyPr wrap="square" lIns="0" tIns="0" rIns="0" bIns="0" rtlCol="0" anchor="ctr"/>
          <a:lstStyle/>
          <a:p>
            <a:pPr indent="0" marL="0">
              <a:buNone/>
            </a:pPr>
            <a:r>
              <a:rPr lang="en-US" sz="1600" b="1" dirty="0">
                <a:solidFill>
                  <a:srgbClr val="F7FAFC"/>
                </a:solidFill>
              </a:rPr>
              <a:t>Confidence</a:t>
            </a:r>
            <a:endParaRPr lang="en-US" sz="1600" dirty="0"/>
          </a:p>
        </p:txBody>
      </p:sp>
      <p:sp>
        <p:nvSpPr>
          <p:cNvPr id="17" name="Text 15"/>
          <p:cNvSpPr/>
          <p:nvPr/>
        </p:nvSpPr>
        <p:spPr>
          <a:xfrm>
            <a:off x="8522208" y="4059936"/>
            <a:ext cx="2889504" cy="795528"/>
          </a:xfrm>
          <a:prstGeom prst="rect">
            <a:avLst/>
          </a:prstGeom>
          <a:noFill/>
          <a:ln/>
        </p:spPr>
        <p:txBody>
          <a:bodyPr wrap="square" lIns="254" tIns="254" rIns="254" bIns="254" rtlCol="0" anchor="t"/>
          <a:lstStyle/>
          <a:p>
            <a:pPr indent="0" marL="0">
              <a:buNone/>
            </a:pPr>
            <a:r>
              <a:rPr lang="en-US" sz="1150" dirty="0">
                <a:solidFill>
                  <a:srgbClr val="D8E3F0"/>
                </a:solidFill>
              </a:rPr>
              <a:t>Evaluation cases, CI evidence, observability, and human gates</a:t>
            </a:r>
            <a:endParaRPr lang="en-US" sz="1150" dirty="0"/>
          </a:p>
        </p:txBody>
      </p:sp>
      <p:sp>
        <p:nvSpPr>
          <p:cNvPr id="18" name="Text 16"/>
          <p:cNvSpPr/>
          <p:nvPr/>
        </p:nvSpPr>
        <p:spPr>
          <a:xfrm>
            <a:off x="731520" y="5897880"/>
            <a:ext cx="2011680" cy="384048"/>
          </a:xfrm>
          <a:prstGeom prst="rect">
            <a:avLst/>
          </a:prstGeom>
          <a:noFill/>
          <a:ln/>
        </p:spPr>
        <p:txBody>
          <a:bodyPr wrap="square" lIns="0" tIns="0" rIns="0" bIns="0" rtlCol="0" anchor="ctr"/>
          <a:lstStyle/>
          <a:p>
            <a:pPr indent="0" marL="0">
              <a:buNone/>
            </a:pPr>
            <a:r>
              <a:rPr lang="en-US" sz="2000" b="1" dirty="0">
                <a:solidFill>
                  <a:srgbClr val="38BDF8"/>
                </a:solidFill>
              </a:rPr>
              <a:t>Discussion</a:t>
            </a:r>
            <a:endParaRPr lang="en-US" sz="2000" dirty="0"/>
          </a:p>
        </p:txBody>
      </p:sp>
      <p:sp>
        <p:nvSpPr>
          <p:cNvPr id="19" name="Text 17"/>
          <p:cNvSpPr/>
          <p:nvPr/>
        </p:nvSpPr>
        <p:spPr>
          <a:xfrm>
            <a:off x="2514600" y="5943600"/>
            <a:ext cx="8046720" cy="310896"/>
          </a:xfrm>
          <a:prstGeom prst="rect">
            <a:avLst/>
          </a:prstGeom>
          <a:noFill/>
          <a:ln/>
        </p:spPr>
        <p:txBody>
          <a:bodyPr wrap="square" lIns="0" tIns="0" rIns="0" bIns="0" rtlCol="0" anchor="ctr"/>
          <a:lstStyle/>
          <a:p>
            <a:pPr indent="0" marL="0">
              <a:buNone/>
            </a:pPr>
            <a:r>
              <a:rPr lang="en-US" sz="1500" dirty="0">
                <a:solidFill>
                  <a:srgbClr val="D8E3F0"/>
                </a:solidFill>
              </a:rPr>
              <a:t>Which developer or QA workflow is bounded enough for our first pilot?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85216" y="292608"/>
            <a:ext cx="2377440" cy="256032"/>
          </a:xfrm>
          <a:prstGeom prst="rect">
            <a:avLst/>
          </a:prstGeom>
          <a:noFill/>
          <a:ln/>
        </p:spPr>
        <p:txBody>
          <a:bodyPr wrap="square" lIns="0" tIns="0" rIns="0" bIns="0" rtlCol="0" anchor="ctr"/>
          <a:lstStyle/>
          <a:p>
            <a:pPr indent="0" marL="0">
              <a:buNone/>
            </a:pPr>
            <a:r>
              <a:rPr lang="en-US" sz="1000" b="1" spc="160" kern="0" dirty="0">
                <a:solidFill>
                  <a:srgbClr val="38BDF8"/>
                </a:solidFill>
                <a:latin typeface="Aptos" pitchFamily="34" charset="0"/>
                <a:ea typeface="Aptos" pitchFamily="34" charset="-122"/>
                <a:cs typeface="Aptos" pitchFamily="34" charset="-120"/>
              </a:rPr>
              <a:t>REFERENCE</a:t>
            </a:r>
            <a:endParaRPr lang="en-US" sz="1000" dirty="0"/>
          </a:p>
        </p:txBody>
      </p:sp>
      <p:sp>
        <p:nvSpPr>
          <p:cNvPr id="4" name="Text 2"/>
          <p:cNvSpPr/>
          <p:nvPr/>
        </p:nvSpPr>
        <p:spPr>
          <a:xfrm>
            <a:off x="585216" y="621792"/>
            <a:ext cx="11018520" cy="566928"/>
          </a:xfrm>
          <a:prstGeom prst="rect">
            <a:avLst/>
          </a:prstGeom>
          <a:noFill/>
          <a:ln/>
        </p:spPr>
        <p:txBody>
          <a:bodyPr wrap="square" lIns="0" tIns="0" rIns="0" bIns="0" rtlCol="0" anchor="ctr"/>
          <a:lstStyle/>
          <a:p>
            <a:pPr indent="0" marL="0">
              <a:buNone/>
            </a:pPr>
            <a:r>
              <a:rPr lang="en-US" sz="2700" b="1" dirty="0">
                <a:solidFill>
                  <a:srgbClr val="F7FAFC"/>
                </a:solidFill>
                <a:latin typeface="Aptos Display" pitchFamily="34" charset="0"/>
                <a:ea typeface="Aptos Display" pitchFamily="34" charset="-122"/>
                <a:cs typeface="Aptos Display" pitchFamily="34" charset="-120"/>
              </a:rPr>
              <a:t>Sources and demo repository</a:t>
            </a:r>
            <a:endParaRPr lang="en-US" sz="2700" dirty="0"/>
          </a:p>
        </p:txBody>
      </p:sp>
      <p:sp>
        <p:nvSpPr>
          <p:cNvPr id="5" name="Text 3"/>
          <p:cNvSpPr/>
          <p:nvPr/>
        </p:nvSpPr>
        <p:spPr>
          <a:xfrm>
            <a:off x="603504" y="1216152"/>
            <a:ext cx="10881360" cy="347472"/>
          </a:xfrm>
          <a:prstGeom prst="rect">
            <a:avLst/>
          </a:prstGeom>
          <a:noFill/>
          <a:ln/>
        </p:spPr>
        <p:txBody>
          <a:bodyPr wrap="square" lIns="0" tIns="0" rIns="0" bIns="0" rtlCol="0" anchor="ctr"/>
          <a:lstStyle/>
          <a:p>
            <a:pPr indent="0" marL="0">
              <a:buNone/>
            </a:pPr>
            <a:r>
              <a:rPr lang="en-US" sz="1300" dirty="0">
                <a:solidFill>
                  <a:srgbClr val="91A4B8"/>
                </a:solidFill>
              </a:rPr>
              <a:t>Primary documentation used for the current capability statements.</a:t>
            </a:r>
            <a:endParaRPr lang="en-US" sz="1300" dirty="0"/>
          </a:p>
        </p:txBody>
      </p:sp>
      <p:sp>
        <p:nvSpPr>
          <p:cNvPr id="6" name="Text 4"/>
          <p:cNvSpPr/>
          <p:nvPr/>
        </p:nvSpPr>
        <p:spPr>
          <a:xfrm>
            <a:off x="603504" y="6574536"/>
            <a:ext cx="4206240" cy="164592"/>
          </a:xfrm>
          <a:prstGeom prst="rect">
            <a:avLst/>
          </a:prstGeom>
          <a:noFill/>
          <a:ln/>
        </p:spPr>
        <p:txBody>
          <a:bodyPr wrap="square" lIns="0" tIns="0" rIns="0" bIns="0" rtlCol="0" anchor="ctr"/>
          <a:lstStyle/>
          <a:p>
            <a:pPr indent="0" marL="0">
              <a:buNone/>
            </a:pPr>
            <a:r>
              <a:rPr lang="en-US" sz="850" dirty="0">
                <a:solidFill>
                  <a:srgbClr val="607890"/>
                </a:solidFill>
              </a:rPr>
              <a:t>GitHub Copilot SDK • Innovation Week</a:t>
            </a:r>
            <a:endParaRPr lang="en-US" sz="850" dirty="0"/>
          </a:p>
        </p:txBody>
      </p:sp>
      <p:sp>
        <p:nvSpPr>
          <p:cNvPr id="7" name="Text 5"/>
          <p:cNvSpPr/>
          <p:nvPr/>
        </p:nvSpPr>
        <p:spPr>
          <a:xfrm>
            <a:off x="11292840" y="6547104"/>
            <a:ext cx="274320" cy="182880"/>
          </a:xfrm>
          <a:prstGeom prst="rect">
            <a:avLst/>
          </a:prstGeom>
          <a:noFill/>
          <a:ln/>
        </p:spPr>
        <p:txBody>
          <a:bodyPr wrap="square" lIns="0" tIns="0" rIns="0" bIns="0" rtlCol="0" anchor="ctr"/>
          <a:lstStyle/>
          <a:p>
            <a:pPr algn="r" indent="0" marL="0">
              <a:buNone/>
            </a:pPr>
            <a:r>
              <a:rPr lang="en-US" sz="850" dirty="0">
                <a:solidFill>
                  <a:srgbClr val="607890"/>
                </a:solidFill>
              </a:rPr>
              <a:t>15</a:t>
            </a:r>
            <a:endParaRPr lang="en-US" sz="850" dirty="0"/>
          </a:p>
        </p:txBody>
      </p:sp>
      <p:sp>
        <p:nvSpPr>
          <p:cNvPr id="8" name="Shape 6"/>
          <p:cNvSpPr/>
          <p:nvPr/>
        </p:nvSpPr>
        <p:spPr>
          <a:xfrm>
            <a:off x="749808" y="1755648"/>
            <a:ext cx="5074920" cy="932688"/>
          </a:xfrm>
          <a:prstGeom prst="roundRect">
            <a:avLst>
              <a:gd name="adj" fmla="val 5882"/>
            </a:avLst>
          </a:prstGeom>
          <a:solidFill>
            <a:srgbClr val="0E1B2B"/>
          </a:solidFill>
          <a:ln w="12700">
            <a:solidFill>
              <a:srgbClr val="27415F"/>
            </a:solidFill>
            <a:prstDash val="solid"/>
          </a:ln>
        </p:spPr>
      </p:sp>
      <p:sp>
        <p:nvSpPr>
          <p:cNvPr id="9" name="Text 7"/>
          <p:cNvSpPr/>
          <p:nvPr/>
        </p:nvSpPr>
        <p:spPr>
          <a:xfrm>
            <a:off x="1005840" y="1938528"/>
            <a:ext cx="4553712" cy="256032"/>
          </a:xfrm>
          <a:prstGeom prst="rect">
            <a:avLst/>
          </a:prstGeom>
          <a:noFill/>
          <a:ln/>
        </p:spPr>
        <p:txBody>
          <a:bodyPr wrap="square" lIns="0" tIns="0" rIns="0" bIns="0" rtlCol="0" anchor="ctr"/>
          <a:lstStyle/>
          <a:p>
            <a:pPr indent="0" marL="0">
              <a:buNone/>
            </a:pPr>
            <a:r>
              <a:rPr lang="en-US" sz="1400" b="1" u="sng" dirty="0">
                <a:solidFill>
                  <a:srgbClr val="38BDF8"/>
                </a:solidFill>
                <a:hlinkClick r:id="rId1" invalidUrl="" action="" tgtFrame="" tooltip="" history="1" highlightClick="0" endSnd="0">
                  <a:extLst>
                    <a:ext uri="{A12FA001-AC4F-418D-AE19-62706E023703}">
                      <ahyp:hlinkClr xmlns:ahyp="http://schemas.microsoft.com/office/drawing/2018/hyperlinkcolor" val="tx"/>
                    </a:ext>
                  </a:extLst>
                </a:hlinkClick>
              </a:rPr>
              <a:t>GitHub Copilot SDK</a:t>
            </a:r>
            <a:endParaRPr lang="en-US" sz="1400" dirty="0"/>
          </a:p>
        </p:txBody>
      </p:sp>
      <p:sp>
        <p:nvSpPr>
          <p:cNvPr id="10" name="Text 8"/>
          <p:cNvSpPr/>
          <p:nvPr/>
        </p:nvSpPr>
        <p:spPr>
          <a:xfrm>
            <a:off x="1005840" y="2286000"/>
            <a:ext cx="4553712" cy="164592"/>
          </a:xfrm>
          <a:prstGeom prst="rect">
            <a:avLst/>
          </a:prstGeom>
          <a:noFill/>
          <a:ln/>
        </p:spPr>
        <p:txBody>
          <a:bodyPr wrap="square" lIns="0" tIns="0" rIns="0" bIns="0" rtlCol="0" anchor="ctr"/>
          <a:lstStyle/>
          <a:p>
            <a:pPr indent="0" marL="0">
              <a:buNone/>
            </a:pPr>
            <a:r>
              <a:rPr lang="en-US" sz="850" dirty="0">
                <a:solidFill>
                  <a:srgbClr val="91A4B8"/>
                </a:solidFill>
              </a:rPr>
              <a:t>github.com/github/copilot-sdk</a:t>
            </a:r>
            <a:endParaRPr lang="en-US" sz="850" dirty="0"/>
          </a:p>
        </p:txBody>
      </p:sp>
      <p:sp>
        <p:nvSpPr>
          <p:cNvPr id="11" name="Shape 9"/>
          <p:cNvSpPr/>
          <p:nvPr/>
        </p:nvSpPr>
        <p:spPr>
          <a:xfrm>
            <a:off x="6373368" y="1755648"/>
            <a:ext cx="5074920" cy="932688"/>
          </a:xfrm>
          <a:prstGeom prst="roundRect">
            <a:avLst>
              <a:gd name="adj" fmla="val 5882"/>
            </a:avLst>
          </a:prstGeom>
          <a:solidFill>
            <a:srgbClr val="0E1B2B"/>
          </a:solidFill>
          <a:ln w="12700">
            <a:solidFill>
              <a:srgbClr val="27415F"/>
            </a:solidFill>
            <a:prstDash val="solid"/>
          </a:ln>
        </p:spPr>
      </p:sp>
      <p:sp>
        <p:nvSpPr>
          <p:cNvPr id="12" name="Text 10"/>
          <p:cNvSpPr/>
          <p:nvPr/>
        </p:nvSpPr>
        <p:spPr>
          <a:xfrm>
            <a:off x="6629400" y="1938528"/>
            <a:ext cx="4553712" cy="256032"/>
          </a:xfrm>
          <a:prstGeom prst="rect">
            <a:avLst/>
          </a:prstGeom>
          <a:noFill/>
          <a:ln/>
        </p:spPr>
        <p:txBody>
          <a:bodyPr wrap="square" lIns="0" tIns="0" rIns="0" bIns="0" rtlCol="0" anchor="ctr"/>
          <a:lstStyle/>
          <a:p>
            <a:pPr indent="0" marL="0">
              <a:buNone/>
            </a:pPr>
            <a:r>
              <a:rPr lang="en-US" sz="1400" b="1" u="sng" dirty="0">
                <a:solidFill>
                  <a:srgbClr val="38BDF8"/>
                </a:solidFill>
                <a:hlinkClick r:id="rId2" invalidUrl="" action="" tgtFrame="" tooltip="" history="1" highlightClick="0" endSnd="0">
                  <a:extLst>
                    <a:ext uri="{A12FA001-AC4F-418D-AE19-62706E023703}">
                      <ahyp:hlinkClr xmlns:ahyp="http://schemas.microsoft.com/office/drawing/2018/hyperlinkcolor" val="tx"/>
                    </a:ext>
                  </a:extLst>
                </a:hlinkClick>
              </a:rPr>
              <a:t>SDK feature guides</a:t>
            </a:r>
            <a:endParaRPr lang="en-US" sz="1400" dirty="0"/>
          </a:p>
        </p:txBody>
      </p:sp>
      <p:sp>
        <p:nvSpPr>
          <p:cNvPr id="13" name="Text 11"/>
          <p:cNvSpPr/>
          <p:nvPr/>
        </p:nvSpPr>
        <p:spPr>
          <a:xfrm>
            <a:off x="6629400" y="2286000"/>
            <a:ext cx="4553712" cy="164592"/>
          </a:xfrm>
          <a:prstGeom prst="rect">
            <a:avLst/>
          </a:prstGeom>
          <a:noFill/>
          <a:ln/>
        </p:spPr>
        <p:txBody>
          <a:bodyPr wrap="square" lIns="0" tIns="0" rIns="0" bIns="0" rtlCol="0" anchor="ctr"/>
          <a:lstStyle/>
          <a:p>
            <a:pPr indent="0" marL="0">
              <a:buNone/>
            </a:pPr>
            <a:r>
              <a:rPr lang="en-US" sz="850" dirty="0">
                <a:solidFill>
                  <a:srgbClr val="91A4B8"/>
                </a:solidFill>
              </a:rPr>
              <a:t>docs.github.com/en/copilot/how-tos/copilot-sdk/features</a:t>
            </a:r>
            <a:endParaRPr lang="en-US" sz="850" dirty="0"/>
          </a:p>
        </p:txBody>
      </p:sp>
      <p:sp>
        <p:nvSpPr>
          <p:cNvPr id="14" name="Shape 12"/>
          <p:cNvSpPr/>
          <p:nvPr/>
        </p:nvSpPr>
        <p:spPr>
          <a:xfrm>
            <a:off x="749808" y="3081528"/>
            <a:ext cx="5074920" cy="932688"/>
          </a:xfrm>
          <a:prstGeom prst="roundRect">
            <a:avLst>
              <a:gd name="adj" fmla="val 5882"/>
            </a:avLst>
          </a:prstGeom>
          <a:solidFill>
            <a:srgbClr val="0E1B2B"/>
          </a:solidFill>
          <a:ln w="12700">
            <a:solidFill>
              <a:srgbClr val="27415F"/>
            </a:solidFill>
            <a:prstDash val="solid"/>
          </a:ln>
        </p:spPr>
      </p:sp>
      <p:sp>
        <p:nvSpPr>
          <p:cNvPr id="15" name="Text 13"/>
          <p:cNvSpPr/>
          <p:nvPr/>
        </p:nvSpPr>
        <p:spPr>
          <a:xfrm>
            <a:off x="1005840" y="3264408"/>
            <a:ext cx="4553712" cy="256032"/>
          </a:xfrm>
          <a:prstGeom prst="rect">
            <a:avLst/>
          </a:prstGeom>
          <a:noFill/>
          <a:ln/>
        </p:spPr>
        <p:txBody>
          <a:bodyPr wrap="square" lIns="0" tIns="0" rIns="0" bIns="0" rtlCol="0" anchor="ctr"/>
          <a:lstStyle/>
          <a:p>
            <a:pPr indent="0" marL="0">
              <a:buNone/>
            </a:pPr>
            <a:r>
              <a:rPr lang="en-US" sz="1400" b="1" u="sng" dirty="0">
                <a:solidFill>
                  <a:srgbClr val="38BDF8"/>
                </a:solidFill>
                <a:hlinkClick r:id="rId3" invalidUrl="" action="" tgtFrame="" tooltip="" history="1" highlightClick="0" endSnd="0">
                  <a:extLst>
                    <a:ext uri="{A12FA001-AC4F-418D-AE19-62706E023703}">
                      <ahyp:hlinkClr xmlns:ahyp="http://schemas.microsoft.com/office/drawing/2018/hyperlinkcolor" val="tx"/>
                    </a:ext>
                  </a:extLst>
                </a:hlinkClick>
              </a:rPr>
              <a:t>Custom agents and skill loading</a:t>
            </a:r>
            <a:endParaRPr lang="en-US" sz="1400" dirty="0"/>
          </a:p>
        </p:txBody>
      </p:sp>
      <p:sp>
        <p:nvSpPr>
          <p:cNvPr id="16" name="Text 14"/>
          <p:cNvSpPr/>
          <p:nvPr/>
        </p:nvSpPr>
        <p:spPr>
          <a:xfrm>
            <a:off x="1005840" y="3611880"/>
            <a:ext cx="4553712" cy="164592"/>
          </a:xfrm>
          <a:prstGeom prst="rect">
            <a:avLst/>
          </a:prstGeom>
          <a:noFill/>
          <a:ln/>
        </p:spPr>
        <p:txBody>
          <a:bodyPr wrap="square" lIns="0" tIns="0" rIns="0" bIns="0" rtlCol="0" anchor="ctr"/>
          <a:lstStyle/>
          <a:p>
            <a:pPr indent="0" marL="0">
              <a:buNone/>
            </a:pPr>
            <a:r>
              <a:rPr lang="en-US" sz="850" dirty="0">
                <a:solidFill>
                  <a:srgbClr val="91A4B8"/>
                </a:solidFill>
              </a:rPr>
              <a:t>docs.github.com/en/copilot/how-tos/copilot-sdk/features/custom-agents</a:t>
            </a:r>
            <a:endParaRPr lang="en-US" sz="850" dirty="0"/>
          </a:p>
        </p:txBody>
      </p:sp>
      <p:sp>
        <p:nvSpPr>
          <p:cNvPr id="17" name="Shape 15"/>
          <p:cNvSpPr/>
          <p:nvPr/>
        </p:nvSpPr>
        <p:spPr>
          <a:xfrm>
            <a:off x="6373368" y="3081528"/>
            <a:ext cx="5074920" cy="932688"/>
          </a:xfrm>
          <a:prstGeom prst="roundRect">
            <a:avLst>
              <a:gd name="adj" fmla="val 5882"/>
            </a:avLst>
          </a:prstGeom>
          <a:solidFill>
            <a:srgbClr val="0E1B2B"/>
          </a:solidFill>
          <a:ln w="12700">
            <a:solidFill>
              <a:srgbClr val="27415F"/>
            </a:solidFill>
            <a:prstDash val="solid"/>
          </a:ln>
        </p:spPr>
      </p:sp>
      <p:sp>
        <p:nvSpPr>
          <p:cNvPr id="18" name="Text 16"/>
          <p:cNvSpPr/>
          <p:nvPr/>
        </p:nvSpPr>
        <p:spPr>
          <a:xfrm>
            <a:off x="6629400" y="3264408"/>
            <a:ext cx="4553712" cy="256032"/>
          </a:xfrm>
          <a:prstGeom prst="rect">
            <a:avLst/>
          </a:prstGeom>
          <a:noFill/>
          <a:ln/>
        </p:spPr>
        <p:txBody>
          <a:bodyPr wrap="square" lIns="0" tIns="0" rIns="0" bIns="0" rtlCol="0" anchor="ctr"/>
          <a:lstStyle/>
          <a:p>
            <a:pPr indent="0" marL="0">
              <a:buNone/>
            </a:pPr>
            <a:r>
              <a:rPr lang="en-US" sz="1400" b="1" u="sng" dirty="0">
                <a:solidFill>
                  <a:srgbClr val="38BDF8"/>
                </a:solidFill>
                <a:hlinkClick r:id="rId4" invalidUrl="" action="" tgtFrame="" tooltip="" history="1" highlightClick="0" endSnd="0">
                  <a:extLst>
                    <a:ext uri="{A12FA001-AC4F-418D-AE19-62706E023703}">
                      <ahyp:hlinkClr xmlns:ahyp="http://schemas.microsoft.com/office/drawing/2018/hyperlinkcolor" val="tx"/>
                    </a:ext>
                  </a:extLst>
                </a:hlinkClick>
              </a:rPr>
              <a:t>Fleet mode</a:t>
            </a:r>
            <a:endParaRPr lang="en-US" sz="1400" dirty="0"/>
          </a:p>
        </p:txBody>
      </p:sp>
      <p:sp>
        <p:nvSpPr>
          <p:cNvPr id="19" name="Text 17"/>
          <p:cNvSpPr/>
          <p:nvPr/>
        </p:nvSpPr>
        <p:spPr>
          <a:xfrm>
            <a:off x="6629400" y="3611880"/>
            <a:ext cx="4553712" cy="164592"/>
          </a:xfrm>
          <a:prstGeom prst="rect">
            <a:avLst/>
          </a:prstGeom>
          <a:noFill/>
          <a:ln/>
        </p:spPr>
        <p:txBody>
          <a:bodyPr wrap="square" lIns="0" tIns="0" rIns="0" bIns="0" rtlCol="0" anchor="ctr"/>
          <a:lstStyle/>
          <a:p>
            <a:pPr indent="0" marL="0">
              <a:buNone/>
            </a:pPr>
            <a:r>
              <a:rPr lang="en-US" sz="850" dirty="0">
                <a:solidFill>
                  <a:srgbClr val="91A4B8"/>
                </a:solidFill>
              </a:rPr>
              <a:t>docs.github.com/en/copilot/how-tos/copilot-sdk/features/fleet-mode</a:t>
            </a:r>
            <a:endParaRPr lang="en-US" sz="850" dirty="0"/>
          </a:p>
        </p:txBody>
      </p:sp>
      <p:sp>
        <p:nvSpPr>
          <p:cNvPr id="20" name="Shape 18"/>
          <p:cNvSpPr/>
          <p:nvPr/>
        </p:nvSpPr>
        <p:spPr>
          <a:xfrm>
            <a:off x="749808" y="4407408"/>
            <a:ext cx="5074920" cy="932688"/>
          </a:xfrm>
          <a:prstGeom prst="roundRect">
            <a:avLst>
              <a:gd name="adj" fmla="val 5882"/>
            </a:avLst>
          </a:prstGeom>
          <a:solidFill>
            <a:srgbClr val="0E1B2B"/>
          </a:solidFill>
          <a:ln w="12700">
            <a:solidFill>
              <a:srgbClr val="27415F"/>
            </a:solidFill>
            <a:prstDash val="solid"/>
          </a:ln>
        </p:spPr>
      </p:sp>
      <p:sp>
        <p:nvSpPr>
          <p:cNvPr id="21" name="Text 19"/>
          <p:cNvSpPr/>
          <p:nvPr/>
        </p:nvSpPr>
        <p:spPr>
          <a:xfrm>
            <a:off x="1005840" y="4590288"/>
            <a:ext cx="4553712" cy="256032"/>
          </a:xfrm>
          <a:prstGeom prst="rect">
            <a:avLst/>
          </a:prstGeom>
          <a:noFill/>
          <a:ln/>
        </p:spPr>
        <p:txBody>
          <a:bodyPr wrap="square" lIns="0" tIns="0" rIns="0" bIns="0" rtlCol="0" anchor="ctr"/>
          <a:lstStyle/>
          <a:p>
            <a:pPr indent="0" marL="0">
              <a:buNone/>
            </a:pPr>
            <a:r>
              <a:rPr lang="en-US" sz="1400" b="1" u="sng" dirty="0">
                <a:solidFill>
                  <a:srgbClr val="38BDF8"/>
                </a:solidFill>
                <a:hlinkClick r:id="rId5" invalidUrl="" action="" tgtFrame="" tooltip="" history="1" highlightClick="0" endSnd="0">
                  <a:extLst>
                    <a:ext uri="{A12FA001-AC4F-418D-AE19-62706E023703}">
                      <ahyp:hlinkClr xmlns:ahyp="http://schemas.microsoft.com/office/drawing/2018/hyperlinkcolor" val="tx"/>
                    </a:ext>
                  </a:extLst>
                </a:hlinkClick>
              </a:rPr>
              <a:t>Hooks and permission controls</a:t>
            </a:r>
            <a:endParaRPr lang="en-US" sz="1400" dirty="0"/>
          </a:p>
        </p:txBody>
      </p:sp>
      <p:sp>
        <p:nvSpPr>
          <p:cNvPr id="22" name="Text 20"/>
          <p:cNvSpPr/>
          <p:nvPr/>
        </p:nvSpPr>
        <p:spPr>
          <a:xfrm>
            <a:off x="1005840" y="4937760"/>
            <a:ext cx="4553712" cy="164592"/>
          </a:xfrm>
          <a:prstGeom prst="rect">
            <a:avLst/>
          </a:prstGeom>
          <a:noFill/>
          <a:ln/>
        </p:spPr>
        <p:txBody>
          <a:bodyPr wrap="square" lIns="0" tIns="0" rIns="0" bIns="0" rtlCol="0" anchor="ctr"/>
          <a:lstStyle/>
          <a:p>
            <a:pPr indent="0" marL="0">
              <a:buNone/>
            </a:pPr>
            <a:r>
              <a:rPr lang="en-US" sz="850" dirty="0">
                <a:solidFill>
                  <a:srgbClr val="91A4B8"/>
                </a:solidFill>
              </a:rPr>
              <a:t>github.com/github/copilot-sdk/blob/main/docs/features/hooks.md</a:t>
            </a:r>
            <a:endParaRPr lang="en-US" sz="850" dirty="0"/>
          </a:p>
        </p:txBody>
      </p:sp>
      <p:sp>
        <p:nvSpPr>
          <p:cNvPr id="23" name="Shape 21"/>
          <p:cNvSpPr/>
          <p:nvPr/>
        </p:nvSpPr>
        <p:spPr>
          <a:xfrm>
            <a:off x="6373368" y="4407408"/>
            <a:ext cx="5074920" cy="932688"/>
          </a:xfrm>
          <a:prstGeom prst="roundRect">
            <a:avLst>
              <a:gd name="adj" fmla="val 5882"/>
            </a:avLst>
          </a:prstGeom>
          <a:solidFill>
            <a:srgbClr val="0E1B2B"/>
          </a:solidFill>
          <a:ln w="12700">
            <a:solidFill>
              <a:srgbClr val="27415F"/>
            </a:solidFill>
            <a:prstDash val="solid"/>
          </a:ln>
        </p:spPr>
      </p:sp>
      <p:sp>
        <p:nvSpPr>
          <p:cNvPr id="24" name="Text 22"/>
          <p:cNvSpPr/>
          <p:nvPr/>
        </p:nvSpPr>
        <p:spPr>
          <a:xfrm>
            <a:off x="6629400" y="4590288"/>
            <a:ext cx="4553712" cy="256032"/>
          </a:xfrm>
          <a:prstGeom prst="rect">
            <a:avLst/>
          </a:prstGeom>
          <a:noFill/>
          <a:ln/>
        </p:spPr>
        <p:txBody>
          <a:bodyPr wrap="square" lIns="0" tIns="0" rIns="0" bIns="0" rtlCol="0" anchor="ctr"/>
          <a:lstStyle/>
          <a:p>
            <a:pPr indent="0" marL="0">
              <a:buNone/>
            </a:pPr>
            <a:r>
              <a:rPr lang="en-US" sz="1400" b="1" u="sng" dirty="0">
                <a:solidFill>
                  <a:srgbClr val="38BDF8"/>
                </a:solidFill>
                <a:hlinkClick r:id="rId6" invalidUrl="" action="" tgtFrame="" tooltip="" history="1" highlightClick="0" endSnd="0">
                  <a:extLst>
                    <a:ext uri="{A12FA001-AC4F-418D-AE19-62706E023703}">
                      <ahyp:hlinkClr xmlns:ahyp="http://schemas.microsoft.com/office/drawing/2018/hyperlinkcolor" val="tx"/>
                    </a:ext>
                  </a:extLst>
                </a:hlinkClick>
              </a:rPr>
              <a:t>Innovation Week examples</a:t>
            </a:r>
            <a:endParaRPr lang="en-US" sz="1400" dirty="0"/>
          </a:p>
        </p:txBody>
      </p:sp>
      <p:sp>
        <p:nvSpPr>
          <p:cNvPr id="25" name="Text 23"/>
          <p:cNvSpPr/>
          <p:nvPr/>
        </p:nvSpPr>
        <p:spPr>
          <a:xfrm>
            <a:off x="6629400" y="4937760"/>
            <a:ext cx="4553712" cy="164592"/>
          </a:xfrm>
          <a:prstGeom prst="rect">
            <a:avLst/>
          </a:prstGeom>
          <a:noFill/>
          <a:ln/>
        </p:spPr>
        <p:txBody>
          <a:bodyPr wrap="square" lIns="0" tIns="0" rIns="0" bIns="0" rtlCol="0" anchor="ctr"/>
          <a:lstStyle/>
          <a:p>
            <a:pPr indent="0" marL="0">
              <a:buNone/>
            </a:pPr>
            <a:r>
              <a:rPr lang="en-US" sz="850" dirty="0">
                <a:solidFill>
                  <a:srgbClr val="91A4B8"/>
                </a:solidFill>
              </a:rPr>
              <a:t>github.com/blockvoltcr7/copilot-sdk-workflow-examples</a:t>
            </a:r>
            <a:endParaRPr lang="en-US" sz="850" dirty="0"/>
          </a:p>
        </p:txBody>
      </p:sp>
      <p:sp>
        <p:nvSpPr>
          <p:cNvPr id="26" name="Text 24"/>
          <p:cNvSpPr/>
          <p:nvPr/>
        </p:nvSpPr>
        <p:spPr>
          <a:xfrm>
            <a:off x="987552" y="5870448"/>
            <a:ext cx="10195560" cy="384048"/>
          </a:xfrm>
          <a:prstGeom prst="rect">
            <a:avLst/>
          </a:prstGeom>
          <a:noFill/>
          <a:ln/>
        </p:spPr>
        <p:txBody>
          <a:bodyPr wrap="square" lIns="0" tIns="0" rIns="0" bIns="0" rtlCol="0" anchor="ctr"/>
          <a:lstStyle/>
          <a:p>
            <a:pPr algn="ctr" indent="0" marL="0">
              <a:buNone/>
            </a:pPr>
            <a:r>
              <a:rPr lang="en-US" sz="1400" b="1" dirty="0">
                <a:solidFill>
                  <a:srgbClr val="F7C948"/>
                </a:solidFill>
              </a:rPr>
              <a:t>Capability details are evolving. Pin SDK/runtime versions and revalidate experimental features before production use.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Innovation Week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SDK — From Chat to Controlled Engineering Workflows</dc:title>
  <dc:subject>Innovation Week knowledge transfer on GitHub Copilot SDK</dc:subject>
  <dc:creator>Sami Sabir-Idrissi</dc:creator>
  <cp:lastModifiedBy>Sami Sabir-Idrissi</cp:lastModifiedBy>
  <cp:revision>1</cp:revision>
  <dcterms:created xsi:type="dcterms:W3CDTF">2026-09-22T13:23:36Z</dcterms:created>
  <dcterms:modified xsi:type="dcterms:W3CDTF">2026-09-22T13:23:36Z</dcterms:modified>
</cp:coreProperties>
</file>